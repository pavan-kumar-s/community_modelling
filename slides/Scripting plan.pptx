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73" r:id="rId2"/>
    <p:sldId id="375" r:id="rId3"/>
    <p:sldId id="37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D6DED-C1FE-40BB-B1FE-B0B51BF210CB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216BB-5C52-4332-8929-050720538A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X^k</a:t>
            </a:r>
            <a:r>
              <a:rPr lang="en-US" dirty="0"/>
              <a:t> is a variable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C9067-3E10-6A40-9052-A3DCE7578A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41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X^k</a:t>
            </a:r>
            <a:r>
              <a:rPr lang="en-US" dirty="0"/>
              <a:t> is a variable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C9067-3E10-6A40-9052-A3DCE7578A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17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7BE4-71BF-4373-A650-6DCD0796C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EF908-DC50-4042-B914-1C3BE877F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C4F76-ED17-479B-8B57-B053F464A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09405-8161-4E73-951E-B52095736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81D3A-3303-4D35-A973-7947AB34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3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8611-9050-4C9D-978A-588D8406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CC57C-CFD3-4AF9-8081-EEB03167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459F0-DA75-4567-88D2-DDAFF3F4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46056-A67F-43F5-9B65-9E1BAE5A0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38263-F8FC-482F-B32F-0FC20BC6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6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2FAD-F351-498C-889E-103DF251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F76B0-B33E-4DB2-87EB-9353DC160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D1B0C-9F01-4C6A-A5DE-5C86516B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D14AA-6065-4FBD-B1B1-BC9D2DD6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EAC87-5E38-4561-8A60-1CC82DA5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38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9AC0-32FB-407B-8449-11301970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8D49-AA5A-42D3-A2AC-D15F69EF8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FC6D5-8A35-45F4-B590-1E80B2725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AE746-3B03-4EF0-95F4-936AF2BD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6AA4F-546F-469D-95F7-AAA0B0047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CC9D4-0EC5-4A1B-8D75-F5740DF2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0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61FBD-748B-4A9C-AF97-6ADF02CA5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D6160-8EED-4A21-9386-35FB9E715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F57CE-0044-4965-81A4-9D02737EE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864E2-FAEB-4780-9573-CD210B942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B9CF1-22DA-4F2D-829C-52A825FB7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693953-FD11-4543-B218-9A48D3D8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85417-FA47-4AF6-BCD2-994472BD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D97D9-49D6-476D-AFB9-BBCA4C79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69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EFBA-F848-4C79-AAB5-2A521E3CA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DACB88-6D26-4259-8765-BDFDD147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6B136-008A-4CB1-8472-D6B7070A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0652E-9411-4A29-B7CF-C7DF5AEB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7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0F5F0-102E-4D01-948D-DC8284DDA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10ED45-75C2-4338-B076-0327844A8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55B49-42FC-40B6-B846-D19A918A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5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1A1B-0B76-4C46-A209-B717F244F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75425-AEDA-4533-9D24-7D851DE6F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B095B-3352-4B0C-BFD0-7C9E81C3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49A58-43A5-46C7-B130-2FE3242FD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BC780-FC23-480D-BE0C-C681E1F0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122AF-933B-4A23-8888-C8BF54C9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95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01C8-D37B-4618-A34E-D069E2D5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AE81E-2C9D-4A25-B03B-FE2A23C5A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0A48F-4939-4E49-BAAD-23A19C405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D2D60-C009-4139-8599-6342489A2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B954F-D112-4CC2-A6AC-8B89C929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39B56-9606-45E1-8641-E53942B7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63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7F93-5F13-4219-BA7A-8C719B0B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8A40D-CD42-4C5A-9249-8F173BDBA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1194E-650D-4F1E-821C-43C76624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FDBD3-8B4F-4B8C-A1C7-933F7F7F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ABBDB-C57D-4B7E-9951-7742C65D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8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45E6E-0CF7-4D98-AEDB-544CB3E592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12D61-BB04-4110-81EC-DD6FD1301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54FA-8117-45D9-A9A0-D4585808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E2320-AB3C-4AB6-8D6F-13ED532F9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AE994-1B1A-4F3D-8AC1-545906628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35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983EDC-E321-4C63-829D-884321C0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5AECF-837B-4D9F-A095-53B1AB3E6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CB03D-6D86-4A7D-8BDF-8AEAED63E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1155B-A09C-4B79-B34E-EEC165A52B58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E490B-6452-4A4B-A43B-858631299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DA1E-7849-46AC-8620-66AA0856D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35FE1-5D78-400A-9DB4-4C82DF7B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4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220.png"/><Relationship Id="rId21" Type="http://schemas.openxmlformats.org/officeDocument/2006/relationships/image" Target="../media/image3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45.png"/><Relationship Id="rId5" Type="http://schemas.openxmlformats.org/officeDocument/2006/relationships/image" Target="../media/image25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1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14" Type="http://schemas.openxmlformats.org/officeDocument/2006/relationships/image" Target="../media/image48.png"/><Relationship Id="rId2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A3F5-0C68-46B7-9B21-741436CFE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Scripting plan</a:t>
            </a:r>
          </a:p>
        </p:txBody>
      </p:sp>
    </p:spTree>
    <p:extLst>
      <p:ext uri="{BB962C8B-B14F-4D97-AF65-F5344CB8AC3E}">
        <p14:creationId xmlns:p14="http://schemas.microsoft.com/office/powerpoint/2010/main" val="205152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9103-E644-B4E8-BC63-6AB2AD63D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72" y="99339"/>
            <a:ext cx="10515600" cy="886095"/>
          </a:xfrm>
        </p:spPr>
        <p:txBody>
          <a:bodyPr/>
          <a:lstStyle/>
          <a:p>
            <a:r>
              <a:rPr lang="en-US" b="1" dirty="0"/>
              <a:t>Adapted </a:t>
            </a:r>
            <a:r>
              <a:rPr lang="en-US" b="1" dirty="0" err="1"/>
              <a:t>SteadyCom</a:t>
            </a:r>
            <a:r>
              <a:rPr lang="en-US" b="1" dirty="0"/>
              <a:t> Formulation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FA4409F-11BC-94B7-A28E-9D5AAC68A8CF}"/>
              </a:ext>
            </a:extLst>
          </p:cNvPr>
          <p:cNvGrpSpPr/>
          <p:nvPr/>
        </p:nvGrpSpPr>
        <p:grpSpPr>
          <a:xfrm>
            <a:off x="321072" y="972840"/>
            <a:ext cx="5689970" cy="5428023"/>
            <a:chOff x="257490" y="466979"/>
            <a:chExt cx="5689970" cy="54280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81935BA-F004-4C0F-C563-4B1413797EDE}"/>
                    </a:ext>
                  </a:extLst>
                </p:cNvPr>
                <p:cNvSpPr txBox="1"/>
                <p:nvPr/>
              </p:nvSpPr>
              <p:spPr>
                <a:xfrm>
                  <a:off x="2062312" y="1746719"/>
                  <a:ext cx="1259767" cy="6592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  <m:sSup>
                              <m:sSupPr>
                                <m:ctrlPr>
                                  <a:rPr lang="en-CA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CA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CA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sup>
                            </m:sSup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nary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81935BA-F004-4C0F-C563-4B1413797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2312" y="1746719"/>
                  <a:ext cx="1259767" cy="659283"/>
                </a:xfrm>
                <a:prstGeom prst="rect">
                  <a:avLst/>
                </a:prstGeom>
                <a:blipFill>
                  <a:blip r:embed="rId3"/>
                  <a:stretch>
                    <a:fillRect l="-44000" t="-109434" b="-1509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7D62AD9-5B0A-61C2-9105-08BD2E202775}"/>
                    </a:ext>
                  </a:extLst>
                </p:cNvPr>
                <p:cNvSpPr txBox="1"/>
                <p:nvPr/>
              </p:nvSpPr>
              <p:spPr>
                <a:xfrm>
                  <a:off x="4179169" y="1841489"/>
                  <a:ext cx="773610" cy="311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7D62AD9-5B0A-61C2-9105-08BD2E202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9169" y="1841489"/>
                  <a:ext cx="773610" cy="3115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F45E541-CF29-8515-4AC5-1DEAA563AD59}"/>
                    </a:ext>
                  </a:extLst>
                </p:cNvPr>
                <p:cNvSpPr txBox="1"/>
                <p:nvPr/>
              </p:nvSpPr>
              <p:spPr>
                <a:xfrm>
                  <a:off x="1800722" y="2570010"/>
                  <a:ext cx="1982594" cy="3493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𝐿𝐵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𝑈𝐵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a14:m>
                  <a:r>
                    <a:rPr lang="en-US" sz="1400" dirty="0"/>
                    <a:t>,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F45E541-CF29-8515-4AC5-1DEAA563A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722" y="2570010"/>
                  <a:ext cx="1982594" cy="349391"/>
                </a:xfrm>
                <a:prstGeom prst="rect">
                  <a:avLst/>
                </a:prstGeom>
                <a:blipFill>
                  <a:blip r:embed="rId5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F9B08F7-CFB1-9D82-11F3-DD87259BDF8A}"/>
                    </a:ext>
                  </a:extLst>
                </p:cNvPr>
                <p:cNvSpPr txBox="1"/>
                <p:nvPr/>
              </p:nvSpPr>
              <p:spPr>
                <a:xfrm>
                  <a:off x="4174361" y="2544233"/>
                  <a:ext cx="778418" cy="311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F9B08F7-CFB1-9D82-11F3-DD87259BDF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4361" y="2544233"/>
                  <a:ext cx="778418" cy="311560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8C7C5EA-078E-A729-EA3E-F97A633542E8}"/>
                    </a:ext>
                  </a:extLst>
                </p:cNvPr>
                <p:cNvSpPr txBox="1"/>
                <p:nvPr/>
              </p:nvSpPr>
              <p:spPr>
                <a:xfrm>
                  <a:off x="1928741" y="3098019"/>
                  <a:ext cx="1407885" cy="3250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𝑏𝑖𝑜𝑚𝑎𝑠𝑠</m:t>
                            </m:r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8C7C5EA-078E-A729-EA3E-F97A63354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741" y="3098019"/>
                  <a:ext cx="1407885" cy="32502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FD53736-C1F2-CA87-2D6B-04B5B8C4F5D6}"/>
                    </a:ext>
                  </a:extLst>
                </p:cNvPr>
                <p:cNvSpPr txBox="1"/>
                <p:nvPr/>
              </p:nvSpPr>
              <p:spPr>
                <a:xfrm>
                  <a:off x="2116897" y="3601662"/>
                  <a:ext cx="1031571" cy="311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FD53736-C1F2-CA87-2D6B-04B5B8C4F5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6897" y="3601662"/>
                  <a:ext cx="1031571" cy="31156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AB149D9-5EFA-775D-943D-E91493264173}"/>
                    </a:ext>
                  </a:extLst>
                </p:cNvPr>
                <p:cNvSpPr txBox="1"/>
                <p:nvPr/>
              </p:nvSpPr>
              <p:spPr>
                <a:xfrm>
                  <a:off x="5163399" y="2381244"/>
                  <a:ext cx="7840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AB149D9-5EFA-775D-943D-E91493264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3399" y="2381244"/>
                  <a:ext cx="784061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2835D-EEF7-9EC5-9A74-D452DA6DF8C8}"/>
                    </a:ext>
                  </a:extLst>
                </p:cNvPr>
                <p:cNvSpPr txBox="1"/>
                <p:nvPr/>
              </p:nvSpPr>
              <p:spPr>
                <a:xfrm>
                  <a:off x="1832597" y="4146204"/>
                  <a:ext cx="2084930" cy="6151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b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b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  <m:sup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=0,</m:t>
                            </m:r>
                          </m:e>
                        </m:nary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2835D-EEF7-9EC5-9A74-D452DA6DF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2597" y="4146204"/>
                  <a:ext cx="2084930" cy="615168"/>
                </a:xfrm>
                <a:prstGeom prst="rect">
                  <a:avLst/>
                </a:prstGeom>
                <a:blipFill>
                  <a:blip r:embed="rId10"/>
                  <a:stretch>
                    <a:fillRect t="-118367" b="-17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46CA0AC-D45E-7F50-7B81-90EB96BF2849}"/>
                    </a:ext>
                  </a:extLst>
                </p:cNvPr>
                <p:cNvSpPr txBox="1"/>
                <p:nvPr/>
              </p:nvSpPr>
              <p:spPr>
                <a:xfrm>
                  <a:off x="4240912" y="4226900"/>
                  <a:ext cx="95795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𝑐𝑜𝑚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46CA0AC-D45E-7F50-7B81-90EB96BF28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0912" y="4226900"/>
                  <a:ext cx="957955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90B1BA6-5C46-D52F-EB50-F38F803EF518}"/>
                    </a:ext>
                  </a:extLst>
                </p:cNvPr>
                <p:cNvSpPr txBox="1"/>
                <p:nvPr/>
              </p:nvSpPr>
              <p:spPr>
                <a:xfrm>
                  <a:off x="1877156" y="4832441"/>
                  <a:ext cx="1155957" cy="6151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90B1BA6-5C46-D52F-EB50-F38F803EF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7156" y="4832441"/>
                  <a:ext cx="1155957" cy="615168"/>
                </a:xfrm>
                <a:prstGeom prst="rect">
                  <a:avLst/>
                </a:prstGeom>
                <a:blipFill>
                  <a:blip r:embed="rId12"/>
                  <a:stretch>
                    <a:fillRect l="-47312" t="-114000" b="-16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D645FE8-E159-1794-7126-BFFF592A2580}"/>
                    </a:ext>
                  </a:extLst>
                </p:cNvPr>
                <p:cNvSpPr txBox="1"/>
                <p:nvPr/>
              </p:nvSpPr>
              <p:spPr>
                <a:xfrm>
                  <a:off x="1914422" y="5526401"/>
                  <a:ext cx="32733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D645FE8-E159-1794-7126-BFFF592A2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4422" y="5526401"/>
                  <a:ext cx="327334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83FF2DF-DA44-00B3-BAF1-28854F6B2A30}"/>
                    </a:ext>
                  </a:extLst>
                </p:cNvPr>
                <p:cNvSpPr txBox="1"/>
                <p:nvPr/>
              </p:nvSpPr>
              <p:spPr>
                <a:xfrm>
                  <a:off x="2815748" y="5546528"/>
                  <a:ext cx="735330" cy="3085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bSup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83FF2DF-DA44-00B3-BAF1-28854F6B2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5748" y="5546528"/>
                  <a:ext cx="735330" cy="30854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2FBC4D0-A4BF-FF5A-15BF-E035C57424FD}"/>
                    </a:ext>
                  </a:extLst>
                </p:cNvPr>
                <p:cNvSpPr txBox="1"/>
                <p:nvPr/>
              </p:nvSpPr>
              <p:spPr>
                <a:xfrm>
                  <a:off x="3912630" y="5546528"/>
                  <a:ext cx="95795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𝑐𝑜𝑚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2FBC4D0-A4BF-FF5A-15BF-E035C5742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2630" y="5546528"/>
                  <a:ext cx="957955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3A71E2-D555-C1F9-9850-F2A463FECD55}"/>
                </a:ext>
              </a:extLst>
            </p:cNvPr>
            <p:cNvSpPr txBox="1"/>
            <p:nvPr/>
          </p:nvSpPr>
          <p:spPr>
            <a:xfrm>
              <a:off x="3617079" y="5587225"/>
              <a:ext cx="229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,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F0EA0E-59D1-440A-0047-B15D71BC96E5}"/>
                </a:ext>
              </a:extLst>
            </p:cNvPr>
            <p:cNvSpPr txBox="1"/>
            <p:nvPr/>
          </p:nvSpPr>
          <p:spPr>
            <a:xfrm>
              <a:off x="2438423" y="5587225"/>
              <a:ext cx="229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,</a:t>
              </a:r>
            </a:p>
          </p:txBody>
        </p:sp>
        <p:sp>
          <p:nvSpPr>
            <p:cNvPr id="21" name="Left Bracket 20">
              <a:extLst>
                <a:ext uri="{FF2B5EF4-FFF2-40B4-BE49-F238E27FC236}">
                  <a16:creationId xmlns:a16="http://schemas.microsoft.com/office/drawing/2014/main" id="{F92E2A9B-2D7F-F27B-0ABF-5F1429F1D213}"/>
                </a:ext>
              </a:extLst>
            </p:cNvPr>
            <p:cNvSpPr/>
            <p:nvPr/>
          </p:nvSpPr>
          <p:spPr>
            <a:xfrm rot="10800000">
              <a:off x="5004548" y="1057446"/>
              <a:ext cx="100580" cy="2878984"/>
            </a:xfrm>
            <a:prstGeom prst="leftBracket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3496E18-A816-2D1F-02E5-1E6F4F48937E}"/>
                    </a:ext>
                  </a:extLst>
                </p:cNvPr>
                <p:cNvSpPr txBox="1"/>
                <p:nvPr/>
              </p:nvSpPr>
              <p:spPr>
                <a:xfrm>
                  <a:off x="257490" y="466979"/>
                  <a:ext cx="2296719" cy="7044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</m:sub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US" dirty="0"/>
                </a:p>
                <a:p>
                  <a:r>
                    <a:rPr lang="en-US" dirty="0"/>
                    <a:t>subject to</a:t>
                  </a: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3496E18-A816-2D1F-02E5-1E6F4F4893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490" y="466979"/>
                  <a:ext cx="2296719" cy="704488"/>
                </a:xfrm>
                <a:prstGeom prst="rect">
                  <a:avLst/>
                </a:prstGeom>
                <a:blipFill>
                  <a:blip r:embed="rId16"/>
                  <a:stretch>
                    <a:fillRect l="-2394" b="-113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eft Bracket 22">
              <a:extLst>
                <a:ext uri="{FF2B5EF4-FFF2-40B4-BE49-F238E27FC236}">
                  <a16:creationId xmlns:a16="http://schemas.microsoft.com/office/drawing/2014/main" id="{EAF0B067-0FCF-7CE9-592B-4369EBAB6A7A}"/>
                </a:ext>
              </a:extLst>
            </p:cNvPr>
            <p:cNvSpPr/>
            <p:nvPr/>
          </p:nvSpPr>
          <p:spPr>
            <a:xfrm>
              <a:off x="1788038" y="1057733"/>
              <a:ext cx="126384" cy="2944818"/>
            </a:xfrm>
            <a:prstGeom prst="leftBracket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7CEDD8-6CEC-CD4C-C926-2C03ACA6C1C6}"/>
                  </a:ext>
                </a:extLst>
              </p:cNvPr>
              <p:cNvSpPr txBox="1"/>
              <p:nvPr/>
            </p:nvSpPr>
            <p:spPr>
              <a:xfrm>
                <a:off x="2048004" y="1740398"/>
                <a:ext cx="2959143" cy="3493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Sup>
                      <m:sSubSupPr>
                        <m:ctrlP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CA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</m:t>
                    </m:r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CA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7CEDD8-6CEC-CD4C-C926-2C03ACA6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004" y="1740398"/>
                <a:ext cx="2959143" cy="349391"/>
              </a:xfrm>
              <a:prstGeom prst="rect">
                <a:avLst/>
              </a:prstGeom>
              <a:blipFill>
                <a:blip r:embed="rId19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C4C8C2-244A-4475-A939-6942BD38D203}"/>
                  </a:ext>
                </a:extLst>
              </p:cNvPr>
              <p:cNvSpPr txBox="1"/>
              <p:nvPr/>
            </p:nvSpPr>
            <p:spPr>
              <a:xfrm>
                <a:off x="6389941" y="1560651"/>
                <a:ext cx="4840224" cy="632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FF0000"/>
                    </a:solidFill>
                  </a:rPr>
                  <a:t>Remove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is not used in formulation and only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 is constrained and is a decision variable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C4C8C2-244A-4475-A939-6942BD38D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941" y="1560651"/>
                <a:ext cx="4840224" cy="632417"/>
              </a:xfrm>
              <a:prstGeom prst="rect">
                <a:avLst/>
              </a:prstGeom>
              <a:blipFill>
                <a:blip r:embed="rId20"/>
                <a:stretch>
                  <a:fillRect l="-126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A24916C-F3DD-45CC-8443-EB8087100A0D}"/>
                  </a:ext>
                </a:extLst>
              </p:cNvPr>
              <p:cNvSpPr txBox="1"/>
              <p:nvPr/>
            </p:nvSpPr>
            <p:spPr>
              <a:xfrm>
                <a:off x="5900928" y="3328932"/>
                <a:ext cx="6096000" cy="874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FF0000"/>
                    </a:solidFill>
                  </a:rPr>
                  <a:t>Remove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𝑏𝑖𝑜𝑚𝑎𝑠𝑠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will automatically be &gt;0 since µ is defined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 is constrained to be greater than 0; therefore no need to constrain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𝑏𝑖𝑜𝑚𝑎𝑠𝑠</m:t>
                        </m:r>
                      </m:sub>
                      <m:sup>
                        <m:r>
                          <a:rPr lang="en-US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sz="1600" dirty="0">
                    <a:solidFill>
                      <a:srgbClr val="FF0000"/>
                    </a:solidFill>
                  </a:rPr>
                  <a:t> and it can be calculated out of the main formulation.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A24916C-F3DD-45CC-8443-EB8087100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928" y="3328932"/>
                <a:ext cx="6096000" cy="874920"/>
              </a:xfrm>
              <a:prstGeom prst="rect">
                <a:avLst/>
              </a:prstGeom>
              <a:blipFill>
                <a:blip r:embed="rId21"/>
                <a:stretch>
                  <a:fillRect b="-7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E2060D57-210F-431B-924A-BCF85AEA93AB}"/>
              </a:ext>
            </a:extLst>
          </p:cNvPr>
          <p:cNvSpPr/>
          <p:nvPr/>
        </p:nvSpPr>
        <p:spPr>
          <a:xfrm>
            <a:off x="1841184" y="4672420"/>
            <a:ext cx="3385797" cy="692086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D9805F-3E21-47A3-8EAE-25C81A2492FE}"/>
                  </a:ext>
                </a:extLst>
              </p:cNvPr>
              <p:cNvSpPr txBox="1"/>
              <p:nvPr/>
            </p:nvSpPr>
            <p:spPr>
              <a:xfrm>
                <a:off x="6011042" y="4567029"/>
                <a:ext cx="4446731" cy="1131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0070C0"/>
                    </a:solidFill>
                  </a:rPr>
                  <a:t>This term will be split into two: one for metabolites that are consumed/unchanging to set environmental parameters, and one to determine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CA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CA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𝑒𝑥</m:t>
                            </m:r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CA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1600" dirty="0">
                    <a:solidFill>
                      <a:srgbClr val="0070C0"/>
                    </a:solidFill>
                  </a:rPr>
                  <a:t> for produced metabolites.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D9805F-3E21-47A3-8EAE-25C81A249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042" y="4567029"/>
                <a:ext cx="4446731" cy="1131015"/>
              </a:xfrm>
              <a:prstGeom prst="rect">
                <a:avLst/>
              </a:prstGeom>
              <a:blipFill>
                <a:blip r:embed="rId22"/>
                <a:stretch>
                  <a:fillRect l="-6164" t="-1613" r="-685" b="-47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30DA75B-5DE9-4794-811A-08E665C3410A}"/>
              </a:ext>
            </a:extLst>
          </p:cNvPr>
          <p:cNvCxnSpPr/>
          <p:nvPr/>
        </p:nvCxnSpPr>
        <p:spPr>
          <a:xfrm>
            <a:off x="2008716" y="1905000"/>
            <a:ext cx="287322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94EC46F-2EDD-4A06-B37B-8C28F4B33794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1963595" y="3766393"/>
            <a:ext cx="1436613" cy="218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09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9103-E644-B4E8-BC63-6AB2AD63D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72" y="99339"/>
            <a:ext cx="10515600" cy="886095"/>
          </a:xfrm>
        </p:spPr>
        <p:txBody>
          <a:bodyPr/>
          <a:lstStyle/>
          <a:p>
            <a:r>
              <a:rPr lang="en-US" b="1" dirty="0"/>
              <a:t>Adapted </a:t>
            </a:r>
            <a:r>
              <a:rPr lang="en-US" b="1" dirty="0" err="1"/>
              <a:t>SteadyCom</a:t>
            </a:r>
            <a:r>
              <a:rPr lang="en-US" b="1" dirty="0"/>
              <a:t> Formulation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FA4409F-11BC-94B7-A28E-9D5AAC68A8CF}"/>
              </a:ext>
            </a:extLst>
          </p:cNvPr>
          <p:cNvGrpSpPr/>
          <p:nvPr/>
        </p:nvGrpSpPr>
        <p:grpSpPr>
          <a:xfrm>
            <a:off x="321072" y="972840"/>
            <a:ext cx="6877346" cy="5107273"/>
            <a:chOff x="257490" y="466979"/>
            <a:chExt cx="6877346" cy="510727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81935BA-F004-4C0F-C563-4B1413797EDE}"/>
                    </a:ext>
                  </a:extLst>
                </p:cNvPr>
                <p:cNvSpPr txBox="1"/>
                <p:nvPr/>
              </p:nvSpPr>
              <p:spPr>
                <a:xfrm>
                  <a:off x="2094187" y="1072686"/>
                  <a:ext cx="1259767" cy="6592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  <m:sSup>
                              <m:sSupPr>
                                <m:ctrlPr>
                                  <a:rPr lang="en-CA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CA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J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CA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sup>
                            </m:sSup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nary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D81935BA-F004-4C0F-C563-4B1413797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187" y="1072686"/>
                  <a:ext cx="1259767" cy="659283"/>
                </a:xfrm>
                <a:prstGeom prst="rect">
                  <a:avLst/>
                </a:prstGeom>
                <a:blipFill>
                  <a:blip r:embed="rId3"/>
                  <a:stretch>
                    <a:fillRect l="-43961" t="-108333" r="-32367" b="-1490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7D62AD9-5B0A-61C2-9105-08BD2E202775}"/>
                    </a:ext>
                  </a:extLst>
                </p:cNvPr>
                <p:cNvSpPr txBox="1"/>
                <p:nvPr/>
              </p:nvSpPr>
              <p:spPr>
                <a:xfrm>
                  <a:off x="4211044" y="1167456"/>
                  <a:ext cx="773610" cy="311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7D62AD9-5B0A-61C2-9105-08BD2E202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1044" y="1167456"/>
                  <a:ext cx="773610" cy="3115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F45E541-CF29-8515-4AC5-1DEAA563AD59}"/>
                    </a:ext>
                  </a:extLst>
                </p:cNvPr>
                <p:cNvSpPr txBox="1"/>
                <p:nvPr/>
              </p:nvSpPr>
              <p:spPr>
                <a:xfrm>
                  <a:off x="1832597" y="1895977"/>
                  <a:ext cx="1982594" cy="3493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𝐿𝐵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𝑈𝐵</m:t>
                          </m:r>
                        </m:e>
                        <m:sub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a14:m>
                  <a:r>
                    <a:rPr lang="en-US" sz="1400" dirty="0"/>
                    <a:t>,</a:t>
                  </a:r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F45E541-CF29-8515-4AC5-1DEAA563A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2597" y="1895977"/>
                  <a:ext cx="1982594" cy="349391"/>
                </a:xfrm>
                <a:prstGeom prst="rect">
                  <a:avLst/>
                </a:prstGeom>
                <a:blipFill>
                  <a:blip r:embed="rId5"/>
                  <a:stretch>
                    <a:fillRect b="-122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F9B08F7-CFB1-9D82-11F3-DD87259BDF8A}"/>
                    </a:ext>
                  </a:extLst>
                </p:cNvPr>
                <p:cNvSpPr txBox="1"/>
                <p:nvPr/>
              </p:nvSpPr>
              <p:spPr>
                <a:xfrm>
                  <a:off x="4206236" y="1870200"/>
                  <a:ext cx="778418" cy="311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F9B08F7-CFB1-9D82-11F3-DD87259BDF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36" y="1870200"/>
                  <a:ext cx="778418" cy="311560"/>
                </a:xfrm>
                <a:prstGeom prst="rect">
                  <a:avLst/>
                </a:prstGeom>
                <a:blipFill>
                  <a:blip r:embed="rId6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FD53736-C1F2-CA87-2D6B-04B5B8C4F5D6}"/>
                    </a:ext>
                  </a:extLst>
                </p:cNvPr>
                <p:cNvSpPr txBox="1"/>
                <p:nvPr/>
              </p:nvSpPr>
              <p:spPr>
                <a:xfrm>
                  <a:off x="2178333" y="2421842"/>
                  <a:ext cx="1031571" cy="311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FD53736-C1F2-CA87-2D6B-04B5B8C4F5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8333" y="2421842"/>
                  <a:ext cx="1031571" cy="31156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AB149D9-5EFA-775D-943D-E91493264173}"/>
                    </a:ext>
                  </a:extLst>
                </p:cNvPr>
                <p:cNvSpPr txBox="1"/>
                <p:nvPr/>
              </p:nvSpPr>
              <p:spPr>
                <a:xfrm>
                  <a:off x="5163399" y="1870200"/>
                  <a:ext cx="7840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AB149D9-5EFA-775D-943D-E91493264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3399" y="1870200"/>
                  <a:ext cx="784061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2835D-EEF7-9EC5-9A74-D452DA6DF8C8}"/>
                    </a:ext>
                  </a:extLst>
                </p:cNvPr>
                <p:cNvSpPr txBox="1"/>
                <p:nvPr/>
              </p:nvSpPr>
              <p:spPr>
                <a:xfrm>
                  <a:off x="1788038" y="3682576"/>
                  <a:ext cx="3665555" cy="6151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𝑝𝑟𝑜𝑑𝑢𝑐𝑒𝑑</m:t>
                                </m:r>
                              </m:sub>
                            </m:sSub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b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𝑝𝑟𝑜𝑑𝑢𝑐𝑒𝑑</m:t>
                                </m:r>
                              </m:sub>
                            </m:sSub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b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CA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𝑝𝑟𝑜𝑑𝑢𝑐𝑒𝑑</m:t>
                                    </m:r>
                                  </m:sub>
                                </m:s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  <m:sup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=0,</m:t>
                            </m:r>
                          </m:e>
                        </m:nary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82835D-EEF7-9EC5-9A74-D452DA6DF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8038" y="3682576"/>
                  <a:ext cx="3665555" cy="615168"/>
                </a:xfrm>
                <a:prstGeom prst="rect">
                  <a:avLst/>
                </a:prstGeom>
                <a:blipFill>
                  <a:blip r:embed="rId9"/>
                  <a:stretch>
                    <a:fillRect t="-115842" b="-1663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46CA0AC-D45E-7F50-7B81-90EB96BF2849}"/>
                    </a:ext>
                  </a:extLst>
                </p:cNvPr>
                <p:cNvSpPr txBox="1"/>
                <p:nvPr/>
              </p:nvSpPr>
              <p:spPr>
                <a:xfrm>
                  <a:off x="5555429" y="3729935"/>
                  <a:ext cx="1579407" cy="3243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𝑝𝑟𝑜𝑑𝑢𝑐𝑒𝑑</m:t>
                            </m:r>
                          </m:sub>
                        </m:sSub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𝑐𝑜𝑚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46CA0AC-D45E-7F50-7B81-90EB96BF28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5429" y="3729935"/>
                  <a:ext cx="1579407" cy="324384"/>
                </a:xfrm>
                <a:prstGeom prst="rect">
                  <a:avLst/>
                </a:prstGeom>
                <a:blipFill>
                  <a:blip r:embed="rId10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90B1BA6-5C46-D52F-EB50-F38F803EF518}"/>
                    </a:ext>
                  </a:extLst>
                </p:cNvPr>
                <p:cNvSpPr txBox="1"/>
                <p:nvPr/>
              </p:nvSpPr>
              <p:spPr>
                <a:xfrm>
                  <a:off x="1788038" y="4418200"/>
                  <a:ext cx="1155957" cy="6151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supHide m:val="on"/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90B1BA6-5C46-D52F-EB50-F38F803EF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8038" y="4418200"/>
                  <a:ext cx="1155957" cy="615168"/>
                </a:xfrm>
                <a:prstGeom prst="rect">
                  <a:avLst/>
                </a:prstGeom>
                <a:blipFill>
                  <a:blip r:embed="rId11"/>
                  <a:stretch>
                    <a:fillRect l="-47619" t="-115842" r="-45503" b="-1663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D645FE8-E159-1794-7126-BFFF592A2580}"/>
                    </a:ext>
                  </a:extLst>
                </p:cNvPr>
                <p:cNvSpPr txBox="1"/>
                <p:nvPr/>
              </p:nvSpPr>
              <p:spPr>
                <a:xfrm>
                  <a:off x="1874760" y="5205651"/>
                  <a:ext cx="32733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D645FE8-E159-1794-7126-BFFF592A2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760" y="5205651"/>
                  <a:ext cx="327334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83FF2DF-DA44-00B3-BAF1-28854F6B2A30}"/>
                    </a:ext>
                  </a:extLst>
                </p:cNvPr>
                <p:cNvSpPr txBox="1"/>
                <p:nvPr/>
              </p:nvSpPr>
              <p:spPr>
                <a:xfrm>
                  <a:off x="2776086" y="5225778"/>
                  <a:ext cx="735330" cy="3085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bSup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83FF2DF-DA44-00B3-BAF1-28854F6B2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6086" y="5225778"/>
                  <a:ext cx="735330" cy="30854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2FBC4D0-A4BF-FF5A-15BF-E035C57424FD}"/>
                    </a:ext>
                  </a:extLst>
                </p:cNvPr>
                <p:cNvSpPr txBox="1"/>
                <p:nvPr/>
              </p:nvSpPr>
              <p:spPr>
                <a:xfrm>
                  <a:off x="3872968" y="5225778"/>
                  <a:ext cx="95795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CA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CA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𝑐𝑜𝑚</m:t>
                            </m:r>
                          </m:sup>
                        </m:sSup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2FBC4D0-A4BF-FF5A-15BF-E035C5742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2968" y="5225778"/>
                  <a:ext cx="957955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3A71E2-D555-C1F9-9850-F2A463FECD55}"/>
                </a:ext>
              </a:extLst>
            </p:cNvPr>
            <p:cNvSpPr txBox="1"/>
            <p:nvPr/>
          </p:nvSpPr>
          <p:spPr>
            <a:xfrm>
              <a:off x="3577417" y="5266475"/>
              <a:ext cx="229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,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F0EA0E-59D1-440A-0047-B15D71BC96E5}"/>
                </a:ext>
              </a:extLst>
            </p:cNvPr>
            <p:cNvSpPr txBox="1"/>
            <p:nvPr/>
          </p:nvSpPr>
          <p:spPr>
            <a:xfrm>
              <a:off x="2398761" y="5266475"/>
              <a:ext cx="229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,</a:t>
              </a:r>
            </a:p>
          </p:txBody>
        </p:sp>
        <p:sp>
          <p:nvSpPr>
            <p:cNvPr id="21" name="Left Bracket 20">
              <a:extLst>
                <a:ext uri="{FF2B5EF4-FFF2-40B4-BE49-F238E27FC236}">
                  <a16:creationId xmlns:a16="http://schemas.microsoft.com/office/drawing/2014/main" id="{F92E2A9B-2D7F-F27B-0ABF-5F1429F1D213}"/>
                </a:ext>
              </a:extLst>
            </p:cNvPr>
            <p:cNvSpPr/>
            <p:nvPr/>
          </p:nvSpPr>
          <p:spPr>
            <a:xfrm rot="10800000">
              <a:off x="5004548" y="1057446"/>
              <a:ext cx="126384" cy="1767435"/>
            </a:xfrm>
            <a:prstGeom prst="leftBracket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3496E18-A816-2D1F-02E5-1E6F4F48937E}"/>
                    </a:ext>
                  </a:extLst>
                </p:cNvPr>
                <p:cNvSpPr txBox="1"/>
                <p:nvPr/>
              </p:nvSpPr>
              <p:spPr>
                <a:xfrm>
                  <a:off x="257490" y="466979"/>
                  <a:ext cx="2296719" cy="7044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𝑒𝑥𝑝</m:t>
                                </m:r>
                              </m:sub>
                              <m: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US" dirty="0"/>
                </a:p>
                <a:p>
                  <a:r>
                    <a:rPr lang="en-US" dirty="0"/>
                    <a:t>subject to</a:t>
                  </a: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3496E18-A816-2D1F-02E5-1E6F4F4893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490" y="466979"/>
                  <a:ext cx="2296719" cy="704488"/>
                </a:xfrm>
                <a:prstGeom prst="rect">
                  <a:avLst/>
                </a:prstGeom>
                <a:blipFill>
                  <a:blip r:embed="rId15"/>
                  <a:stretch>
                    <a:fillRect l="-2394" b="-113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Left Bracket 22">
              <a:extLst>
                <a:ext uri="{FF2B5EF4-FFF2-40B4-BE49-F238E27FC236}">
                  <a16:creationId xmlns:a16="http://schemas.microsoft.com/office/drawing/2014/main" id="{EAF0B067-0FCF-7CE9-592B-4369EBAB6A7A}"/>
                </a:ext>
              </a:extLst>
            </p:cNvPr>
            <p:cNvSpPr/>
            <p:nvPr/>
          </p:nvSpPr>
          <p:spPr>
            <a:xfrm>
              <a:off x="1788038" y="1057733"/>
              <a:ext cx="126384" cy="1767435"/>
            </a:xfrm>
            <a:prstGeom prst="leftBracket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0E89FE-4723-4B10-A9C7-FE8BF8C86CDE}"/>
                  </a:ext>
                </a:extLst>
              </p:cNvPr>
              <p:cNvSpPr txBox="1"/>
              <p:nvPr/>
            </p:nvSpPr>
            <p:spPr>
              <a:xfrm>
                <a:off x="1795043" y="3503584"/>
                <a:ext cx="3752117" cy="6151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𝑐𝑜𝑛𝑠𝑢𝑚𝑒𝑑</m:t>
                              </m:r>
                            </m:sub>
                          </m:sSub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𝑐𝑜𝑛𝑠𝑢𝑚𝑒𝑑</m:t>
                              </m:r>
                            </m:sub>
                          </m:sSub>
                        </m:sub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bSup>
                      <m:r>
                        <a:rPr lang="en-CA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CA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CA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𝑐𝑜𝑛𝑠𝑢𝑚𝑒𝑑</m:t>
                                  </m:r>
                                </m:sub>
                              </m:sSub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CA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en-CA" sz="1400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0E89FE-4723-4B10-A9C7-FE8BF8C86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043" y="3503584"/>
                <a:ext cx="3752117" cy="615168"/>
              </a:xfrm>
              <a:prstGeom prst="rect">
                <a:avLst/>
              </a:prstGeom>
              <a:blipFill>
                <a:blip r:embed="rId16"/>
                <a:stretch>
                  <a:fillRect t="-115842" b="-166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FE91A3-2687-4656-A30A-EDBA9C797B53}"/>
                  </a:ext>
                </a:extLst>
              </p:cNvPr>
              <p:cNvSpPr txBox="1"/>
              <p:nvPr/>
            </p:nvSpPr>
            <p:spPr>
              <a:xfrm>
                <a:off x="5547160" y="3622380"/>
                <a:ext cx="16162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𝑐𝑜𝑛𝑠𝑢𝑚𝑒𝑑</m:t>
                          </m:r>
                        </m:sub>
                      </m:sSub>
                      <m:r>
                        <a:rPr lang="en-CA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CA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𝑐𝑜𝑚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FE91A3-2687-4656-A30A-EDBA9C797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160" y="3622380"/>
                <a:ext cx="1616276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B83159-D9D2-4B49-B828-CFAB592CEAC8}"/>
                  </a:ext>
                </a:extLst>
              </p:cNvPr>
              <p:cNvSpPr txBox="1"/>
              <p:nvPr/>
            </p:nvSpPr>
            <p:spPr>
              <a:xfrm>
                <a:off x="7498575" y="1325084"/>
                <a:ext cx="4173515" cy="407021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Fixed variables: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A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CA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𝑒𝑥</m:t>
                            </m:r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CA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𝑐𝑜𝑛𝑠𝑢𝑚𝑒𝑑</m:t>
                                </m:r>
                              </m:sub>
                            </m:sSub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en-CA" sz="1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𝑐𝑜𝑛𝑠𝑢𝑚𝑒𝑑</m:t>
                            </m:r>
                          </m:sub>
                        </m:sSub>
                      </m:sub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𝑐𝑜𝑛𝑠𝑢𝑚𝑒𝑑</m:t>
                            </m:r>
                          </m:sub>
                        </m:sSub>
                      </m:sub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CA" sz="18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CA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𝐿𝐵</m:t>
                        </m:r>
                      </m:e>
                      <m:sub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CA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sz="1800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endParaRPr lang="en-US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Decision variables: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CA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CA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CA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CA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CA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CA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</a:rPr>
                                <m:t>𝑒𝑥</m:t>
                              </m:r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CA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𝑝𝑟𝑜𝑑𝑢𝑐𝑒𝑑</m:t>
                                  </m:r>
                                </m:sub>
                              </m:sSub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CA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B83159-D9D2-4B49-B828-CFAB592CE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575" y="1325084"/>
                <a:ext cx="4173515" cy="4070217"/>
              </a:xfrm>
              <a:prstGeom prst="rect">
                <a:avLst/>
              </a:prstGeom>
              <a:blipFill>
                <a:blip r:embed="rId18"/>
                <a:stretch>
                  <a:fillRect l="-6812" t="-44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71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Widescreen</PresentationFormat>
  <Paragraphs>58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Scripting plan</vt:lpstr>
      <vt:lpstr>Adapted SteadyCom Formulation</vt:lpstr>
      <vt:lpstr>Adapted SteadyCom Formulation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Scripting plan</dc:title>
  <dc:creator>Noor Alsmadi</dc:creator>
  <cp:lastModifiedBy>Noor Alsmadi</cp:lastModifiedBy>
  <cp:revision>1</cp:revision>
  <dcterms:created xsi:type="dcterms:W3CDTF">2024-08-06T19:55:46Z</dcterms:created>
  <dcterms:modified xsi:type="dcterms:W3CDTF">2024-08-06T19:56:14Z</dcterms:modified>
</cp:coreProperties>
</file>