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381" r:id="rId3"/>
    <p:sldId id="375" r:id="rId4"/>
    <p:sldId id="382" r:id="rId5"/>
    <p:sldId id="391" r:id="rId6"/>
    <p:sldId id="384" r:id="rId7"/>
    <p:sldId id="360" r:id="rId8"/>
    <p:sldId id="392" r:id="rId9"/>
    <p:sldId id="385" r:id="rId10"/>
    <p:sldId id="406" r:id="rId11"/>
    <p:sldId id="408" r:id="rId12"/>
    <p:sldId id="394" r:id="rId13"/>
    <p:sldId id="393" r:id="rId14"/>
    <p:sldId id="395" r:id="rId15"/>
    <p:sldId id="409" r:id="rId16"/>
    <p:sldId id="260" r:id="rId17"/>
    <p:sldId id="352" r:id="rId18"/>
    <p:sldId id="353" r:id="rId19"/>
    <p:sldId id="354" r:id="rId20"/>
    <p:sldId id="257" r:id="rId21"/>
    <p:sldId id="258" r:id="rId22"/>
    <p:sldId id="259" r:id="rId23"/>
    <p:sldId id="355" r:id="rId24"/>
    <p:sldId id="357" r:id="rId25"/>
    <p:sldId id="358" r:id="rId26"/>
    <p:sldId id="359" r:id="rId27"/>
    <p:sldId id="262" r:id="rId28"/>
    <p:sldId id="263" r:id="rId29"/>
    <p:sldId id="264" r:id="rId30"/>
    <p:sldId id="265" r:id="rId31"/>
    <p:sldId id="267" r:id="rId32"/>
    <p:sldId id="26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98C9AE-F91F-3040-96E4-09164673416E}" v="1" dt="2024-07-25T07:03:30.8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63677"/>
  </p:normalViewPr>
  <p:slideViewPr>
    <p:cSldViewPr snapToGrid="0">
      <p:cViewPr varScale="1">
        <p:scale>
          <a:sx n="71" d="100"/>
          <a:sy n="71" d="100"/>
        </p:scale>
        <p:origin x="212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or Alsmadi" userId="de602c73-abd0-484a-bd52-ee79637a4637" providerId="ADAL" clId="{2D98C9AE-F91F-3040-96E4-09164673416E}"/>
    <pc:docChg chg="custSel addSld modSld">
      <pc:chgData name="Noor Alsmadi" userId="de602c73-abd0-484a-bd52-ee79637a4637" providerId="ADAL" clId="{2D98C9AE-F91F-3040-96E4-09164673416E}" dt="2024-07-25T13:58:31.769" v="72" actId="20577"/>
      <pc:docMkLst>
        <pc:docMk/>
      </pc:docMkLst>
      <pc:sldChg chg="add">
        <pc:chgData name="Noor Alsmadi" userId="de602c73-abd0-484a-bd52-ee79637a4637" providerId="ADAL" clId="{2D98C9AE-F91F-3040-96E4-09164673416E}" dt="2024-07-25T07:03:30.831" v="16"/>
        <pc:sldMkLst>
          <pc:docMk/>
          <pc:sldMk cId="2262691802" sldId="257"/>
        </pc:sldMkLst>
      </pc:sldChg>
      <pc:sldChg chg="add">
        <pc:chgData name="Noor Alsmadi" userId="de602c73-abd0-484a-bd52-ee79637a4637" providerId="ADAL" clId="{2D98C9AE-F91F-3040-96E4-09164673416E}" dt="2024-07-25T07:03:30.831" v="16"/>
        <pc:sldMkLst>
          <pc:docMk/>
          <pc:sldMk cId="2464651269" sldId="258"/>
        </pc:sldMkLst>
      </pc:sldChg>
      <pc:sldChg chg="add">
        <pc:chgData name="Noor Alsmadi" userId="de602c73-abd0-484a-bd52-ee79637a4637" providerId="ADAL" clId="{2D98C9AE-F91F-3040-96E4-09164673416E}" dt="2024-07-25T07:03:30.831" v="16"/>
        <pc:sldMkLst>
          <pc:docMk/>
          <pc:sldMk cId="2063259991" sldId="259"/>
        </pc:sldMkLst>
      </pc:sldChg>
      <pc:sldChg chg="add">
        <pc:chgData name="Noor Alsmadi" userId="de602c73-abd0-484a-bd52-ee79637a4637" providerId="ADAL" clId="{2D98C9AE-F91F-3040-96E4-09164673416E}" dt="2024-07-25T07:03:30.831" v="16"/>
        <pc:sldMkLst>
          <pc:docMk/>
          <pc:sldMk cId="227347700" sldId="260"/>
        </pc:sldMkLst>
      </pc:sldChg>
      <pc:sldChg chg="add">
        <pc:chgData name="Noor Alsmadi" userId="de602c73-abd0-484a-bd52-ee79637a4637" providerId="ADAL" clId="{2D98C9AE-F91F-3040-96E4-09164673416E}" dt="2024-07-25T07:03:30.831" v="16"/>
        <pc:sldMkLst>
          <pc:docMk/>
          <pc:sldMk cId="2942135789" sldId="262"/>
        </pc:sldMkLst>
      </pc:sldChg>
      <pc:sldChg chg="add">
        <pc:chgData name="Noor Alsmadi" userId="de602c73-abd0-484a-bd52-ee79637a4637" providerId="ADAL" clId="{2D98C9AE-F91F-3040-96E4-09164673416E}" dt="2024-07-25T07:03:30.831" v="16"/>
        <pc:sldMkLst>
          <pc:docMk/>
          <pc:sldMk cId="1485785512" sldId="263"/>
        </pc:sldMkLst>
      </pc:sldChg>
      <pc:sldChg chg="add">
        <pc:chgData name="Noor Alsmadi" userId="de602c73-abd0-484a-bd52-ee79637a4637" providerId="ADAL" clId="{2D98C9AE-F91F-3040-96E4-09164673416E}" dt="2024-07-25T07:03:30.831" v="16"/>
        <pc:sldMkLst>
          <pc:docMk/>
          <pc:sldMk cId="1042804841" sldId="264"/>
        </pc:sldMkLst>
      </pc:sldChg>
      <pc:sldChg chg="add">
        <pc:chgData name="Noor Alsmadi" userId="de602c73-abd0-484a-bd52-ee79637a4637" providerId="ADAL" clId="{2D98C9AE-F91F-3040-96E4-09164673416E}" dt="2024-07-25T07:03:30.831" v="16"/>
        <pc:sldMkLst>
          <pc:docMk/>
          <pc:sldMk cId="389820073" sldId="265"/>
        </pc:sldMkLst>
      </pc:sldChg>
      <pc:sldChg chg="add">
        <pc:chgData name="Noor Alsmadi" userId="de602c73-abd0-484a-bd52-ee79637a4637" providerId="ADAL" clId="{2D98C9AE-F91F-3040-96E4-09164673416E}" dt="2024-07-25T07:03:30.831" v="16"/>
        <pc:sldMkLst>
          <pc:docMk/>
          <pc:sldMk cId="1126889439" sldId="267"/>
        </pc:sldMkLst>
      </pc:sldChg>
      <pc:sldChg chg="add">
        <pc:chgData name="Noor Alsmadi" userId="de602c73-abd0-484a-bd52-ee79637a4637" providerId="ADAL" clId="{2D98C9AE-F91F-3040-96E4-09164673416E}" dt="2024-07-25T07:03:30.831" v="16"/>
        <pc:sldMkLst>
          <pc:docMk/>
          <pc:sldMk cId="1236941013" sldId="268"/>
        </pc:sldMkLst>
      </pc:sldChg>
      <pc:sldChg chg="add">
        <pc:chgData name="Noor Alsmadi" userId="de602c73-abd0-484a-bd52-ee79637a4637" providerId="ADAL" clId="{2D98C9AE-F91F-3040-96E4-09164673416E}" dt="2024-07-25T07:03:30.831" v="16"/>
        <pc:sldMkLst>
          <pc:docMk/>
          <pc:sldMk cId="3037906993" sldId="352"/>
        </pc:sldMkLst>
      </pc:sldChg>
      <pc:sldChg chg="add">
        <pc:chgData name="Noor Alsmadi" userId="de602c73-abd0-484a-bd52-ee79637a4637" providerId="ADAL" clId="{2D98C9AE-F91F-3040-96E4-09164673416E}" dt="2024-07-25T07:03:30.831" v="16"/>
        <pc:sldMkLst>
          <pc:docMk/>
          <pc:sldMk cId="3846674279" sldId="353"/>
        </pc:sldMkLst>
      </pc:sldChg>
      <pc:sldChg chg="add">
        <pc:chgData name="Noor Alsmadi" userId="de602c73-abd0-484a-bd52-ee79637a4637" providerId="ADAL" clId="{2D98C9AE-F91F-3040-96E4-09164673416E}" dt="2024-07-25T07:03:30.831" v="16"/>
        <pc:sldMkLst>
          <pc:docMk/>
          <pc:sldMk cId="960332004" sldId="354"/>
        </pc:sldMkLst>
      </pc:sldChg>
      <pc:sldChg chg="add">
        <pc:chgData name="Noor Alsmadi" userId="de602c73-abd0-484a-bd52-ee79637a4637" providerId="ADAL" clId="{2D98C9AE-F91F-3040-96E4-09164673416E}" dt="2024-07-25T07:03:30.831" v="16"/>
        <pc:sldMkLst>
          <pc:docMk/>
          <pc:sldMk cId="1141397079" sldId="355"/>
        </pc:sldMkLst>
      </pc:sldChg>
      <pc:sldChg chg="add">
        <pc:chgData name="Noor Alsmadi" userId="de602c73-abd0-484a-bd52-ee79637a4637" providerId="ADAL" clId="{2D98C9AE-F91F-3040-96E4-09164673416E}" dt="2024-07-25T07:03:30.831" v="16"/>
        <pc:sldMkLst>
          <pc:docMk/>
          <pc:sldMk cId="3102493577" sldId="357"/>
        </pc:sldMkLst>
      </pc:sldChg>
      <pc:sldChg chg="add">
        <pc:chgData name="Noor Alsmadi" userId="de602c73-abd0-484a-bd52-ee79637a4637" providerId="ADAL" clId="{2D98C9AE-F91F-3040-96E4-09164673416E}" dt="2024-07-25T07:03:30.831" v="16"/>
        <pc:sldMkLst>
          <pc:docMk/>
          <pc:sldMk cId="18992302" sldId="358"/>
        </pc:sldMkLst>
      </pc:sldChg>
      <pc:sldChg chg="add">
        <pc:chgData name="Noor Alsmadi" userId="de602c73-abd0-484a-bd52-ee79637a4637" providerId="ADAL" clId="{2D98C9AE-F91F-3040-96E4-09164673416E}" dt="2024-07-25T07:03:30.831" v="16"/>
        <pc:sldMkLst>
          <pc:docMk/>
          <pc:sldMk cId="4139377660" sldId="359"/>
        </pc:sldMkLst>
      </pc:sldChg>
      <pc:sldChg chg="modNotesTx">
        <pc:chgData name="Noor Alsmadi" userId="de602c73-abd0-484a-bd52-ee79637a4637" providerId="ADAL" clId="{2D98C9AE-F91F-3040-96E4-09164673416E}" dt="2024-07-25T13:58:31.769" v="72" actId="20577"/>
        <pc:sldMkLst>
          <pc:docMk/>
          <pc:sldMk cId="2643485582" sldId="375"/>
        </pc:sldMkLst>
      </pc:sldChg>
      <pc:sldChg chg="modNotesTx">
        <pc:chgData name="Noor Alsmadi" userId="de602c73-abd0-484a-bd52-ee79637a4637" providerId="ADAL" clId="{2D98C9AE-F91F-3040-96E4-09164673416E}" dt="2024-07-25T13:57:55.814" v="64" actId="20577"/>
        <pc:sldMkLst>
          <pc:docMk/>
          <pc:sldMk cId="4265261528" sldId="381"/>
        </pc:sldMkLst>
      </pc:sldChg>
      <pc:sldChg chg="delSp modSp new mod">
        <pc:chgData name="Noor Alsmadi" userId="de602c73-abd0-484a-bd52-ee79637a4637" providerId="ADAL" clId="{2D98C9AE-F91F-3040-96E4-09164673416E}" dt="2024-07-25T06:51:11.780" v="15" actId="478"/>
        <pc:sldMkLst>
          <pc:docMk/>
          <pc:sldMk cId="2805525999" sldId="409"/>
        </pc:sldMkLst>
        <pc:spChg chg="mod">
          <ac:chgData name="Noor Alsmadi" userId="de602c73-abd0-484a-bd52-ee79637a4637" providerId="ADAL" clId="{2D98C9AE-F91F-3040-96E4-09164673416E}" dt="2024-07-25T06:51:09.678" v="14" actId="20577"/>
          <ac:spMkLst>
            <pc:docMk/>
            <pc:sldMk cId="2805525999" sldId="409"/>
            <ac:spMk id="2" creationId="{EE6E7283-38D1-10DA-10C4-6AED00EC4438}"/>
          </ac:spMkLst>
        </pc:spChg>
        <pc:spChg chg="del">
          <ac:chgData name="Noor Alsmadi" userId="de602c73-abd0-484a-bd52-ee79637a4637" providerId="ADAL" clId="{2D98C9AE-F91F-3040-96E4-09164673416E}" dt="2024-07-25T06:51:11.780" v="15" actId="478"/>
          <ac:spMkLst>
            <pc:docMk/>
            <pc:sldMk cId="2805525999" sldId="409"/>
            <ac:spMk id="3" creationId="{CEEAAEA2-08D9-B63A-77B5-F122A85694A7}"/>
          </ac:spMkLst>
        </pc:spChg>
      </pc:sldChg>
      <pc:sldChg chg="add">
        <pc:chgData name="Noor Alsmadi" userId="de602c73-abd0-484a-bd52-ee79637a4637" providerId="ADAL" clId="{2D98C9AE-F91F-3040-96E4-09164673416E}" dt="2024-07-25T07:03:30.831" v="16"/>
        <pc:sldMkLst>
          <pc:docMk/>
          <pc:sldMk cId="4130033855" sldId="41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D30B89-CE42-4D4F-9134-CFBD957BD58F}" type="datetimeFigureOut">
              <a:rPr lang="en-US" smtClean="0"/>
              <a:t>7/25/24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824296-A405-2441-8D56-4DCEF1A2D77D}" type="slidenum">
              <a:rPr lang="en-US" smtClean="0"/>
              <a:t>‹#›</a:t>
            </a:fld>
            <a:endParaRPr lang="en-US"/>
          </a:p>
        </p:txBody>
      </p:sp>
    </p:spTree>
    <p:extLst>
      <p:ext uri="{BB962C8B-B14F-4D97-AF65-F5344CB8AC3E}">
        <p14:creationId xmlns:p14="http://schemas.microsoft.com/office/powerpoint/2010/main" val="936969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824296-A405-2441-8D56-4DCEF1A2D77D}" type="slidenum">
              <a:rPr lang="en-US" smtClean="0"/>
              <a:t>1</a:t>
            </a:fld>
            <a:endParaRPr lang="en-US"/>
          </a:p>
        </p:txBody>
      </p:sp>
    </p:spTree>
    <p:extLst>
      <p:ext uri="{BB962C8B-B14F-4D97-AF65-F5344CB8AC3E}">
        <p14:creationId xmlns:p14="http://schemas.microsoft.com/office/powerpoint/2010/main" val="42222848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4D90D0-30E4-4008-9D61-CEEF65442B56}" type="slidenum">
              <a:rPr lang="en-US" smtClean="0"/>
              <a:t>2</a:t>
            </a:fld>
            <a:endParaRPr lang="en-US"/>
          </a:p>
        </p:txBody>
      </p:sp>
    </p:spTree>
    <p:extLst>
      <p:ext uri="{BB962C8B-B14F-4D97-AF65-F5344CB8AC3E}">
        <p14:creationId xmlns:p14="http://schemas.microsoft.com/office/powerpoint/2010/main" val="3418640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94D90D0-30E4-4008-9D61-CEEF65442B56}" type="slidenum">
              <a:rPr lang="en-US" smtClean="0"/>
              <a:t>3</a:t>
            </a:fld>
            <a:endParaRPr lang="en-US"/>
          </a:p>
        </p:txBody>
      </p:sp>
    </p:spTree>
    <p:extLst>
      <p:ext uri="{BB962C8B-B14F-4D97-AF65-F5344CB8AC3E}">
        <p14:creationId xmlns:p14="http://schemas.microsoft.com/office/powerpoint/2010/main" val="2117477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294D90D0-30E4-4008-9D61-CEEF65442B56}" type="slidenum">
              <a:rPr lang="en-US" smtClean="0"/>
              <a:t>4</a:t>
            </a:fld>
            <a:endParaRPr lang="en-US"/>
          </a:p>
        </p:txBody>
      </p:sp>
    </p:spTree>
    <p:extLst>
      <p:ext uri="{BB962C8B-B14F-4D97-AF65-F5344CB8AC3E}">
        <p14:creationId xmlns:p14="http://schemas.microsoft.com/office/powerpoint/2010/main" val="3269937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4D90D0-30E4-4008-9D61-CEEF65442B56}" type="slidenum">
              <a:rPr lang="en-US" smtClean="0"/>
              <a:t>5</a:t>
            </a:fld>
            <a:endParaRPr lang="en-US"/>
          </a:p>
        </p:txBody>
      </p:sp>
    </p:spTree>
    <p:extLst>
      <p:ext uri="{BB962C8B-B14F-4D97-AF65-F5344CB8AC3E}">
        <p14:creationId xmlns:p14="http://schemas.microsoft.com/office/powerpoint/2010/main" val="2659556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94D90D0-30E4-4008-9D61-CEEF65442B56}" type="slidenum">
              <a:rPr lang="en-US" smtClean="0"/>
              <a:t>6</a:t>
            </a:fld>
            <a:endParaRPr lang="en-US"/>
          </a:p>
        </p:txBody>
      </p:sp>
    </p:spTree>
    <p:extLst>
      <p:ext uri="{BB962C8B-B14F-4D97-AF65-F5344CB8AC3E}">
        <p14:creationId xmlns:p14="http://schemas.microsoft.com/office/powerpoint/2010/main" val="4151413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4D4C9067-3E10-6A40-9052-A3DCE7578AAB}" type="slidenum">
              <a:rPr lang="en-US" smtClean="0"/>
              <a:t>7</a:t>
            </a:fld>
            <a:endParaRPr lang="en-US"/>
          </a:p>
        </p:txBody>
      </p:sp>
    </p:spTree>
    <p:extLst>
      <p:ext uri="{BB962C8B-B14F-4D97-AF65-F5344CB8AC3E}">
        <p14:creationId xmlns:p14="http://schemas.microsoft.com/office/powerpoint/2010/main" val="19496284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4D90D0-30E4-4008-9D61-CEEF65442B56}" type="slidenum">
              <a:rPr lang="en-US" smtClean="0"/>
              <a:t>8</a:t>
            </a:fld>
            <a:endParaRPr lang="en-US"/>
          </a:p>
        </p:txBody>
      </p:sp>
    </p:spTree>
    <p:extLst>
      <p:ext uri="{BB962C8B-B14F-4D97-AF65-F5344CB8AC3E}">
        <p14:creationId xmlns:p14="http://schemas.microsoft.com/office/powerpoint/2010/main" val="27430402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4D90D0-30E4-4008-9D61-CEEF65442B56}" type="slidenum">
              <a:rPr lang="en-US" smtClean="0"/>
              <a:t>9</a:t>
            </a:fld>
            <a:endParaRPr lang="en-US"/>
          </a:p>
        </p:txBody>
      </p:sp>
    </p:spTree>
    <p:extLst>
      <p:ext uri="{BB962C8B-B14F-4D97-AF65-F5344CB8AC3E}">
        <p14:creationId xmlns:p14="http://schemas.microsoft.com/office/powerpoint/2010/main" val="2109237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the overall flux of produced metabolites out of the community?</a:t>
            </a:r>
          </a:p>
        </p:txBody>
      </p:sp>
      <p:sp>
        <p:nvSpPr>
          <p:cNvPr id="4" name="Slide Number Placeholder 3"/>
          <p:cNvSpPr>
            <a:spLocks noGrp="1"/>
          </p:cNvSpPr>
          <p:nvPr>
            <p:ph type="sldNum" sz="quarter" idx="5"/>
          </p:nvPr>
        </p:nvSpPr>
        <p:spPr/>
        <p:txBody>
          <a:bodyPr/>
          <a:lstStyle/>
          <a:p>
            <a:fld id="{294D90D0-30E4-4008-9D61-CEEF65442B56}" type="slidenum">
              <a:rPr lang="en-US" smtClean="0"/>
              <a:t>13</a:t>
            </a:fld>
            <a:endParaRPr lang="en-US"/>
          </a:p>
        </p:txBody>
      </p:sp>
    </p:spTree>
    <p:extLst>
      <p:ext uri="{BB962C8B-B14F-4D97-AF65-F5344CB8AC3E}">
        <p14:creationId xmlns:p14="http://schemas.microsoft.com/office/powerpoint/2010/main" val="18784468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B5FF0FC1-A0C2-41C7-8AE1-009C7D08F17D}" type="slidenum">
              <a:rPr lang="en-US" smtClean="0"/>
              <a:t>17</a:t>
            </a:fld>
            <a:endParaRPr lang="en-US"/>
          </a:p>
        </p:txBody>
      </p:sp>
    </p:spTree>
    <p:extLst>
      <p:ext uri="{BB962C8B-B14F-4D97-AF65-F5344CB8AC3E}">
        <p14:creationId xmlns:p14="http://schemas.microsoft.com/office/powerpoint/2010/main" val="3304177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 that dilution rate equals to growth rate.</a:t>
            </a:r>
          </a:p>
        </p:txBody>
      </p:sp>
      <p:sp>
        <p:nvSpPr>
          <p:cNvPr id="4" name="Slide Number Placeholder 3"/>
          <p:cNvSpPr>
            <a:spLocks noGrp="1"/>
          </p:cNvSpPr>
          <p:nvPr>
            <p:ph type="sldNum" sz="quarter" idx="5"/>
          </p:nvPr>
        </p:nvSpPr>
        <p:spPr/>
        <p:txBody>
          <a:bodyPr/>
          <a:lstStyle/>
          <a:p>
            <a:fld id="{B5FF0FC1-A0C2-41C7-8AE1-009C7D08F17D}" type="slidenum">
              <a:rPr lang="en-US" smtClean="0"/>
              <a:t>20</a:t>
            </a:fld>
            <a:endParaRPr lang="en-US"/>
          </a:p>
        </p:txBody>
      </p:sp>
    </p:spTree>
    <p:extLst>
      <p:ext uri="{BB962C8B-B14F-4D97-AF65-F5344CB8AC3E}">
        <p14:creationId xmlns:p14="http://schemas.microsoft.com/office/powerpoint/2010/main" val="8042469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buFont typeface="Arial" panose="020B0604020202020204" pitchFamily="34" charset="0"/>
                  <a:buNone/>
                </a:pPr>
                <a:r>
                  <a:rPr lang="en-US"/>
                  <a:t>Flow rate (Q) and velocity (</a:t>
                </a:r>
                <a14:m>
                  <m:oMath xmlns:m="http://schemas.openxmlformats.org/officeDocument/2006/math">
                    <m:acc>
                      <m:accPr>
                        <m:chr m:val="̅"/>
                        <m:ctrlPr>
                          <a:rPr lang="en-US" sz="1200" i="1" smtClean="0">
                            <a:latin typeface="Cambria Math" panose="02040503050406030204" pitchFamily="18" charset="0"/>
                          </a:rPr>
                        </m:ctrlPr>
                      </m:accPr>
                      <m:e>
                        <m:r>
                          <a:rPr lang="en-US" sz="1200" b="0" i="1" smtClean="0">
                            <a:latin typeface="Cambria Math" panose="02040503050406030204" pitchFamily="18" charset="0"/>
                          </a:rPr>
                          <m:t>𝑣</m:t>
                        </m:r>
                      </m:e>
                    </m:acc>
                  </m:oMath>
                </a14:m>
                <a:r>
                  <a:rPr lang="en-US" sz="1200"/>
                  <a:t> )</a:t>
                </a:r>
                <a:r>
                  <a:rPr lang="en-US" sz="1200" baseline="0"/>
                  <a:t> are related but quite different physical quantities:</a:t>
                </a:r>
              </a:p>
              <a:p>
                <a:pPr marL="171450" indent="-171450">
                  <a:buFont typeface="Courier New" panose="02070309020205020404" pitchFamily="49" charset="0"/>
                  <a:buChar char="o"/>
                </a:pPr>
                <a:r>
                  <a:rPr lang="en-US" sz="1200" baseline="0"/>
                  <a:t>The greater the velocity of the water, the greater the flow rate of a river, for example…</a:t>
                </a:r>
              </a:p>
              <a:p>
                <a:pPr marL="171450" indent="-171450">
                  <a:buFont typeface="Courier New" panose="02070309020205020404" pitchFamily="49" charset="0"/>
                  <a:buChar char="o"/>
                </a:pPr>
                <a:r>
                  <a:rPr lang="en-US" sz="1200" baseline="0"/>
                  <a:t>… but flow rate also depends on the size of the river since a rapid mountain stream would carry far less water than the Amazon River in Brazil, for example.</a:t>
                </a:r>
              </a:p>
              <a:p>
                <a:pPr marL="171450" indent="-171450">
                  <a:buFont typeface="Courier New" panose="02070309020205020404" pitchFamily="49" charset="0"/>
                  <a:buChar char="o"/>
                </a:pPr>
                <a:r>
                  <a:rPr lang="en-US" sz="1200" baseline="0"/>
                  <a:t>Therefore, the relationship between flow rate and velocity is: Q = A</a:t>
                </a:r>
                <a14:m>
                  <m:oMath xmlns:m="http://schemas.openxmlformats.org/officeDocument/2006/math">
                    <m:acc>
                      <m:accPr>
                        <m:chr m:val="̅"/>
                        <m:ctrlPr>
                          <a:rPr lang="en-US" sz="1200" i="1" smtClean="0">
                            <a:latin typeface="Cambria Math" panose="02040503050406030204" pitchFamily="18" charset="0"/>
                          </a:rPr>
                        </m:ctrlPr>
                      </m:accPr>
                      <m:e>
                        <m:r>
                          <a:rPr lang="en-US" sz="1200" b="0" i="1" smtClean="0">
                            <a:latin typeface="Cambria Math" panose="02040503050406030204" pitchFamily="18" charset="0"/>
                          </a:rPr>
                          <m:t>𝑣</m:t>
                        </m:r>
                      </m:e>
                    </m:acc>
                  </m:oMath>
                </a14:m>
                <a:r>
                  <a:rPr lang="en-US" sz="1200"/>
                  <a:t> </a:t>
                </a:r>
                <a:endParaRPr lang="en-US" sz="1200" baseline="0"/>
              </a:p>
            </p:txBody>
          </p:sp>
        </mc:Choice>
        <mc:Fallback xmlns="">
          <p:sp>
            <p:nvSpPr>
              <p:cNvPr id="3" name="Notes Placeholder 2"/>
              <p:cNvSpPr>
                <a:spLocks noGrp="1"/>
              </p:cNvSpPr>
              <p:nvPr>
                <p:ph type="body" idx="1"/>
              </p:nvPr>
            </p:nvSpPr>
            <p:spPr/>
            <p:txBody>
              <a:bodyPr/>
              <a:lstStyle/>
              <a:p>
                <a:pPr marL="0" indent="0">
                  <a:buFont typeface="Arial" panose="020B0604020202020204" pitchFamily="34" charset="0"/>
                  <a:buNone/>
                </a:pPr>
                <a:r>
                  <a:rPr lang="en-US"/>
                  <a:t>Flow rate (Q) and velocity (</a:t>
                </a:r>
                <a:r>
                  <a:rPr lang="en-US" sz="1200" b="0" i="0">
                    <a:latin typeface="Cambria Math" panose="02040503050406030204" pitchFamily="18" charset="0"/>
                  </a:rPr>
                  <a:t>𝑣 ̅</a:t>
                </a:r>
                <a:r>
                  <a:rPr lang="en-US" sz="1200"/>
                  <a:t> )</a:t>
                </a:r>
                <a:r>
                  <a:rPr lang="en-US" sz="1200" baseline="0"/>
                  <a:t> are related but quite different physical quantities:</a:t>
                </a:r>
              </a:p>
              <a:p>
                <a:pPr marL="171450" indent="-171450">
                  <a:buFont typeface="Courier New" panose="02070309020205020404" pitchFamily="49" charset="0"/>
                  <a:buChar char="o"/>
                </a:pPr>
                <a:r>
                  <a:rPr lang="en-US" sz="1200" baseline="0"/>
                  <a:t>The greater the velocity of the water, the greater the flow rate of a river, for example…</a:t>
                </a:r>
              </a:p>
              <a:p>
                <a:pPr marL="171450" indent="-171450">
                  <a:buFont typeface="Courier New" panose="02070309020205020404" pitchFamily="49" charset="0"/>
                  <a:buChar char="o"/>
                </a:pPr>
                <a:r>
                  <a:rPr lang="en-US" sz="1200" baseline="0"/>
                  <a:t>… but flow rate also depends on the size of the river since a rapid mountain stream would carry far less water than the Amazon River in Brazil, for example.</a:t>
                </a:r>
              </a:p>
              <a:p>
                <a:pPr marL="171450" indent="-171450">
                  <a:buFont typeface="Courier New" panose="02070309020205020404" pitchFamily="49" charset="0"/>
                  <a:buChar char="o"/>
                </a:pPr>
                <a:r>
                  <a:rPr lang="en-US" sz="1200" baseline="0"/>
                  <a:t>Therefore, the relationship between flow rate and velocity is: Q = A</a:t>
                </a:r>
                <a:r>
                  <a:rPr lang="en-US" sz="1200" b="0" i="0">
                    <a:latin typeface="Cambria Math" panose="02040503050406030204" pitchFamily="18" charset="0"/>
                  </a:rPr>
                  <a:t>𝑣 ̅</a:t>
                </a:r>
                <a:r>
                  <a:rPr lang="en-US" sz="1200"/>
                  <a:t> </a:t>
                </a:r>
                <a:endParaRPr lang="en-US" sz="1200" baseline="0"/>
              </a:p>
            </p:txBody>
          </p:sp>
        </mc:Fallback>
      </mc:AlternateContent>
      <p:sp>
        <p:nvSpPr>
          <p:cNvPr id="4" name="Slide Number Placeholder 3"/>
          <p:cNvSpPr>
            <a:spLocks noGrp="1"/>
          </p:cNvSpPr>
          <p:nvPr>
            <p:ph type="sldNum" sz="quarter" idx="5"/>
          </p:nvPr>
        </p:nvSpPr>
        <p:spPr/>
        <p:txBody>
          <a:bodyPr/>
          <a:lstStyle/>
          <a:p>
            <a:fld id="{B5FF0FC1-A0C2-41C7-8AE1-009C7D08F17D}" type="slidenum">
              <a:rPr lang="en-US" smtClean="0"/>
              <a:t>21</a:t>
            </a:fld>
            <a:endParaRPr lang="en-US"/>
          </a:p>
        </p:txBody>
      </p:sp>
    </p:spTree>
    <p:extLst>
      <p:ext uri="{BB962C8B-B14F-4D97-AF65-F5344CB8AC3E}">
        <p14:creationId xmlns:p14="http://schemas.microsoft.com/office/powerpoint/2010/main" val="36099342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C9067-3E10-6A40-9052-A3DCE7578AAB}" type="slidenum">
              <a:rPr lang="en-US" smtClean="0"/>
              <a:t>28</a:t>
            </a:fld>
            <a:endParaRPr lang="en-US"/>
          </a:p>
        </p:txBody>
      </p:sp>
    </p:spTree>
    <p:extLst>
      <p:ext uri="{BB962C8B-B14F-4D97-AF65-F5344CB8AC3E}">
        <p14:creationId xmlns:p14="http://schemas.microsoft.com/office/powerpoint/2010/main" val="30642411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C76251-5736-4A38-A076-959DA6EB1D05}" type="slidenum">
              <a:rPr lang="en-US" smtClean="0"/>
              <a:t>29</a:t>
            </a:fld>
            <a:endParaRPr lang="en-US"/>
          </a:p>
        </p:txBody>
      </p:sp>
    </p:spTree>
    <p:extLst>
      <p:ext uri="{BB962C8B-B14F-4D97-AF65-F5344CB8AC3E}">
        <p14:creationId xmlns:p14="http://schemas.microsoft.com/office/powerpoint/2010/main" val="11334916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C9067-3E10-6A40-9052-A3DCE7578AAB}" type="slidenum">
              <a:rPr lang="en-US" smtClean="0"/>
              <a:t>31</a:t>
            </a:fld>
            <a:endParaRPr lang="en-US"/>
          </a:p>
        </p:txBody>
      </p:sp>
    </p:spTree>
    <p:extLst>
      <p:ext uri="{BB962C8B-B14F-4D97-AF65-F5344CB8AC3E}">
        <p14:creationId xmlns:p14="http://schemas.microsoft.com/office/powerpoint/2010/main" val="1537170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F91AB-216F-5EFB-5C20-A30E354EB5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5D7FC1-7A56-5949-E0B7-FC9F4D80E5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E9413E-4896-1448-1AD6-F79372086CE4}"/>
              </a:ext>
            </a:extLst>
          </p:cNvPr>
          <p:cNvSpPr>
            <a:spLocks noGrp="1"/>
          </p:cNvSpPr>
          <p:nvPr>
            <p:ph type="dt" sz="half" idx="10"/>
          </p:nvPr>
        </p:nvSpPr>
        <p:spPr/>
        <p:txBody>
          <a:bodyPr/>
          <a:lstStyle/>
          <a:p>
            <a:fld id="{45548933-1869-264F-A0E5-0A8674041C9D}" type="datetimeFigureOut">
              <a:rPr lang="en-US" smtClean="0"/>
              <a:t>7/25/24</a:t>
            </a:fld>
            <a:endParaRPr lang="en-US"/>
          </a:p>
        </p:txBody>
      </p:sp>
      <p:sp>
        <p:nvSpPr>
          <p:cNvPr id="5" name="Footer Placeholder 4">
            <a:extLst>
              <a:ext uri="{FF2B5EF4-FFF2-40B4-BE49-F238E27FC236}">
                <a16:creationId xmlns:a16="http://schemas.microsoft.com/office/drawing/2014/main" id="{B74462CE-D178-F884-228A-DB544B9822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C1B2ED-1432-C0CA-B88F-C80B27078B06}"/>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3242934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CF8F7-3CE9-85E4-102D-968408CFD5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BA6D4D-381B-CE30-BADD-A4EDB0F0B6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F3D78D-A90D-7A21-286E-F567878D53CA}"/>
              </a:ext>
            </a:extLst>
          </p:cNvPr>
          <p:cNvSpPr>
            <a:spLocks noGrp="1"/>
          </p:cNvSpPr>
          <p:nvPr>
            <p:ph type="dt" sz="half" idx="10"/>
          </p:nvPr>
        </p:nvSpPr>
        <p:spPr/>
        <p:txBody>
          <a:bodyPr/>
          <a:lstStyle/>
          <a:p>
            <a:fld id="{45548933-1869-264F-A0E5-0A8674041C9D}" type="datetimeFigureOut">
              <a:rPr lang="en-US" smtClean="0"/>
              <a:t>7/25/24</a:t>
            </a:fld>
            <a:endParaRPr lang="en-US"/>
          </a:p>
        </p:txBody>
      </p:sp>
      <p:sp>
        <p:nvSpPr>
          <p:cNvPr id="5" name="Footer Placeholder 4">
            <a:extLst>
              <a:ext uri="{FF2B5EF4-FFF2-40B4-BE49-F238E27FC236}">
                <a16:creationId xmlns:a16="http://schemas.microsoft.com/office/drawing/2014/main" id="{E6FA54DF-BD2E-C1DE-133F-C578583200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9B8115-7376-23B9-EFDA-B78DD696F358}"/>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3989516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A984B-23A1-F88C-B203-B8527646F2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EBE84D-1397-59E9-317B-7E02CCCA42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01A3D1-257A-5819-3F2D-62DC53AC63D2}"/>
              </a:ext>
            </a:extLst>
          </p:cNvPr>
          <p:cNvSpPr>
            <a:spLocks noGrp="1"/>
          </p:cNvSpPr>
          <p:nvPr>
            <p:ph type="dt" sz="half" idx="10"/>
          </p:nvPr>
        </p:nvSpPr>
        <p:spPr/>
        <p:txBody>
          <a:bodyPr/>
          <a:lstStyle/>
          <a:p>
            <a:fld id="{45548933-1869-264F-A0E5-0A8674041C9D}" type="datetimeFigureOut">
              <a:rPr lang="en-US" smtClean="0"/>
              <a:t>7/25/24</a:t>
            </a:fld>
            <a:endParaRPr lang="en-US"/>
          </a:p>
        </p:txBody>
      </p:sp>
      <p:sp>
        <p:nvSpPr>
          <p:cNvPr id="5" name="Footer Placeholder 4">
            <a:extLst>
              <a:ext uri="{FF2B5EF4-FFF2-40B4-BE49-F238E27FC236}">
                <a16:creationId xmlns:a16="http://schemas.microsoft.com/office/drawing/2014/main" id="{4FB3B978-1245-4BD2-DE9E-953B5111F5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1A69DE-C371-A3F7-7045-AE21345C7ABF}"/>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2775523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EE010-34BA-C719-5FF7-A88F074702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ED11C5-0E97-E2B5-D576-568C9453E2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49EB88A-39A9-0C5F-2DE1-59029CA958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C11E15-D7AE-FDE2-91D0-8F5CA6FD1C57}"/>
              </a:ext>
            </a:extLst>
          </p:cNvPr>
          <p:cNvSpPr>
            <a:spLocks noGrp="1"/>
          </p:cNvSpPr>
          <p:nvPr>
            <p:ph type="dt" sz="half" idx="10"/>
          </p:nvPr>
        </p:nvSpPr>
        <p:spPr/>
        <p:txBody>
          <a:bodyPr/>
          <a:lstStyle/>
          <a:p>
            <a:fld id="{45548933-1869-264F-A0E5-0A8674041C9D}" type="datetimeFigureOut">
              <a:rPr lang="en-US" smtClean="0"/>
              <a:t>7/25/24</a:t>
            </a:fld>
            <a:endParaRPr lang="en-US"/>
          </a:p>
        </p:txBody>
      </p:sp>
      <p:sp>
        <p:nvSpPr>
          <p:cNvPr id="6" name="Footer Placeholder 5">
            <a:extLst>
              <a:ext uri="{FF2B5EF4-FFF2-40B4-BE49-F238E27FC236}">
                <a16:creationId xmlns:a16="http://schemas.microsoft.com/office/drawing/2014/main" id="{11DB4879-8106-5D13-F753-BB2F750465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BF216F-D5E4-5D06-4B4E-D98EA41538B3}"/>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1943560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3A04B-3685-E310-7AEA-9F0853889FF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E0DE40-D609-0DA0-C427-8F4E766946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DFCAC3-0E99-B947-6152-B49202F149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D75C47F-7B0A-D9C0-0190-C6C33E634F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0E1942-B860-C441-DBB9-20C7E49AE6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0AC95DB-87FC-F4B0-F0BA-AA0FD4895A1D}"/>
              </a:ext>
            </a:extLst>
          </p:cNvPr>
          <p:cNvSpPr>
            <a:spLocks noGrp="1"/>
          </p:cNvSpPr>
          <p:nvPr>
            <p:ph type="dt" sz="half" idx="10"/>
          </p:nvPr>
        </p:nvSpPr>
        <p:spPr/>
        <p:txBody>
          <a:bodyPr/>
          <a:lstStyle/>
          <a:p>
            <a:fld id="{45548933-1869-264F-A0E5-0A8674041C9D}" type="datetimeFigureOut">
              <a:rPr lang="en-US" smtClean="0"/>
              <a:t>7/25/24</a:t>
            </a:fld>
            <a:endParaRPr lang="en-US"/>
          </a:p>
        </p:txBody>
      </p:sp>
      <p:sp>
        <p:nvSpPr>
          <p:cNvPr id="8" name="Footer Placeholder 7">
            <a:extLst>
              <a:ext uri="{FF2B5EF4-FFF2-40B4-BE49-F238E27FC236}">
                <a16:creationId xmlns:a16="http://schemas.microsoft.com/office/drawing/2014/main" id="{B3128CAE-9302-8CA3-ED88-640DDCEE51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017E7F6-9E20-F1F6-A755-7D85D0B505A6}"/>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1739640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16D0A-1C47-C58E-F7C7-7409BC714C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A034126-3F99-AF98-C577-531D582A47A7}"/>
              </a:ext>
            </a:extLst>
          </p:cNvPr>
          <p:cNvSpPr>
            <a:spLocks noGrp="1"/>
          </p:cNvSpPr>
          <p:nvPr>
            <p:ph type="dt" sz="half" idx="10"/>
          </p:nvPr>
        </p:nvSpPr>
        <p:spPr/>
        <p:txBody>
          <a:bodyPr/>
          <a:lstStyle/>
          <a:p>
            <a:fld id="{45548933-1869-264F-A0E5-0A8674041C9D}" type="datetimeFigureOut">
              <a:rPr lang="en-US" smtClean="0"/>
              <a:t>7/25/24</a:t>
            </a:fld>
            <a:endParaRPr lang="en-US"/>
          </a:p>
        </p:txBody>
      </p:sp>
      <p:sp>
        <p:nvSpPr>
          <p:cNvPr id="4" name="Footer Placeholder 3">
            <a:extLst>
              <a:ext uri="{FF2B5EF4-FFF2-40B4-BE49-F238E27FC236}">
                <a16:creationId xmlns:a16="http://schemas.microsoft.com/office/drawing/2014/main" id="{E1DFDD10-CC09-6624-9E3A-63D7DE043B8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F9A93C3-D49B-43EC-B023-4E8B2298A42D}"/>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2387284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3BAC14-F80C-43AE-25E9-15DB7A281F73}"/>
              </a:ext>
            </a:extLst>
          </p:cNvPr>
          <p:cNvSpPr>
            <a:spLocks noGrp="1"/>
          </p:cNvSpPr>
          <p:nvPr>
            <p:ph type="dt" sz="half" idx="10"/>
          </p:nvPr>
        </p:nvSpPr>
        <p:spPr/>
        <p:txBody>
          <a:bodyPr/>
          <a:lstStyle/>
          <a:p>
            <a:fld id="{45548933-1869-264F-A0E5-0A8674041C9D}" type="datetimeFigureOut">
              <a:rPr lang="en-US" smtClean="0"/>
              <a:t>7/25/24</a:t>
            </a:fld>
            <a:endParaRPr lang="en-US"/>
          </a:p>
        </p:txBody>
      </p:sp>
      <p:sp>
        <p:nvSpPr>
          <p:cNvPr id="3" name="Footer Placeholder 2">
            <a:extLst>
              <a:ext uri="{FF2B5EF4-FFF2-40B4-BE49-F238E27FC236}">
                <a16:creationId xmlns:a16="http://schemas.microsoft.com/office/drawing/2014/main" id="{DD4567BD-F1AD-6A6C-8E8E-77263344F6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45E9BE-0810-60E0-1F5C-5E3328C6796C}"/>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2830335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0A8CD-63FB-9415-C85D-F3D7D8F3E3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106A86-B080-8BC8-8111-87264D5046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6B1AE8-9FD8-C535-4669-FC69DDD9FB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3515D4-D816-6026-F7D9-329E3F572035}"/>
              </a:ext>
            </a:extLst>
          </p:cNvPr>
          <p:cNvSpPr>
            <a:spLocks noGrp="1"/>
          </p:cNvSpPr>
          <p:nvPr>
            <p:ph type="dt" sz="half" idx="10"/>
          </p:nvPr>
        </p:nvSpPr>
        <p:spPr/>
        <p:txBody>
          <a:bodyPr/>
          <a:lstStyle/>
          <a:p>
            <a:fld id="{45548933-1869-264F-A0E5-0A8674041C9D}" type="datetimeFigureOut">
              <a:rPr lang="en-US" smtClean="0"/>
              <a:t>7/25/24</a:t>
            </a:fld>
            <a:endParaRPr lang="en-US"/>
          </a:p>
        </p:txBody>
      </p:sp>
      <p:sp>
        <p:nvSpPr>
          <p:cNvPr id="6" name="Footer Placeholder 5">
            <a:extLst>
              <a:ext uri="{FF2B5EF4-FFF2-40B4-BE49-F238E27FC236}">
                <a16:creationId xmlns:a16="http://schemas.microsoft.com/office/drawing/2014/main" id="{82A444D8-F212-4249-5051-480F6CC304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577905-406C-F347-F1B0-F5F288FDE62E}"/>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1245012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828A5-DEEC-FCD0-ECDF-826A801B68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9BFDB4-A5F3-56C4-2F73-8157371507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3832A89-98A4-2192-12BB-EDD8E79127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A60E41-00BE-1AC7-87B5-A27E4683047E}"/>
              </a:ext>
            </a:extLst>
          </p:cNvPr>
          <p:cNvSpPr>
            <a:spLocks noGrp="1"/>
          </p:cNvSpPr>
          <p:nvPr>
            <p:ph type="dt" sz="half" idx="10"/>
          </p:nvPr>
        </p:nvSpPr>
        <p:spPr/>
        <p:txBody>
          <a:bodyPr/>
          <a:lstStyle/>
          <a:p>
            <a:fld id="{45548933-1869-264F-A0E5-0A8674041C9D}" type="datetimeFigureOut">
              <a:rPr lang="en-US" smtClean="0"/>
              <a:t>7/25/24</a:t>
            </a:fld>
            <a:endParaRPr lang="en-US"/>
          </a:p>
        </p:txBody>
      </p:sp>
      <p:sp>
        <p:nvSpPr>
          <p:cNvPr id="6" name="Footer Placeholder 5">
            <a:extLst>
              <a:ext uri="{FF2B5EF4-FFF2-40B4-BE49-F238E27FC236}">
                <a16:creationId xmlns:a16="http://schemas.microsoft.com/office/drawing/2014/main" id="{744E7EFE-DF2E-3C6C-9155-ADD41FD730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3CCA56-96BC-54C3-DED9-99E1B1874B0B}"/>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3320031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0284A-0944-9E49-7927-4BCFF20C66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599045-9CCB-9F8C-8C60-41100F4078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FCC2C1-84C5-7D9C-03E4-AEF1A23893AB}"/>
              </a:ext>
            </a:extLst>
          </p:cNvPr>
          <p:cNvSpPr>
            <a:spLocks noGrp="1"/>
          </p:cNvSpPr>
          <p:nvPr>
            <p:ph type="dt" sz="half" idx="10"/>
          </p:nvPr>
        </p:nvSpPr>
        <p:spPr/>
        <p:txBody>
          <a:bodyPr/>
          <a:lstStyle/>
          <a:p>
            <a:fld id="{45548933-1869-264F-A0E5-0A8674041C9D}" type="datetimeFigureOut">
              <a:rPr lang="en-US" smtClean="0"/>
              <a:t>7/25/24</a:t>
            </a:fld>
            <a:endParaRPr lang="en-US"/>
          </a:p>
        </p:txBody>
      </p:sp>
      <p:sp>
        <p:nvSpPr>
          <p:cNvPr id="5" name="Footer Placeholder 4">
            <a:extLst>
              <a:ext uri="{FF2B5EF4-FFF2-40B4-BE49-F238E27FC236}">
                <a16:creationId xmlns:a16="http://schemas.microsoft.com/office/drawing/2014/main" id="{FDD53828-7CBE-CFE7-904C-F3BC6B5A19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52CAAE-13FA-E4E9-61C7-4468598D8858}"/>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1784880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A5EB04-2E12-CF67-F522-5C53CA0FBE5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2054646-1EA2-098D-4DBB-BEEF664F1E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ABC4-B991-287C-400A-EE98EBAB8714}"/>
              </a:ext>
            </a:extLst>
          </p:cNvPr>
          <p:cNvSpPr>
            <a:spLocks noGrp="1"/>
          </p:cNvSpPr>
          <p:nvPr>
            <p:ph type="dt" sz="half" idx="10"/>
          </p:nvPr>
        </p:nvSpPr>
        <p:spPr/>
        <p:txBody>
          <a:bodyPr/>
          <a:lstStyle/>
          <a:p>
            <a:fld id="{45548933-1869-264F-A0E5-0A8674041C9D}" type="datetimeFigureOut">
              <a:rPr lang="en-US" smtClean="0"/>
              <a:t>7/25/24</a:t>
            </a:fld>
            <a:endParaRPr lang="en-US"/>
          </a:p>
        </p:txBody>
      </p:sp>
      <p:sp>
        <p:nvSpPr>
          <p:cNvPr id="5" name="Footer Placeholder 4">
            <a:extLst>
              <a:ext uri="{FF2B5EF4-FFF2-40B4-BE49-F238E27FC236}">
                <a16:creationId xmlns:a16="http://schemas.microsoft.com/office/drawing/2014/main" id="{BA1A7F5D-9F87-1D89-9E77-750485148A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296202-EF39-C2DB-B901-5DD94B351BD1}"/>
              </a:ext>
            </a:extLst>
          </p:cNvPr>
          <p:cNvSpPr>
            <a:spLocks noGrp="1"/>
          </p:cNvSpPr>
          <p:nvPr>
            <p:ph type="sldNum" sz="quarter" idx="12"/>
          </p:nvPr>
        </p:nvSpPr>
        <p:spPr/>
        <p:txBody>
          <a:bodyPr/>
          <a:lstStyle/>
          <a:p>
            <a:fld id="{3E48F8FB-2AA2-9F42-8AE7-586EE156C973}" type="slidenum">
              <a:rPr lang="en-US" smtClean="0"/>
              <a:t>‹#›</a:t>
            </a:fld>
            <a:endParaRPr lang="en-US"/>
          </a:p>
        </p:txBody>
      </p:sp>
    </p:spTree>
    <p:extLst>
      <p:ext uri="{BB962C8B-B14F-4D97-AF65-F5344CB8AC3E}">
        <p14:creationId xmlns:p14="http://schemas.microsoft.com/office/powerpoint/2010/main" val="1908519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265115-A981-B91E-1CD1-D4B315A854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E93E14-7DC9-8A10-4DF8-C4D91B3FEE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78768B-7C72-112C-B051-14562AE31E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548933-1869-264F-A0E5-0A8674041C9D}" type="datetimeFigureOut">
              <a:rPr lang="en-US" smtClean="0"/>
              <a:t>7/25/24</a:t>
            </a:fld>
            <a:endParaRPr lang="en-US"/>
          </a:p>
        </p:txBody>
      </p:sp>
      <p:sp>
        <p:nvSpPr>
          <p:cNvPr id="5" name="Footer Placeholder 4">
            <a:extLst>
              <a:ext uri="{FF2B5EF4-FFF2-40B4-BE49-F238E27FC236}">
                <a16:creationId xmlns:a16="http://schemas.microsoft.com/office/drawing/2014/main" id="{B299AAB5-C036-A00B-1551-CF034374B5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DF4D35F-2BD4-2800-7FA6-2CDC8781C3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48F8FB-2AA2-9F42-8AE7-586EE156C973}" type="slidenum">
              <a:rPr lang="en-US" smtClean="0"/>
              <a:t>‹#›</a:t>
            </a:fld>
            <a:endParaRPr lang="en-US"/>
          </a:p>
        </p:txBody>
      </p:sp>
    </p:spTree>
    <p:extLst>
      <p:ext uri="{BB962C8B-B14F-4D97-AF65-F5344CB8AC3E}">
        <p14:creationId xmlns:p14="http://schemas.microsoft.com/office/powerpoint/2010/main" val="2682833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251.png"/></Relationships>
</file>

<file path=ppt/slides/_rels/slide5.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5.png"/><Relationship Id="rId4" Type="http://schemas.openxmlformats.org/officeDocument/2006/relationships/image" Target="../media/image4.tiff"/></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30.png"/><Relationship Id="rId4" Type="http://schemas.openxmlformats.org/officeDocument/2006/relationships/image" Target="../media/image320.png"/></Relationships>
</file>

<file path=ppt/slides/_rels/slide7.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350.png"/><Relationship Id="rId3" Type="http://schemas.openxmlformats.org/officeDocument/2006/relationships/image" Target="../media/image220.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340.png"/><Relationship Id="rId2" Type="http://schemas.openxmlformats.org/officeDocument/2006/relationships/notesSlide" Target="../notesSlides/notesSlide7.xml"/><Relationship Id="rId16"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221.png"/><Relationship Id="rId11" Type="http://schemas.openxmlformats.org/officeDocument/2006/relationships/image" Target="../media/image45.png"/><Relationship Id="rId5" Type="http://schemas.openxmlformats.org/officeDocument/2006/relationships/image" Target="../media/image250.png"/><Relationship Id="rId15" Type="http://schemas.openxmlformats.org/officeDocument/2006/relationships/image" Target="../media/image49.png"/><Relationship Id="rId10" Type="http://schemas.openxmlformats.org/officeDocument/2006/relationships/image" Target="../media/image44.png"/><Relationship Id="rId4" Type="http://schemas.openxmlformats.org/officeDocument/2006/relationships/image" Target="../media/image210.png"/><Relationship Id="rId9" Type="http://schemas.openxmlformats.org/officeDocument/2006/relationships/image" Target="../media/image240.png"/><Relationship Id="rId14" Type="http://schemas.openxmlformats.org/officeDocument/2006/relationships/image" Target="../media/image4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51.png"/><Relationship Id="rId4" Type="http://schemas.openxmlformats.org/officeDocument/2006/relationships/image" Target="../media/image50.png"/></Relationships>
</file>

<file path=ppt/slides/_rels/slide10.xml.rels><?xml version="1.0" encoding="UTF-8" standalone="yes"?>
<Relationships xmlns="http://schemas.openxmlformats.org/package/2006/relationships"><Relationship Id="rId8" Type="http://schemas.openxmlformats.org/officeDocument/2006/relationships/image" Target="../media/image410.png"/><Relationship Id="rId13" Type="http://schemas.openxmlformats.org/officeDocument/2006/relationships/image" Target="../media/image460.png"/><Relationship Id="rId18" Type="http://schemas.openxmlformats.org/officeDocument/2006/relationships/image" Target="../media/image3400.png"/><Relationship Id="rId3" Type="http://schemas.openxmlformats.org/officeDocument/2006/relationships/image" Target="../media/image1.png"/><Relationship Id="rId7" Type="http://schemas.openxmlformats.org/officeDocument/2006/relationships/image" Target="../media/image2210.png"/><Relationship Id="rId12" Type="http://schemas.openxmlformats.org/officeDocument/2006/relationships/image" Target="../media/image450.png"/><Relationship Id="rId17" Type="http://schemas.openxmlformats.org/officeDocument/2006/relationships/image" Target="../media/image8.png"/><Relationship Id="rId2" Type="http://schemas.openxmlformats.org/officeDocument/2006/relationships/image" Target="../media/image431.png"/><Relationship Id="rId16" Type="http://schemas.openxmlformats.org/officeDocument/2006/relationships/image" Target="../media/image490.png"/><Relationship Id="rId1" Type="http://schemas.openxmlformats.org/officeDocument/2006/relationships/slideLayout" Target="../slideLayouts/slideLayout2.xml"/><Relationship Id="rId6" Type="http://schemas.openxmlformats.org/officeDocument/2006/relationships/image" Target="../media/image2500.png"/><Relationship Id="rId11" Type="http://schemas.openxmlformats.org/officeDocument/2006/relationships/image" Target="../media/image440.png"/><Relationship Id="rId5" Type="http://schemas.openxmlformats.org/officeDocument/2006/relationships/image" Target="../media/image2100.png"/><Relationship Id="rId15" Type="http://schemas.openxmlformats.org/officeDocument/2006/relationships/image" Target="../media/image480.png"/><Relationship Id="rId10" Type="http://schemas.openxmlformats.org/officeDocument/2006/relationships/image" Target="../media/image2400.png"/><Relationship Id="rId4" Type="http://schemas.openxmlformats.org/officeDocument/2006/relationships/image" Target="../media/image2200.png"/><Relationship Id="rId9" Type="http://schemas.openxmlformats.org/officeDocument/2006/relationships/image" Target="../media/image420.png"/><Relationship Id="rId14" Type="http://schemas.openxmlformats.org/officeDocument/2006/relationships/image" Target="../media/image470.png"/></Relationships>
</file>

<file path=ppt/slides/_rels/slide11.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1.png"/><Relationship Id="rId3" Type="http://schemas.openxmlformats.org/officeDocument/2006/relationships/image" Target="../media/image220.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340.png"/><Relationship Id="rId2" Type="http://schemas.openxmlformats.org/officeDocument/2006/relationships/image" Target="../media/image52.png"/><Relationship Id="rId16"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221.png"/><Relationship Id="rId11" Type="http://schemas.openxmlformats.org/officeDocument/2006/relationships/image" Target="../media/image45.png"/><Relationship Id="rId5" Type="http://schemas.openxmlformats.org/officeDocument/2006/relationships/image" Target="../media/image250.png"/><Relationship Id="rId15" Type="http://schemas.openxmlformats.org/officeDocument/2006/relationships/image" Target="../media/image49.png"/><Relationship Id="rId10" Type="http://schemas.openxmlformats.org/officeDocument/2006/relationships/image" Target="../media/image44.png"/><Relationship Id="rId4" Type="http://schemas.openxmlformats.org/officeDocument/2006/relationships/image" Target="../media/image210.png"/><Relationship Id="rId9" Type="http://schemas.openxmlformats.org/officeDocument/2006/relationships/image" Target="../media/image240.png"/><Relationship Id="rId14" Type="http://schemas.openxmlformats.org/officeDocument/2006/relationships/image" Target="../media/image48.png"/></Relationships>
</file>

<file path=ppt/slides/_rels/slide12.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00.png"/><Relationship Id="rId3" Type="http://schemas.openxmlformats.org/officeDocument/2006/relationships/image" Target="../media/image430.png"/><Relationship Id="rId7" Type="http://schemas.openxmlformats.org/officeDocument/2006/relationships/image" Target="../media/image221.png"/><Relationship Id="rId12" Type="http://schemas.openxmlformats.org/officeDocument/2006/relationships/image" Target="../media/image45.png"/><Relationship Id="rId17" Type="http://schemas.openxmlformats.org/officeDocument/2006/relationships/image" Target="../media/image9.png"/><Relationship Id="rId2" Type="http://schemas.openxmlformats.org/officeDocument/2006/relationships/image" Target="../media/image390.png"/><Relationship Id="rId16"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250.png"/><Relationship Id="rId11" Type="http://schemas.openxmlformats.org/officeDocument/2006/relationships/image" Target="../media/image44.png"/><Relationship Id="rId5" Type="http://schemas.openxmlformats.org/officeDocument/2006/relationships/image" Target="../media/image210.png"/><Relationship Id="rId15" Type="http://schemas.openxmlformats.org/officeDocument/2006/relationships/image" Target="../media/image48.png"/><Relationship Id="rId10" Type="http://schemas.openxmlformats.org/officeDocument/2006/relationships/image" Target="../media/image240.png"/><Relationship Id="rId4" Type="http://schemas.openxmlformats.org/officeDocument/2006/relationships/image" Target="../media/image220.png"/><Relationship Id="rId9" Type="http://schemas.openxmlformats.org/officeDocument/2006/relationships/image" Target="../media/image42.png"/><Relationship Id="rId14" Type="http://schemas.openxmlformats.org/officeDocument/2006/relationships/image" Target="../media/image47.png"/></Relationships>
</file>

<file path=ppt/slides/_rels/slide13.xml.rels><?xml version="1.0" encoding="UTF-8" standalone="yes"?>
<Relationships xmlns="http://schemas.openxmlformats.org/package/2006/relationships"><Relationship Id="rId3" Type="http://schemas.openxmlformats.org/officeDocument/2006/relationships/image" Target="../media/image510.png"/><Relationship Id="rId7" Type="http://schemas.openxmlformats.org/officeDocument/2006/relationships/image" Target="../media/image5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0.png"/></Relationships>
</file>

<file path=ppt/slides/_rels/slide14.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10.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 Id="rId9" Type="http://schemas.openxmlformats.org/officeDocument/2006/relationships/image" Target="../media/image6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2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101.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00.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610.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0.png"/><Relationship Id="rId7" Type="http://schemas.openxmlformats.org/officeDocument/2006/relationships/image" Target="../media/image13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0.png"/><Relationship Id="rId7"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7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00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20.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CFC3D-227D-F70A-29C1-08C5F2607AFC}"/>
              </a:ext>
            </a:extLst>
          </p:cNvPr>
          <p:cNvSpPr>
            <a:spLocks noGrp="1"/>
          </p:cNvSpPr>
          <p:nvPr>
            <p:ph type="ctrTitle"/>
          </p:nvPr>
        </p:nvSpPr>
        <p:spPr>
          <a:xfrm>
            <a:off x="1219200" y="1041400"/>
            <a:ext cx="9753600" cy="2387600"/>
          </a:xfrm>
        </p:spPr>
        <p:txBody>
          <a:bodyPr>
            <a:normAutofit fontScale="90000"/>
          </a:bodyPr>
          <a:lstStyle/>
          <a:p>
            <a:r>
              <a:rPr lang="en-US" dirty="0"/>
              <a:t>Community Metabolic Modelling and Validation Framework</a:t>
            </a:r>
          </a:p>
        </p:txBody>
      </p:sp>
      <p:sp>
        <p:nvSpPr>
          <p:cNvPr id="3" name="Subtitle 2">
            <a:extLst>
              <a:ext uri="{FF2B5EF4-FFF2-40B4-BE49-F238E27FC236}">
                <a16:creationId xmlns:a16="http://schemas.microsoft.com/office/drawing/2014/main" id="{CB559F23-FE35-0C9E-05AD-D024875D0303}"/>
              </a:ext>
            </a:extLst>
          </p:cNvPr>
          <p:cNvSpPr>
            <a:spLocks noGrp="1"/>
          </p:cNvSpPr>
          <p:nvPr>
            <p:ph type="subTitle" idx="1"/>
          </p:nvPr>
        </p:nvSpPr>
        <p:spPr>
          <a:xfrm>
            <a:off x="1524000" y="3926129"/>
            <a:ext cx="9144000" cy="1655762"/>
          </a:xfrm>
        </p:spPr>
        <p:txBody>
          <a:bodyPr>
            <a:normAutofit lnSpcReduction="10000"/>
          </a:bodyPr>
          <a:lstStyle/>
          <a:p>
            <a:r>
              <a:rPr lang="en-US" dirty="0"/>
              <a:t>Noor </a:t>
            </a:r>
            <a:r>
              <a:rPr lang="en-US" dirty="0" err="1"/>
              <a:t>Alsmadi</a:t>
            </a:r>
            <a:endParaRPr lang="en-US" dirty="0"/>
          </a:p>
          <a:p>
            <a:r>
              <a:rPr lang="en-US" dirty="0"/>
              <a:t>PhD Candidate</a:t>
            </a:r>
          </a:p>
          <a:p>
            <a:r>
              <a:rPr lang="en-US" dirty="0"/>
              <a:t>University of Toronto</a:t>
            </a:r>
          </a:p>
          <a:p>
            <a:r>
              <a:rPr lang="en-US" dirty="0"/>
              <a:t>July 25th 2024</a:t>
            </a:r>
          </a:p>
        </p:txBody>
      </p:sp>
    </p:spTree>
    <p:extLst>
      <p:ext uri="{BB962C8B-B14F-4D97-AF65-F5344CB8AC3E}">
        <p14:creationId xmlns:p14="http://schemas.microsoft.com/office/powerpoint/2010/main" val="2378453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269776C-6181-C050-A8C5-35E54D44675B}"/>
              </a:ext>
            </a:extLst>
          </p:cNvPr>
          <p:cNvSpPr txBox="1"/>
          <p:nvPr/>
        </p:nvSpPr>
        <p:spPr>
          <a:xfrm>
            <a:off x="353848" y="731498"/>
            <a:ext cx="10953750" cy="830997"/>
          </a:xfrm>
          <a:prstGeom prst="rect">
            <a:avLst/>
          </a:prstGeom>
          <a:noFill/>
        </p:spPr>
        <p:txBody>
          <a:bodyPr wrap="square">
            <a:spAutoFit/>
          </a:bodyPr>
          <a:lstStyle/>
          <a:p>
            <a:pPr marL="0" indent="0">
              <a:buNone/>
            </a:pPr>
            <a:r>
              <a:rPr lang="en-US" sz="2400" b="1" dirty="0"/>
              <a:t>Goal: </a:t>
            </a:r>
            <a:r>
              <a:rPr lang="en-US" sz="2400" dirty="0"/>
              <a:t>Establish a community genome-scale metabolic modelling framework for defined gut bacterial communities and validate it using targeted metabolomics data.</a:t>
            </a:r>
            <a:endParaRPr lang="en-US" sz="2400" b="1" dirty="0"/>
          </a:p>
        </p:txBody>
      </p:sp>
      <p:sp>
        <p:nvSpPr>
          <p:cNvPr id="9" name="TextBox 8">
            <a:extLst>
              <a:ext uri="{FF2B5EF4-FFF2-40B4-BE49-F238E27FC236}">
                <a16:creationId xmlns:a16="http://schemas.microsoft.com/office/drawing/2014/main" id="{44A257B7-C697-B418-7988-0A9FC840A9B0}"/>
              </a:ext>
            </a:extLst>
          </p:cNvPr>
          <p:cNvSpPr txBox="1"/>
          <p:nvPr/>
        </p:nvSpPr>
        <p:spPr>
          <a:xfrm>
            <a:off x="128012" y="6526265"/>
            <a:ext cx="3046988" cy="276999"/>
          </a:xfrm>
          <a:prstGeom prst="rect">
            <a:avLst/>
          </a:prstGeom>
          <a:noFill/>
        </p:spPr>
        <p:txBody>
          <a:bodyPr wrap="square" rtlCol="0">
            <a:spAutoFit/>
          </a:bodyPr>
          <a:lstStyle/>
          <a:p>
            <a:r>
              <a:rPr lang="en-US" sz="1200" i="1" dirty="0"/>
              <a:t>Created with </a:t>
            </a:r>
            <a:r>
              <a:rPr lang="en-US" sz="1200" i="1" dirty="0" err="1"/>
              <a:t>BioRender</a:t>
            </a:r>
            <a:endParaRPr lang="en-US" sz="1200" i="1" dirty="0"/>
          </a:p>
        </p:txBody>
      </p:sp>
      <p:pic>
        <p:nvPicPr>
          <p:cNvPr id="4" name="Picture 3" descr="A diagram of a computer&#10;&#10;Description automatically generated">
            <a:extLst>
              <a:ext uri="{FF2B5EF4-FFF2-40B4-BE49-F238E27FC236}">
                <a16:creationId xmlns:a16="http://schemas.microsoft.com/office/drawing/2014/main" id="{74ADDFFE-DF5B-3923-B8EE-E915740FE66D}"/>
              </a:ext>
            </a:extLst>
          </p:cNvPr>
          <p:cNvPicPr>
            <a:picLocks noChangeAspect="1"/>
          </p:cNvPicPr>
          <p:nvPr/>
        </p:nvPicPr>
        <p:blipFill rotWithShape="1">
          <a:blip r:embed="rId3">
            <a:extLst>
              <a:ext uri="{28A0092B-C50C-407E-A947-70E740481C1C}">
                <a14:useLocalDpi xmlns:a14="http://schemas.microsoft.com/office/drawing/2010/main" val="0"/>
              </a:ext>
            </a:extLst>
          </a:blip>
          <a:srcRect t="16483" b="26632"/>
          <a:stretch/>
        </p:blipFill>
        <p:spPr>
          <a:xfrm>
            <a:off x="1459029" y="2057217"/>
            <a:ext cx="9042713" cy="3600718"/>
          </a:xfrm>
          <a:prstGeom prst="rect">
            <a:avLst/>
          </a:prstGeom>
        </p:spPr>
      </p:pic>
    </p:spTree>
    <p:extLst>
      <p:ext uri="{BB962C8B-B14F-4D97-AF65-F5344CB8AC3E}">
        <p14:creationId xmlns:p14="http://schemas.microsoft.com/office/powerpoint/2010/main" val="4265261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40B80-6E13-43CF-AFD8-D4386D36E25B}"/>
              </a:ext>
            </a:extLst>
          </p:cNvPr>
          <p:cNvSpPr>
            <a:spLocks noGrp="1"/>
          </p:cNvSpPr>
          <p:nvPr>
            <p:ph type="title"/>
          </p:nvPr>
        </p:nvSpPr>
        <p:spPr>
          <a:xfrm>
            <a:off x="406400" y="146050"/>
            <a:ext cx="10833100" cy="1001533"/>
          </a:xfrm>
        </p:spPr>
        <p:txBody>
          <a:bodyPr>
            <a:normAutofit/>
          </a:bodyPr>
          <a:lstStyle/>
          <a:p>
            <a:r>
              <a:rPr lang="en-US" sz="3200" b="1" dirty="0"/>
              <a:t>Community Metabolic Modelling and Validation Framework</a:t>
            </a:r>
            <a:endParaRPr lang="en-US" sz="3200" dirty="0"/>
          </a:p>
        </p:txBody>
      </p:sp>
      <p:sp>
        <p:nvSpPr>
          <p:cNvPr id="10" name="TextBox 9">
            <a:extLst>
              <a:ext uri="{FF2B5EF4-FFF2-40B4-BE49-F238E27FC236}">
                <a16:creationId xmlns:a16="http://schemas.microsoft.com/office/drawing/2014/main" id="{63AD2DDB-01EC-BA3D-DB6F-083C6692DF79}"/>
              </a:ext>
            </a:extLst>
          </p:cNvPr>
          <p:cNvSpPr txBox="1"/>
          <p:nvPr/>
        </p:nvSpPr>
        <p:spPr>
          <a:xfrm>
            <a:off x="128012" y="6526265"/>
            <a:ext cx="3046988" cy="276999"/>
          </a:xfrm>
          <a:prstGeom prst="rect">
            <a:avLst/>
          </a:prstGeom>
          <a:noFill/>
        </p:spPr>
        <p:txBody>
          <a:bodyPr wrap="square" rtlCol="0">
            <a:spAutoFit/>
          </a:bodyPr>
          <a:lstStyle/>
          <a:p>
            <a:r>
              <a:rPr lang="en-US" sz="1200" i="1" dirty="0"/>
              <a:t>Created with </a:t>
            </a:r>
            <a:r>
              <a:rPr lang="en-US" sz="1200" i="1" dirty="0" err="1"/>
              <a:t>BioRender</a:t>
            </a:r>
            <a:endParaRPr lang="en-US" sz="1200" i="1" dirty="0"/>
          </a:p>
        </p:txBody>
      </p:sp>
      <p:pic>
        <p:nvPicPr>
          <p:cNvPr id="17" name="Picture 16" descr="A screen shot of a computer&#10;&#10;Description automatically generated">
            <a:extLst>
              <a:ext uri="{FF2B5EF4-FFF2-40B4-BE49-F238E27FC236}">
                <a16:creationId xmlns:a16="http://schemas.microsoft.com/office/drawing/2014/main" id="{AA5AC040-61D9-0ADD-FFCC-98F6197F29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3386" y="1147583"/>
            <a:ext cx="8500533" cy="5950373"/>
          </a:xfrm>
          <a:prstGeom prst="rect">
            <a:avLst/>
          </a:prstGeom>
        </p:spPr>
      </p:pic>
      <p:sp>
        <p:nvSpPr>
          <p:cNvPr id="3" name="Rectangle 2">
            <a:extLst>
              <a:ext uri="{FF2B5EF4-FFF2-40B4-BE49-F238E27FC236}">
                <a16:creationId xmlns:a16="http://schemas.microsoft.com/office/drawing/2014/main" id="{F50D0013-7F16-F38D-B5F4-0E1264340831}"/>
              </a:ext>
            </a:extLst>
          </p:cNvPr>
          <p:cNvSpPr/>
          <p:nvPr/>
        </p:nvSpPr>
        <p:spPr>
          <a:xfrm>
            <a:off x="4523232" y="5145152"/>
            <a:ext cx="1840992" cy="1658112"/>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3485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Picture 60">
            <a:extLst>
              <a:ext uri="{FF2B5EF4-FFF2-40B4-BE49-F238E27FC236}">
                <a16:creationId xmlns:a16="http://schemas.microsoft.com/office/drawing/2014/main" id="{19D5C31E-028F-5EEA-2047-B178EADFD7DC}"/>
              </a:ext>
            </a:extLst>
          </p:cNvPr>
          <p:cNvPicPr>
            <a:picLocks noChangeAspect="1"/>
          </p:cNvPicPr>
          <p:nvPr/>
        </p:nvPicPr>
        <p:blipFill rotWithShape="1">
          <a:blip r:embed="rId3">
            <a:extLst>
              <a:ext uri="{28A0092B-C50C-407E-A947-70E740481C1C}">
                <a14:useLocalDpi xmlns:a14="http://schemas.microsoft.com/office/drawing/2010/main" val="0"/>
              </a:ext>
            </a:extLst>
          </a:blip>
          <a:srcRect t="8715" r="18191" b="7251"/>
          <a:stretch/>
        </p:blipFill>
        <p:spPr>
          <a:xfrm>
            <a:off x="702251" y="2109339"/>
            <a:ext cx="6393297" cy="4597046"/>
          </a:xfrm>
          <a:prstGeom prst="rect">
            <a:avLst/>
          </a:prstGeom>
        </p:spPr>
      </p:pic>
      <p:sp>
        <p:nvSpPr>
          <p:cNvPr id="62" name="TextBox 61">
            <a:extLst>
              <a:ext uri="{FF2B5EF4-FFF2-40B4-BE49-F238E27FC236}">
                <a16:creationId xmlns:a16="http://schemas.microsoft.com/office/drawing/2014/main" id="{7A042628-3D51-061A-8146-073F1FE5CF23}"/>
              </a:ext>
            </a:extLst>
          </p:cNvPr>
          <p:cNvSpPr txBox="1"/>
          <p:nvPr/>
        </p:nvSpPr>
        <p:spPr>
          <a:xfrm>
            <a:off x="128012" y="6526265"/>
            <a:ext cx="3046988" cy="276999"/>
          </a:xfrm>
          <a:prstGeom prst="rect">
            <a:avLst/>
          </a:prstGeom>
          <a:noFill/>
        </p:spPr>
        <p:txBody>
          <a:bodyPr wrap="square" rtlCol="0">
            <a:spAutoFit/>
          </a:bodyPr>
          <a:lstStyle/>
          <a:p>
            <a:r>
              <a:rPr lang="en-US" sz="1200" i="1" dirty="0"/>
              <a:t>Created with </a:t>
            </a:r>
            <a:r>
              <a:rPr lang="en-US" sz="1200" i="1" dirty="0" err="1"/>
              <a:t>BioRender</a:t>
            </a:r>
            <a:endParaRPr lang="en-US" sz="1200" i="1" dirty="0"/>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C87406EA-022C-0092-581C-40729A9BB047}"/>
                  </a:ext>
                </a:extLst>
              </p:cNvPr>
              <p:cNvSpPr txBox="1"/>
              <p:nvPr/>
            </p:nvSpPr>
            <p:spPr>
              <a:xfrm>
                <a:off x="8368762" y="2884578"/>
                <a:ext cx="2003433" cy="689804"/>
              </a:xfrm>
              <a:prstGeom prst="rect">
                <a:avLst/>
              </a:prstGeom>
              <a:solidFill>
                <a:schemeClr val="accent6">
                  <a:lumMod val="20000"/>
                  <a:lumOff val="80000"/>
                </a:schemeClr>
              </a:solidFill>
              <a:ln w="28575">
                <a:solidFill>
                  <a:schemeClr val="accent6">
                    <a:lumMod val="75000"/>
                  </a:schemeClr>
                </a:solidFill>
              </a:ln>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CA" sz="1600" b="0" i="1" smtClean="0">
                              <a:solidFill>
                                <a:schemeClr val="accent6">
                                  <a:lumMod val="75000"/>
                                </a:schemeClr>
                              </a:solidFill>
                              <a:latin typeface="Cambria Math" panose="02040503050406030204" pitchFamily="18" charset="0"/>
                            </a:rPr>
                          </m:ctrlPr>
                        </m:naryPr>
                        <m:sub>
                          <m:r>
                            <m:rPr>
                              <m:brk m:alnAt="7"/>
                            </m:rPr>
                            <a:rPr lang="en-CA" sz="1600" b="0" i="1" smtClean="0">
                              <a:solidFill>
                                <a:schemeClr val="accent6">
                                  <a:lumMod val="75000"/>
                                </a:schemeClr>
                              </a:solidFill>
                              <a:latin typeface="Cambria Math" panose="02040503050406030204" pitchFamily="18" charset="0"/>
                            </a:rPr>
                            <m:t>𝑘</m:t>
                          </m:r>
                          <m:r>
                            <a:rPr lang="en-CA" sz="1600" b="0" i="1" smtClean="0">
                              <a:solidFill>
                                <a:schemeClr val="accent6">
                                  <a:lumMod val="75000"/>
                                </a:schemeClr>
                              </a:solidFill>
                              <a:latin typeface="Cambria Math" panose="02040503050406030204" pitchFamily="18" charset="0"/>
                              <a:ea typeface="Cambria Math" panose="02040503050406030204" pitchFamily="18" charset="0"/>
                            </a:rPr>
                            <m:t>∈</m:t>
                          </m:r>
                          <m:r>
                            <a:rPr lang="en-CA" sz="1600" b="0" i="1" smtClean="0">
                              <a:solidFill>
                                <a:schemeClr val="accent6">
                                  <a:lumMod val="75000"/>
                                </a:schemeClr>
                              </a:solidFill>
                              <a:latin typeface="Cambria Math" panose="02040503050406030204" pitchFamily="18" charset="0"/>
                              <a:ea typeface="Cambria Math" panose="02040503050406030204" pitchFamily="18" charset="0"/>
                            </a:rPr>
                            <m:t>𝐾</m:t>
                          </m:r>
                        </m:sub>
                        <m:sup/>
                        <m:e>
                          <m:sSubSup>
                            <m:sSubSupPr>
                              <m:ctrlPr>
                                <a:rPr lang="en-CA" sz="1600" b="0" i="1" smtClean="0">
                                  <a:solidFill>
                                    <a:schemeClr val="accent6">
                                      <a:lumMod val="75000"/>
                                    </a:schemeClr>
                                  </a:solidFill>
                                  <a:latin typeface="Cambria Math" panose="02040503050406030204" pitchFamily="18" charset="0"/>
                                </a:rPr>
                              </m:ctrlPr>
                            </m:sSubSupPr>
                            <m:e>
                              <m:r>
                                <a:rPr lang="en-CA" sz="1600" b="0" i="1" smtClean="0">
                                  <a:solidFill>
                                    <a:schemeClr val="accent6">
                                      <a:lumMod val="75000"/>
                                    </a:schemeClr>
                                  </a:solidFill>
                                  <a:latin typeface="Cambria Math" panose="02040503050406030204" pitchFamily="18" charset="0"/>
                                </a:rPr>
                                <m:t>𝑉</m:t>
                              </m:r>
                            </m:e>
                            <m:sub>
                              <m:r>
                                <a:rPr lang="en-CA" sz="1600" b="0" i="1" smtClean="0">
                                  <a:solidFill>
                                    <a:schemeClr val="accent6">
                                      <a:lumMod val="75000"/>
                                    </a:schemeClr>
                                  </a:solidFill>
                                  <a:latin typeface="Cambria Math" panose="02040503050406030204" pitchFamily="18" charset="0"/>
                                </a:rPr>
                                <m:t>𝑒𝑥</m:t>
                              </m:r>
                              <m:r>
                                <a:rPr lang="en-CA" sz="1600" b="0" i="1" smtClean="0">
                                  <a:solidFill>
                                    <a:schemeClr val="accent6">
                                      <a:lumMod val="75000"/>
                                    </a:schemeClr>
                                  </a:solidFill>
                                  <a:latin typeface="Cambria Math" panose="02040503050406030204" pitchFamily="18" charset="0"/>
                                </a:rPr>
                                <m:t>(</m:t>
                              </m:r>
                              <m:r>
                                <a:rPr lang="en-CA" sz="1600" b="0" i="1" smtClean="0">
                                  <a:solidFill>
                                    <a:schemeClr val="accent6">
                                      <a:lumMod val="75000"/>
                                    </a:schemeClr>
                                  </a:solidFill>
                                  <a:latin typeface="Cambria Math" panose="02040503050406030204" pitchFamily="18" charset="0"/>
                                </a:rPr>
                                <m:t>𝑖</m:t>
                              </m:r>
                              <m:r>
                                <a:rPr lang="en-CA" sz="1600" b="0" i="1" smtClean="0">
                                  <a:solidFill>
                                    <a:schemeClr val="accent6">
                                      <a:lumMod val="75000"/>
                                    </a:schemeClr>
                                  </a:solidFill>
                                  <a:latin typeface="Cambria Math" panose="02040503050406030204" pitchFamily="18" charset="0"/>
                                </a:rPr>
                                <m:t>)</m:t>
                              </m:r>
                            </m:sub>
                            <m:sup>
                              <m:r>
                                <a:rPr lang="en-CA" sz="1600" b="0" i="1" smtClean="0">
                                  <a:solidFill>
                                    <a:schemeClr val="accent6">
                                      <a:lumMod val="75000"/>
                                    </a:schemeClr>
                                  </a:solidFill>
                                  <a:latin typeface="Cambria Math" panose="02040503050406030204" pitchFamily="18" charset="0"/>
                                </a:rPr>
                                <m:t>𝑘</m:t>
                              </m:r>
                            </m:sup>
                          </m:sSubSup>
                          <m:r>
                            <a:rPr lang="en-CA" sz="1600" b="0" i="1" smtClean="0">
                              <a:solidFill>
                                <a:schemeClr val="accent6">
                                  <a:lumMod val="75000"/>
                                </a:schemeClr>
                              </a:solidFill>
                              <a:latin typeface="Cambria Math" panose="02040503050406030204" pitchFamily="18" charset="0"/>
                            </a:rPr>
                            <m:t>= </m:t>
                          </m:r>
                          <m:sSubSup>
                            <m:sSubSupPr>
                              <m:ctrlPr>
                                <a:rPr lang="en-CA" sz="1600" i="1">
                                  <a:solidFill>
                                    <a:schemeClr val="accent6">
                                      <a:lumMod val="75000"/>
                                    </a:schemeClr>
                                  </a:solidFill>
                                  <a:latin typeface="Cambria Math" panose="02040503050406030204" pitchFamily="18" charset="0"/>
                                </a:rPr>
                              </m:ctrlPr>
                            </m:sSubSupPr>
                            <m:e>
                              <m:r>
                                <a:rPr lang="en-CA" sz="1600" i="1">
                                  <a:solidFill>
                                    <a:schemeClr val="accent6">
                                      <a:lumMod val="75000"/>
                                    </a:schemeClr>
                                  </a:solidFill>
                                  <a:latin typeface="Cambria Math" panose="02040503050406030204" pitchFamily="18" charset="0"/>
                                </a:rPr>
                                <m:t>𝑒</m:t>
                              </m:r>
                            </m:e>
                            <m:sub>
                              <m:r>
                                <a:rPr lang="en-CA" sz="1600" i="1">
                                  <a:solidFill>
                                    <a:schemeClr val="accent6">
                                      <a:lumMod val="75000"/>
                                    </a:schemeClr>
                                  </a:solidFill>
                                  <a:latin typeface="Cambria Math" panose="02040503050406030204" pitchFamily="18" charset="0"/>
                                </a:rPr>
                                <m:t>𝑖</m:t>
                              </m:r>
                            </m:sub>
                            <m:sup>
                              <m:r>
                                <a:rPr lang="en-CA" sz="1600" i="1">
                                  <a:solidFill>
                                    <a:schemeClr val="accent6">
                                      <a:lumMod val="75000"/>
                                    </a:schemeClr>
                                  </a:solidFill>
                                  <a:latin typeface="Cambria Math" panose="02040503050406030204" pitchFamily="18" charset="0"/>
                                </a:rPr>
                                <m:t>𝑐</m:t>
                              </m:r>
                            </m:sup>
                          </m:sSubSup>
                          <m:r>
                            <a:rPr lang="en-CA" sz="1600" b="0" i="1" smtClean="0">
                              <a:solidFill>
                                <a:schemeClr val="accent6">
                                  <a:lumMod val="75000"/>
                                </a:schemeClr>
                              </a:solidFill>
                              <a:latin typeface="Cambria Math" panose="02040503050406030204" pitchFamily="18" charset="0"/>
                            </a:rPr>
                            <m:t>−</m:t>
                          </m:r>
                          <m:sSubSup>
                            <m:sSubSupPr>
                              <m:ctrlPr>
                                <a:rPr lang="en-US" sz="1600" i="1">
                                  <a:solidFill>
                                    <a:schemeClr val="accent6">
                                      <a:lumMod val="75000"/>
                                    </a:schemeClr>
                                  </a:solidFill>
                                  <a:latin typeface="Cambria Math" panose="02040503050406030204" pitchFamily="18" charset="0"/>
                                </a:rPr>
                              </m:ctrlPr>
                            </m:sSubSupPr>
                            <m:e>
                              <m:r>
                                <a:rPr lang="en-CA" sz="1600" i="1">
                                  <a:solidFill>
                                    <a:schemeClr val="accent6">
                                      <a:lumMod val="75000"/>
                                    </a:schemeClr>
                                  </a:solidFill>
                                  <a:latin typeface="Cambria Math" panose="02040503050406030204" pitchFamily="18" charset="0"/>
                                </a:rPr>
                                <m:t>𝑢</m:t>
                              </m:r>
                            </m:e>
                            <m:sub>
                              <m:r>
                                <a:rPr lang="en-CA" sz="1600" i="1">
                                  <a:solidFill>
                                    <a:schemeClr val="accent6">
                                      <a:lumMod val="75000"/>
                                    </a:schemeClr>
                                  </a:solidFill>
                                  <a:latin typeface="Cambria Math" panose="02040503050406030204" pitchFamily="18" charset="0"/>
                                </a:rPr>
                                <m:t>𝑖</m:t>
                              </m:r>
                            </m:sub>
                            <m:sup>
                              <m:r>
                                <a:rPr lang="en-CA" sz="1600" i="1">
                                  <a:solidFill>
                                    <a:schemeClr val="accent6">
                                      <a:lumMod val="75000"/>
                                    </a:schemeClr>
                                  </a:solidFill>
                                  <a:latin typeface="Cambria Math" panose="02040503050406030204" pitchFamily="18" charset="0"/>
                                </a:rPr>
                                <m:t>𝑐</m:t>
                              </m:r>
                            </m:sup>
                          </m:sSubSup>
                        </m:e>
                      </m:nary>
                    </m:oMath>
                  </m:oMathPara>
                </a14:m>
                <a:endParaRPr lang="en-US" sz="1600" dirty="0">
                  <a:solidFill>
                    <a:schemeClr val="accent6">
                      <a:lumMod val="75000"/>
                    </a:schemeClr>
                  </a:solidFill>
                </a:endParaRPr>
              </a:p>
            </p:txBody>
          </p:sp>
        </mc:Choice>
        <mc:Fallback xmlns="">
          <p:sp>
            <p:nvSpPr>
              <p:cNvPr id="65" name="TextBox 64">
                <a:extLst>
                  <a:ext uri="{FF2B5EF4-FFF2-40B4-BE49-F238E27FC236}">
                    <a16:creationId xmlns:a16="http://schemas.microsoft.com/office/drawing/2014/main" id="{C87406EA-022C-0092-581C-40729A9BB047}"/>
                  </a:ext>
                </a:extLst>
              </p:cNvPr>
              <p:cNvSpPr txBox="1">
                <a:spLocks noRot="1" noChangeAspect="1" noMove="1" noResize="1" noEditPoints="1" noAdjustHandles="1" noChangeArrowheads="1" noChangeShapeType="1" noTextEdit="1"/>
              </p:cNvSpPr>
              <p:nvPr/>
            </p:nvSpPr>
            <p:spPr>
              <a:xfrm>
                <a:off x="8368762" y="2884578"/>
                <a:ext cx="2003433" cy="689804"/>
              </a:xfrm>
              <a:prstGeom prst="rect">
                <a:avLst/>
              </a:prstGeom>
              <a:blipFill>
                <a:blip r:embed="rId4"/>
                <a:stretch>
                  <a:fillRect l="-31875" t="-117544" b="-164912"/>
                </a:stretch>
              </a:blipFill>
              <a:ln w="28575">
                <a:solidFill>
                  <a:schemeClr val="accent6">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80546F88-5E6B-8127-5ED6-B08277D956E9}"/>
                  </a:ext>
                </a:extLst>
              </p:cNvPr>
              <p:cNvSpPr txBox="1"/>
              <p:nvPr/>
            </p:nvSpPr>
            <p:spPr>
              <a:xfrm>
                <a:off x="7468249" y="3697809"/>
                <a:ext cx="4564002" cy="1980094"/>
              </a:xfrm>
              <a:prstGeom prst="rect">
                <a:avLst/>
              </a:prstGeom>
              <a:noFill/>
            </p:spPr>
            <p:txBody>
              <a:bodyPr wrap="square" rtlCol="0">
                <a:spAutoFit/>
              </a:bodyPr>
              <a:lstStyle/>
              <a:p>
                <a:r>
                  <a:rPr lang="en-CA" sz="1200" dirty="0">
                    <a:solidFill>
                      <a:schemeClr val="accent6">
                        <a:lumMod val="75000"/>
                      </a:schemeClr>
                    </a:solidFill>
                  </a:rPr>
                  <a:t>where,</a:t>
                </a:r>
              </a:p>
              <a:p>
                <a:endParaRPr lang="en-CA" sz="1200" dirty="0">
                  <a:solidFill>
                    <a:schemeClr val="accent6">
                      <a:lumMod val="75000"/>
                    </a:schemeClr>
                  </a:solidFill>
                </a:endParaRPr>
              </a:p>
              <a:p>
                <a14:m>
                  <m:oMath xmlns:m="http://schemas.openxmlformats.org/officeDocument/2006/math">
                    <m:sSubSup>
                      <m:sSubSupPr>
                        <m:ctrlPr>
                          <a:rPr lang="en-CA" sz="1200" b="0" i="1" smtClean="0">
                            <a:solidFill>
                              <a:schemeClr val="accent6">
                                <a:lumMod val="75000"/>
                              </a:schemeClr>
                            </a:solidFill>
                            <a:latin typeface="Cambria Math" panose="02040503050406030204" pitchFamily="18" charset="0"/>
                          </a:rPr>
                        </m:ctrlPr>
                      </m:sSubSupPr>
                      <m:e>
                        <m:r>
                          <a:rPr lang="en-CA" sz="1200" b="0" i="1" smtClean="0">
                            <a:solidFill>
                              <a:schemeClr val="accent6">
                                <a:lumMod val="75000"/>
                              </a:schemeClr>
                            </a:solidFill>
                            <a:latin typeface="Cambria Math" panose="02040503050406030204" pitchFamily="18" charset="0"/>
                          </a:rPr>
                          <m:t>𝑉</m:t>
                        </m:r>
                      </m:e>
                      <m:sub>
                        <m:r>
                          <a:rPr lang="en-CA" sz="1200" b="0" i="1" smtClean="0">
                            <a:solidFill>
                              <a:schemeClr val="accent6">
                                <a:lumMod val="75000"/>
                              </a:schemeClr>
                            </a:solidFill>
                            <a:latin typeface="Cambria Math" panose="02040503050406030204" pitchFamily="18" charset="0"/>
                          </a:rPr>
                          <m:t>𝑒𝑥</m:t>
                        </m:r>
                        <m:r>
                          <a:rPr lang="en-CA" sz="1200" b="0" i="1" smtClean="0">
                            <a:solidFill>
                              <a:schemeClr val="accent6">
                                <a:lumMod val="75000"/>
                              </a:schemeClr>
                            </a:solidFill>
                            <a:latin typeface="Cambria Math" panose="02040503050406030204" pitchFamily="18" charset="0"/>
                          </a:rPr>
                          <m:t>(</m:t>
                        </m:r>
                        <m:r>
                          <a:rPr lang="en-CA" sz="1200" b="0" i="1" smtClean="0">
                            <a:solidFill>
                              <a:schemeClr val="accent6">
                                <a:lumMod val="75000"/>
                              </a:schemeClr>
                            </a:solidFill>
                            <a:latin typeface="Cambria Math" panose="02040503050406030204" pitchFamily="18" charset="0"/>
                          </a:rPr>
                          <m:t>𝑖</m:t>
                        </m:r>
                        <m:r>
                          <a:rPr lang="en-CA" sz="1200" b="0" i="1" smtClean="0">
                            <a:solidFill>
                              <a:schemeClr val="accent6">
                                <a:lumMod val="75000"/>
                              </a:schemeClr>
                            </a:solidFill>
                            <a:latin typeface="Cambria Math" panose="02040503050406030204" pitchFamily="18" charset="0"/>
                          </a:rPr>
                          <m:t>)</m:t>
                        </m:r>
                      </m:sub>
                      <m:sup>
                        <m:r>
                          <a:rPr lang="en-CA" sz="1200" b="0" i="1" smtClean="0">
                            <a:solidFill>
                              <a:schemeClr val="accent6">
                                <a:lumMod val="75000"/>
                              </a:schemeClr>
                            </a:solidFill>
                            <a:latin typeface="Cambria Math" panose="02040503050406030204" pitchFamily="18" charset="0"/>
                          </a:rPr>
                          <m:t>𝑘</m:t>
                        </m:r>
                      </m:sup>
                    </m:sSubSup>
                  </m:oMath>
                </a14:m>
                <a:r>
                  <a:rPr lang="en-US" sz="1200" dirty="0">
                    <a:solidFill>
                      <a:schemeClr val="accent6">
                        <a:lumMod val="75000"/>
                      </a:schemeClr>
                    </a:solidFill>
                  </a:rPr>
                  <a:t> = the transport reaction fluxes from the extracellular space into the individual community member </a:t>
                </a:r>
                <a:r>
                  <a:rPr lang="en-US" sz="1200" i="1" dirty="0">
                    <a:solidFill>
                      <a:schemeClr val="accent6">
                        <a:lumMod val="75000"/>
                      </a:schemeClr>
                    </a:solidFill>
                  </a:rPr>
                  <a:t>k</a:t>
                </a:r>
                <a:r>
                  <a:rPr lang="en-US" sz="1200" dirty="0">
                    <a:solidFill>
                      <a:schemeClr val="accent6">
                        <a:lumMod val="75000"/>
                      </a:schemeClr>
                    </a:solidFill>
                  </a:rPr>
                  <a:t> taking into account the abundance of the organism (mmol/</a:t>
                </a:r>
                <a:r>
                  <a:rPr lang="en-US" sz="1200" dirty="0" err="1">
                    <a:solidFill>
                      <a:schemeClr val="accent6">
                        <a:lumMod val="75000"/>
                      </a:schemeClr>
                    </a:solidFill>
                  </a:rPr>
                  <a:t>hr</a:t>
                </a:r>
                <a:r>
                  <a:rPr lang="en-US" sz="1200" dirty="0">
                    <a:solidFill>
                      <a:schemeClr val="accent6">
                        <a:lumMod val="75000"/>
                      </a:schemeClr>
                    </a:solidFill>
                  </a:rPr>
                  <a:t>/g of fecal matter)</a:t>
                </a:r>
              </a:p>
              <a:p>
                <a:endParaRPr lang="en-CA" sz="1200" i="1" dirty="0">
                  <a:solidFill>
                    <a:schemeClr val="accent6">
                      <a:lumMod val="75000"/>
                    </a:schemeClr>
                  </a:solidFill>
                  <a:latin typeface="Cambria Math" panose="02040503050406030204" pitchFamily="18" charset="0"/>
                </a:endParaRPr>
              </a:p>
              <a:p>
                <a14:m>
                  <m:oMath xmlns:m="http://schemas.openxmlformats.org/officeDocument/2006/math">
                    <m:sSubSup>
                      <m:sSubSupPr>
                        <m:ctrlPr>
                          <a:rPr lang="en-US" sz="1200" i="1" smtClean="0">
                            <a:solidFill>
                              <a:schemeClr val="accent6">
                                <a:lumMod val="75000"/>
                              </a:schemeClr>
                            </a:solidFill>
                            <a:latin typeface="Cambria Math" panose="02040503050406030204" pitchFamily="18" charset="0"/>
                          </a:rPr>
                        </m:ctrlPr>
                      </m:sSubSupPr>
                      <m:e>
                        <m:r>
                          <a:rPr lang="en-CA" sz="1200" b="0" i="1" smtClean="0">
                            <a:solidFill>
                              <a:schemeClr val="accent6">
                                <a:lumMod val="75000"/>
                              </a:schemeClr>
                            </a:solidFill>
                            <a:latin typeface="Cambria Math" panose="02040503050406030204" pitchFamily="18" charset="0"/>
                          </a:rPr>
                          <m:t>𝑢</m:t>
                        </m:r>
                      </m:e>
                      <m:sub>
                        <m:r>
                          <a:rPr lang="en-CA" sz="1200" b="0" i="1" smtClean="0">
                            <a:solidFill>
                              <a:schemeClr val="accent6">
                                <a:lumMod val="75000"/>
                              </a:schemeClr>
                            </a:solidFill>
                            <a:latin typeface="Cambria Math" panose="02040503050406030204" pitchFamily="18" charset="0"/>
                          </a:rPr>
                          <m:t>𝑖</m:t>
                        </m:r>
                      </m:sub>
                      <m:sup>
                        <m:r>
                          <a:rPr lang="en-CA" sz="1200" b="0" i="1" smtClean="0">
                            <a:solidFill>
                              <a:schemeClr val="accent6">
                                <a:lumMod val="75000"/>
                              </a:schemeClr>
                            </a:solidFill>
                            <a:latin typeface="Cambria Math" panose="02040503050406030204" pitchFamily="18" charset="0"/>
                          </a:rPr>
                          <m:t>𝑐</m:t>
                        </m:r>
                      </m:sup>
                    </m:sSubSup>
                  </m:oMath>
                </a14:m>
                <a:r>
                  <a:rPr lang="en-US" sz="1200" dirty="0">
                    <a:solidFill>
                      <a:schemeClr val="accent6">
                        <a:lumMod val="75000"/>
                      </a:schemeClr>
                    </a:solidFill>
                  </a:rPr>
                  <a:t> and </a:t>
                </a:r>
                <a14:m>
                  <m:oMath xmlns:m="http://schemas.openxmlformats.org/officeDocument/2006/math">
                    <m:sSubSup>
                      <m:sSubSupPr>
                        <m:ctrlPr>
                          <a:rPr lang="en-CA" sz="1200" i="1">
                            <a:solidFill>
                              <a:schemeClr val="accent6">
                                <a:lumMod val="75000"/>
                              </a:schemeClr>
                            </a:solidFill>
                            <a:latin typeface="Cambria Math" panose="02040503050406030204" pitchFamily="18" charset="0"/>
                          </a:rPr>
                        </m:ctrlPr>
                      </m:sSubSupPr>
                      <m:e>
                        <m:r>
                          <a:rPr lang="en-CA" sz="1200" i="1">
                            <a:solidFill>
                              <a:schemeClr val="accent6">
                                <a:lumMod val="75000"/>
                              </a:schemeClr>
                            </a:solidFill>
                            <a:latin typeface="Cambria Math" panose="02040503050406030204" pitchFamily="18" charset="0"/>
                          </a:rPr>
                          <m:t>𝑒</m:t>
                        </m:r>
                      </m:e>
                      <m:sub>
                        <m:r>
                          <a:rPr lang="en-CA" sz="1200" i="1">
                            <a:solidFill>
                              <a:schemeClr val="accent6">
                                <a:lumMod val="75000"/>
                              </a:schemeClr>
                            </a:solidFill>
                            <a:latin typeface="Cambria Math" panose="02040503050406030204" pitchFamily="18" charset="0"/>
                          </a:rPr>
                          <m:t>𝑖</m:t>
                        </m:r>
                      </m:sub>
                      <m:sup>
                        <m:r>
                          <a:rPr lang="en-CA" sz="1200" i="1">
                            <a:solidFill>
                              <a:schemeClr val="accent6">
                                <a:lumMod val="75000"/>
                              </a:schemeClr>
                            </a:solidFill>
                            <a:latin typeface="Cambria Math" panose="02040503050406030204" pitchFamily="18" charset="0"/>
                          </a:rPr>
                          <m:t>𝑐</m:t>
                        </m:r>
                      </m:sup>
                    </m:sSubSup>
                  </m:oMath>
                </a14:m>
                <a:r>
                  <a:rPr lang="en-US" sz="1200" dirty="0">
                    <a:solidFill>
                      <a:schemeClr val="accent6">
                        <a:lumMod val="75000"/>
                      </a:schemeClr>
                    </a:solidFill>
                  </a:rPr>
                  <a:t> = </a:t>
                </a:r>
                <a:r>
                  <a:rPr lang="en-US" altLang="en-US" sz="1200" dirty="0">
                    <a:solidFill>
                      <a:schemeClr val="accent6">
                        <a:lumMod val="75000"/>
                      </a:schemeClr>
                    </a:solidFill>
                  </a:rPr>
                  <a:t>the community uptake and export rates, respectively </a:t>
                </a:r>
                <a:r>
                  <a:rPr lang="en-US" sz="1200" dirty="0">
                    <a:solidFill>
                      <a:schemeClr val="accent6">
                        <a:lumMod val="75000"/>
                      </a:schemeClr>
                    </a:solidFill>
                  </a:rPr>
                  <a:t>(mmol/</a:t>
                </a:r>
                <a:r>
                  <a:rPr lang="en-US" sz="1200" dirty="0" err="1">
                    <a:solidFill>
                      <a:schemeClr val="accent6">
                        <a:lumMod val="75000"/>
                      </a:schemeClr>
                    </a:solidFill>
                  </a:rPr>
                  <a:t>hr</a:t>
                </a:r>
                <a:r>
                  <a:rPr lang="en-US" sz="1200" dirty="0">
                    <a:solidFill>
                      <a:schemeClr val="accent6">
                        <a:lumMod val="75000"/>
                      </a:schemeClr>
                    </a:solidFill>
                  </a:rPr>
                  <a:t>/g of fecal matter)</a:t>
                </a:r>
                <a:endParaRPr lang="en-CA" sz="1200" i="1" dirty="0">
                  <a:solidFill>
                    <a:schemeClr val="accent6">
                      <a:lumMod val="75000"/>
                    </a:schemeClr>
                  </a:solidFill>
                  <a:latin typeface="Cambria Math" panose="02040503050406030204" pitchFamily="18" charset="0"/>
                </a:endParaRPr>
              </a:p>
              <a:p>
                <a:endParaRPr lang="en-US" altLang="en-US" sz="1200" dirty="0">
                  <a:solidFill>
                    <a:schemeClr val="accent6">
                      <a:lumMod val="75000"/>
                    </a:schemeClr>
                  </a:solidFill>
                </a:endParaRPr>
              </a:p>
              <a:p>
                <a:endParaRPr lang="en-US" sz="1200" dirty="0">
                  <a:solidFill>
                    <a:schemeClr val="accent6">
                      <a:lumMod val="75000"/>
                    </a:schemeClr>
                  </a:solidFill>
                </a:endParaRPr>
              </a:p>
            </p:txBody>
          </p:sp>
        </mc:Choice>
        <mc:Fallback xmlns="">
          <p:sp>
            <p:nvSpPr>
              <p:cNvPr id="66" name="TextBox 65">
                <a:extLst>
                  <a:ext uri="{FF2B5EF4-FFF2-40B4-BE49-F238E27FC236}">
                    <a16:creationId xmlns:a16="http://schemas.microsoft.com/office/drawing/2014/main" id="{80546F88-5E6B-8127-5ED6-B08277D956E9}"/>
                  </a:ext>
                </a:extLst>
              </p:cNvPr>
              <p:cNvSpPr txBox="1">
                <a:spLocks noRot="1" noChangeAspect="1" noMove="1" noResize="1" noEditPoints="1" noAdjustHandles="1" noChangeArrowheads="1" noChangeShapeType="1" noTextEdit="1"/>
              </p:cNvSpPr>
              <p:nvPr/>
            </p:nvSpPr>
            <p:spPr>
              <a:xfrm>
                <a:off x="7468249" y="3697809"/>
                <a:ext cx="4564002" cy="1980094"/>
              </a:xfrm>
              <a:prstGeom prst="rect">
                <a:avLst/>
              </a:prstGeom>
              <a:blipFill>
                <a:blip r:embed="rId5"/>
                <a:stretch>
                  <a:fillRect t="-6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E1B54CD7-46BE-B7D3-5A1D-9733EDF97370}"/>
              </a:ext>
            </a:extLst>
          </p:cNvPr>
          <p:cNvSpPr txBox="1"/>
          <p:nvPr/>
        </p:nvSpPr>
        <p:spPr>
          <a:xfrm>
            <a:off x="426292" y="1791902"/>
            <a:ext cx="7678256" cy="369332"/>
          </a:xfrm>
          <a:prstGeom prst="rect">
            <a:avLst/>
          </a:prstGeom>
          <a:noFill/>
        </p:spPr>
        <p:txBody>
          <a:bodyPr wrap="none" rtlCol="0">
            <a:spAutoFit/>
          </a:bodyPr>
          <a:lstStyle/>
          <a:p>
            <a:r>
              <a:rPr lang="en-US" b="1" dirty="0">
                <a:solidFill>
                  <a:schemeClr val="accent1">
                    <a:lumMod val="75000"/>
                  </a:schemeClr>
                </a:solidFill>
              </a:rPr>
              <a:t>Assumption 1: </a:t>
            </a:r>
            <a:r>
              <a:rPr lang="en-US" dirty="0">
                <a:solidFill>
                  <a:schemeClr val="accent1">
                    <a:lumMod val="75000"/>
                  </a:schemeClr>
                </a:solidFill>
              </a:rPr>
              <a:t>All members of HDC1 can interact and cross-feed with each other</a:t>
            </a:r>
          </a:p>
        </p:txBody>
      </p:sp>
      <p:sp>
        <p:nvSpPr>
          <p:cNvPr id="6" name="Title 5">
            <a:extLst>
              <a:ext uri="{FF2B5EF4-FFF2-40B4-BE49-F238E27FC236}">
                <a16:creationId xmlns:a16="http://schemas.microsoft.com/office/drawing/2014/main" id="{C5C07766-E66D-AFDE-B80E-35BDAB1E1AE4}"/>
              </a:ext>
            </a:extLst>
          </p:cNvPr>
          <p:cNvSpPr>
            <a:spLocks noGrp="1"/>
          </p:cNvSpPr>
          <p:nvPr>
            <p:ph type="title"/>
          </p:nvPr>
        </p:nvSpPr>
        <p:spPr>
          <a:xfrm>
            <a:off x="426292" y="365126"/>
            <a:ext cx="10927508" cy="689804"/>
          </a:xfrm>
        </p:spPr>
        <p:txBody>
          <a:bodyPr>
            <a:normAutofit/>
          </a:bodyPr>
          <a:lstStyle/>
          <a:p>
            <a:r>
              <a:rPr lang="en-US" sz="3200" b="1" dirty="0"/>
              <a:t>Community Metabolic Modelling and Validation Framework</a:t>
            </a:r>
            <a:endParaRPr lang="en-US" sz="3200" dirty="0"/>
          </a:p>
        </p:txBody>
      </p:sp>
    </p:spTree>
    <p:extLst>
      <p:ext uri="{BB962C8B-B14F-4D97-AF65-F5344CB8AC3E}">
        <p14:creationId xmlns:p14="http://schemas.microsoft.com/office/powerpoint/2010/main" val="558340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6C6C98B-0AB9-A72C-0917-E4A3DC78ED1D}"/>
                  </a:ext>
                </a:extLst>
              </p:cNvPr>
              <p:cNvSpPr txBox="1"/>
              <p:nvPr/>
            </p:nvSpPr>
            <p:spPr>
              <a:xfrm>
                <a:off x="182275" y="2183632"/>
                <a:ext cx="4814022" cy="2709331"/>
              </a:xfrm>
              <a:prstGeom prst="rect">
                <a:avLst/>
              </a:prstGeom>
              <a:noFill/>
            </p:spPr>
            <p:txBody>
              <a:bodyPr wrap="square" rtlCol="0">
                <a:spAutoFit/>
              </a:bodyPr>
              <a:lstStyle/>
              <a:p>
                <a:r>
                  <a:rPr lang="en-US" sz="1600" dirty="0"/>
                  <a:t>At a specific rate of peristalsis, the rate of change in bacterial concentration (c) is given by:</a:t>
                </a:r>
              </a:p>
              <a:p>
                <a:pPr/>
                <a14:m>
                  <m:oMathPara xmlns:m="http://schemas.openxmlformats.org/officeDocument/2006/math">
                    <m:oMathParaPr>
                      <m:jc m:val="centerGroup"/>
                    </m:oMathParaPr>
                    <m:oMath xmlns:m="http://schemas.openxmlformats.org/officeDocument/2006/math">
                      <m:f>
                        <m:fPr>
                          <m:ctrlPr>
                            <a:rPr lang="en-US" sz="1600" i="1" smtClean="0">
                              <a:latin typeface="Cambria Math" panose="02040503050406030204" pitchFamily="18" charset="0"/>
                            </a:rPr>
                          </m:ctrlPr>
                        </m:fPr>
                        <m:num>
                          <m:r>
                            <a:rPr lang="en-CA" sz="1600" b="0" i="1" smtClean="0">
                              <a:latin typeface="Cambria Math" panose="02040503050406030204" pitchFamily="18" charset="0"/>
                            </a:rPr>
                            <m:t>𝑑𝑐</m:t>
                          </m:r>
                        </m:num>
                        <m:den>
                          <m:r>
                            <a:rPr lang="en-CA" sz="1600" b="0" i="1" smtClean="0">
                              <a:latin typeface="Cambria Math" panose="02040503050406030204" pitchFamily="18" charset="0"/>
                            </a:rPr>
                            <m:t>𝑑𝑡</m:t>
                          </m:r>
                        </m:den>
                      </m:f>
                      <m:r>
                        <a:rPr lang="en-CA" sz="1600" b="0" i="1" smtClean="0">
                          <a:latin typeface="Cambria Math" panose="02040503050406030204" pitchFamily="18" charset="0"/>
                        </a:rPr>
                        <m:t>=</m:t>
                      </m:r>
                      <m:r>
                        <a:rPr lang="en-CA" sz="1600" b="0" i="1" smtClean="0">
                          <a:latin typeface="Cambria Math" panose="02040503050406030204" pitchFamily="18" charset="0"/>
                          <a:ea typeface="Cambria Math" panose="02040503050406030204" pitchFamily="18" charset="0"/>
                        </a:rPr>
                        <m:t>𝜇</m:t>
                      </m:r>
                      <m:r>
                        <a:rPr lang="en-CA" sz="1600" b="0" i="1" smtClean="0">
                          <a:latin typeface="Cambria Math" panose="02040503050406030204" pitchFamily="18" charset="0"/>
                          <a:ea typeface="Cambria Math" panose="02040503050406030204" pitchFamily="18" charset="0"/>
                        </a:rPr>
                        <m:t>𝑐</m:t>
                      </m:r>
                      <m:r>
                        <a:rPr lang="en-CA" sz="1600" b="0" i="1" smtClean="0">
                          <a:latin typeface="Cambria Math" panose="02040503050406030204" pitchFamily="18" charset="0"/>
                          <a:ea typeface="Cambria Math" panose="02040503050406030204" pitchFamily="18" charset="0"/>
                        </a:rPr>
                        <m:t>−</m:t>
                      </m:r>
                      <m:r>
                        <a:rPr lang="en-CA" sz="1600" b="0" i="1" smtClean="0">
                          <a:latin typeface="Cambria Math" panose="02040503050406030204" pitchFamily="18" charset="0"/>
                          <a:ea typeface="Cambria Math" panose="02040503050406030204" pitchFamily="18" charset="0"/>
                        </a:rPr>
                        <m:t>𝐷𝑐</m:t>
                      </m:r>
                    </m:oMath>
                  </m:oMathPara>
                </a14:m>
                <a:endParaRPr lang="en-US" sz="1600" dirty="0"/>
              </a:p>
              <a:p>
                <a:r>
                  <a:rPr lang="en-US" sz="1600" dirty="0"/>
                  <a:t>where ,</a:t>
                </a:r>
              </a:p>
              <a:p>
                <a:r>
                  <a:rPr lang="en-US" sz="1600" dirty="0"/>
                  <a:t>D = rate of peristalsis/rate of washout (1/h)</a:t>
                </a:r>
              </a:p>
              <a:p>
                <a:r>
                  <a:rPr lang="en-CA" sz="1600" dirty="0" err="1"/>
                  <a:t>μ</a:t>
                </a:r>
                <a:r>
                  <a:rPr lang="en-CA" sz="1600" dirty="0"/>
                  <a:t> = bacterial growth rate (1/h)</a:t>
                </a:r>
              </a:p>
              <a:p>
                <a:endParaRPr lang="en-CA" sz="1600" dirty="0"/>
              </a:p>
              <a:p>
                <a:r>
                  <a:rPr lang="en-US" sz="1600" dirty="0"/>
                  <a:t>Therefore, to maintain steady state:</a:t>
                </a:r>
              </a:p>
              <a:p>
                <a14:m>
                  <m:oMath xmlns:m="http://schemas.openxmlformats.org/officeDocument/2006/math">
                    <m:r>
                      <a:rPr lang="en-US" sz="1400" i="1" smtClean="0">
                        <a:latin typeface="Cambria Math" panose="02040503050406030204" pitchFamily="18" charset="0"/>
                        <a:ea typeface="Cambria Math" panose="02040503050406030204" pitchFamily="18" charset="0"/>
                      </a:rPr>
                      <m:t>𝜇</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𝐷</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𝑟𝑎𝑡𝑒</m:t>
                    </m:r>
                    <m:r>
                      <a:rPr lang="en-CA" sz="1400" b="0" i="1" smtClean="0">
                        <a:latin typeface="Cambria Math" panose="02040503050406030204" pitchFamily="18" charset="0"/>
                        <a:ea typeface="Cambria Math" panose="02040503050406030204" pitchFamily="18" charset="0"/>
                      </a:rPr>
                      <m:t> </m:t>
                    </m:r>
                    <m:r>
                      <a:rPr lang="en-CA" sz="1400" b="0" i="1" smtClean="0">
                        <a:latin typeface="Cambria Math" panose="02040503050406030204" pitchFamily="18" charset="0"/>
                        <a:ea typeface="Cambria Math" panose="02040503050406030204" pitchFamily="18" charset="0"/>
                      </a:rPr>
                      <m:t>𝑜𝑓</m:t>
                    </m:r>
                    <m:r>
                      <a:rPr lang="en-CA" sz="1400" b="0" i="1" smtClean="0">
                        <a:latin typeface="Cambria Math" panose="02040503050406030204" pitchFamily="18" charset="0"/>
                        <a:ea typeface="Cambria Math" panose="02040503050406030204" pitchFamily="18" charset="0"/>
                      </a:rPr>
                      <m:t> </m:t>
                    </m:r>
                    <m:r>
                      <a:rPr lang="en-CA" sz="1400" b="0" i="1" smtClean="0">
                        <a:latin typeface="Cambria Math" panose="02040503050406030204" pitchFamily="18" charset="0"/>
                        <a:ea typeface="Cambria Math" panose="02040503050406030204" pitchFamily="18" charset="0"/>
                      </a:rPr>
                      <m:t>𝑝𝑒𝑟𝑖𝑠𝑡𝑎𝑙𝑠𝑖𝑠</m:t>
                    </m:r>
                    <m:r>
                      <a:rPr lang="en-CA" sz="1400" b="0" i="1" smtClean="0">
                        <a:latin typeface="Cambria Math" panose="02040503050406030204" pitchFamily="18" charset="0"/>
                        <a:ea typeface="Cambria Math" panose="02040503050406030204" pitchFamily="18" charset="0"/>
                      </a:rPr>
                      <m:t> </m:t>
                    </m:r>
                    <m:r>
                      <a:rPr lang="en-CA" sz="1400" b="0" i="1" smtClean="0">
                        <a:latin typeface="Cambria Math" panose="02040503050406030204" pitchFamily="18" charset="0"/>
                        <a:ea typeface="Cambria Math" panose="02040503050406030204" pitchFamily="18" charset="0"/>
                      </a:rPr>
                      <m:t>𝑖𝑛</m:t>
                    </m:r>
                    <m:r>
                      <a:rPr lang="en-CA" sz="1400" b="0" i="1" smtClean="0">
                        <a:latin typeface="Cambria Math" panose="02040503050406030204" pitchFamily="18" charset="0"/>
                        <a:ea typeface="Cambria Math" panose="02040503050406030204" pitchFamily="18" charset="0"/>
                      </a:rPr>
                      <m:t> </m:t>
                    </m:r>
                    <m:r>
                      <a:rPr lang="en-CA" sz="1400" b="0" i="1" smtClean="0">
                        <a:latin typeface="Cambria Math" panose="02040503050406030204" pitchFamily="18" charset="0"/>
                        <a:ea typeface="Cambria Math" panose="02040503050406030204" pitchFamily="18" charset="0"/>
                      </a:rPr>
                      <m:t>𝑡h𝑒</m:t>
                    </m:r>
                    <m:r>
                      <a:rPr lang="en-CA" sz="1400" b="0" i="1" smtClean="0">
                        <a:latin typeface="Cambria Math" panose="02040503050406030204" pitchFamily="18" charset="0"/>
                        <a:ea typeface="Cambria Math" panose="02040503050406030204" pitchFamily="18" charset="0"/>
                      </a:rPr>
                      <m:t> </m:t>
                    </m:r>
                    <m:r>
                      <a:rPr lang="en-CA" sz="1400" b="0" i="1" smtClean="0">
                        <a:latin typeface="Cambria Math" panose="02040503050406030204" pitchFamily="18" charset="0"/>
                        <a:ea typeface="Cambria Math" panose="02040503050406030204" pitchFamily="18" charset="0"/>
                      </a:rPr>
                      <m:t>𝑐𝑜𝑙𝑜𝑛</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𝑐𝑜𝑚𝑚𝑢𝑛𝑖𝑡𝑦</m:t>
                    </m:r>
                    <m:r>
                      <a:rPr lang="en-CA" sz="1400" b="0" i="1" smtClean="0">
                        <a:latin typeface="Cambria Math" panose="02040503050406030204" pitchFamily="18" charset="0"/>
                        <a:ea typeface="Cambria Math" panose="02040503050406030204" pitchFamily="18" charset="0"/>
                      </a:rPr>
                      <m:t> </m:t>
                    </m:r>
                    <m:r>
                      <a:rPr lang="en-CA" sz="1400" b="0" i="1" smtClean="0">
                        <a:latin typeface="Cambria Math" panose="02040503050406030204" pitchFamily="18" charset="0"/>
                        <a:ea typeface="Cambria Math" panose="02040503050406030204" pitchFamily="18" charset="0"/>
                      </a:rPr>
                      <m:t>𝑔𝑟𝑜𝑤𝑡h</m:t>
                    </m:r>
                    <m:r>
                      <a:rPr lang="en-CA" sz="1400" b="0" i="1" smtClean="0">
                        <a:latin typeface="Cambria Math" panose="02040503050406030204" pitchFamily="18" charset="0"/>
                        <a:ea typeface="Cambria Math" panose="02040503050406030204" pitchFamily="18" charset="0"/>
                      </a:rPr>
                      <m:t> </m:t>
                    </m:r>
                    <m:r>
                      <a:rPr lang="en-CA" sz="1400" b="0" i="1" smtClean="0">
                        <a:latin typeface="Cambria Math" panose="02040503050406030204" pitchFamily="18" charset="0"/>
                        <a:ea typeface="Cambria Math" panose="02040503050406030204" pitchFamily="18" charset="0"/>
                      </a:rPr>
                      <m:t>𝑟𝑎𝑡𝑒</m:t>
                    </m:r>
                  </m:oMath>
                </a14:m>
                <a:r>
                  <a:rPr lang="en-US" sz="1400" dirty="0"/>
                  <a:t> </a:t>
                </a:r>
              </a:p>
            </p:txBody>
          </p:sp>
        </mc:Choice>
        <mc:Fallback xmlns="">
          <p:sp>
            <p:nvSpPr>
              <p:cNvPr id="5" name="TextBox 4">
                <a:extLst>
                  <a:ext uri="{FF2B5EF4-FFF2-40B4-BE49-F238E27FC236}">
                    <a16:creationId xmlns:a16="http://schemas.microsoft.com/office/drawing/2014/main" id="{66C6C98B-0AB9-A72C-0917-E4A3DC78ED1D}"/>
                  </a:ext>
                </a:extLst>
              </p:cNvPr>
              <p:cNvSpPr txBox="1">
                <a:spLocks noRot="1" noChangeAspect="1" noMove="1" noResize="1" noEditPoints="1" noAdjustHandles="1" noChangeArrowheads="1" noChangeShapeType="1" noTextEdit="1"/>
              </p:cNvSpPr>
              <p:nvPr/>
            </p:nvSpPr>
            <p:spPr>
              <a:xfrm>
                <a:off x="182275" y="2183632"/>
                <a:ext cx="4814022" cy="2709331"/>
              </a:xfrm>
              <a:prstGeom prst="rect">
                <a:avLst/>
              </a:prstGeom>
              <a:blipFill>
                <a:blip r:embed="rId3"/>
                <a:stretch>
                  <a:fillRect l="-526" t="-465"/>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0ED371C8-6A80-E3B3-EC2A-B0AC225BD943}"/>
              </a:ext>
            </a:extLst>
          </p:cNvPr>
          <p:cNvSpPr txBox="1"/>
          <p:nvPr/>
        </p:nvSpPr>
        <p:spPr>
          <a:xfrm>
            <a:off x="10246752" y="1766720"/>
            <a:ext cx="1129213" cy="647631"/>
          </a:xfrm>
          <a:prstGeom prst="rect">
            <a:avLst/>
          </a:prstGeom>
          <a:noFill/>
        </p:spPr>
        <p:txBody>
          <a:bodyPr wrap="none" rtlCol="0">
            <a:spAutoFit/>
          </a:bodyPr>
          <a:lstStyle/>
          <a:p>
            <a:r>
              <a:rPr lang="en-US" sz="1100" i="1" dirty="0"/>
              <a:t>Giuliano Bayer,</a:t>
            </a:r>
          </a:p>
          <a:p>
            <a:r>
              <a:rPr lang="en-US" sz="1100" i="1" dirty="0"/>
              <a:t>PhD candidate,</a:t>
            </a:r>
          </a:p>
          <a:p>
            <a:r>
              <a:rPr lang="en-US" sz="1100" i="1" dirty="0"/>
              <a:t>Philpott Lab</a:t>
            </a:r>
          </a:p>
        </p:txBody>
      </p:sp>
      <p:grpSp>
        <p:nvGrpSpPr>
          <p:cNvPr id="7" name="Group 6">
            <a:extLst>
              <a:ext uri="{FF2B5EF4-FFF2-40B4-BE49-F238E27FC236}">
                <a16:creationId xmlns:a16="http://schemas.microsoft.com/office/drawing/2014/main" id="{EA20D4C5-8AF0-4B44-4633-18673F5D5E7C}"/>
              </a:ext>
            </a:extLst>
          </p:cNvPr>
          <p:cNvGrpSpPr/>
          <p:nvPr/>
        </p:nvGrpSpPr>
        <p:grpSpPr>
          <a:xfrm>
            <a:off x="5152934" y="2200642"/>
            <a:ext cx="5379669" cy="2866970"/>
            <a:chOff x="2948169" y="1849416"/>
            <a:chExt cx="6957491" cy="3427009"/>
          </a:xfrm>
        </p:grpSpPr>
        <p:sp>
          <p:nvSpPr>
            <p:cNvPr id="8" name="TextBox 7">
              <a:extLst>
                <a:ext uri="{FF2B5EF4-FFF2-40B4-BE49-F238E27FC236}">
                  <a16:creationId xmlns:a16="http://schemas.microsoft.com/office/drawing/2014/main" id="{9E7240B5-1714-A10E-BB4D-89EC6D6F3153}"/>
                </a:ext>
              </a:extLst>
            </p:cNvPr>
            <p:cNvSpPr txBox="1"/>
            <p:nvPr/>
          </p:nvSpPr>
          <p:spPr>
            <a:xfrm>
              <a:off x="6948752" y="4350958"/>
              <a:ext cx="2827192" cy="282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rade Gothic LT Std"/>
                  <a:ea typeface="+mn-ea"/>
                  <a:cs typeface="+mn-cs"/>
                </a:rPr>
                <a:t>Small intestine (SI), Cecum (Ce), Colon (C)</a:t>
              </a:r>
            </a:p>
          </p:txBody>
        </p:sp>
        <p:sp>
          <p:nvSpPr>
            <p:cNvPr id="9" name="TextBox 8">
              <a:extLst>
                <a:ext uri="{FF2B5EF4-FFF2-40B4-BE49-F238E27FC236}">
                  <a16:creationId xmlns:a16="http://schemas.microsoft.com/office/drawing/2014/main" id="{172B0CA3-56E3-B1B7-A10A-D51BD3B05878}"/>
                </a:ext>
              </a:extLst>
            </p:cNvPr>
            <p:cNvSpPr txBox="1"/>
            <p:nvPr/>
          </p:nvSpPr>
          <p:spPr>
            <a:xfrm>
              <a:off x="2948169" y="1849416"/>
              <a:ext cx="4653331" cy="2656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Trade Gothic LT Std"/>
                  <a:ea typeface="+mn-ea"/>
                  <a:cs typeface="+mn-cs"/>
                </a:rPr>
                <a:t>HDC1 = Human Defined Community 1 (subset of MET-1) </a:t>
              </a:r>
            </a:p>
          </p:txBody>
        </p:sp>
        <p:pic>
          <p:nvPicPr>
            <p:cNvPr id="10" name="Picture 9" descr="Chart, bar chart&#10;&#10;Description automatically generated">
              <a:extLst>
                <a:ext uri="{FF2B5EF4-FFF2-40B4-BE49-F238E27FC236}">
                  <a16:creationId xmlns:a16="http://schemas.microsoft.com/office/drawing/2014/main" id="{30B17804-B1E1-3BCA-1D3D-EDF3FD67CC5F}"/>
                </a:ext>
              </a:extLst>
            </p:cNvPr>
            <p:cNvPicPr>
              <a:picLocks noChangeAspect="1"/>
            </p:cNvPicPr>
            <p:nvPr/>
          </p:nvPicPr>
          <p:blipFill rotWithShape="1">
            <a:blip r:embed="rId4">
              <a:extLst>
                <a:ext uri="{28A0092B-C50C-407E-A947-70E740481C1C}">
                  <a14:useLocalDpi xmlns:a14="http://schemas.microsoft.com/office/drawing/2010/main" val="0"/>
                </a:ext>
              </a:extLst>
            </a:blip>
            <a:srcRect b="28211"/>
            <a:stretch/>
          </p:blipFill>
          <p:spPr>
            <a:xfrm>
              <a:off x="2991900" y="2113359"/>
              <a:ext cx="6672118" cy="2110597"/>
            </a:xfrm>
            <a:prstGeom prst="rect">
              <a:avLst/>
            </a:prstGeom>
          </p:spPr>
        </p:pic>
        <p:sp>
          <p:nvSpPr>
            <p:cNvPr id="11" name="Textfeld 29">
              <a:extLst>
                <a:ext uri="{FF2B5EF4-FFF2-40B4-BE49-F238E27FC236}">
                  <a16:creationId xmlns:a16="http://schemas.microsoft.com/office/drawing/2014/main" id="{5B9AF979-373B-2499-42A9-66BF2A8C6717}"/>
                </a:ext>
              </a:extLst>
            </p:cNvPr>
            <p:cNvSpPr txBox="1"/>
            <p:nvPr/>
          </p:nvSpPr>
          <p:spPr>
            <a:xfrm>
              <a:off x="3726928" y="4309661"/>
              <a:ext cx="598270" cy="26569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Parental wk2</a:t>
              </a:r>
            </a:p>
          </p:txBody>
        </p:sp>
        <p:cxnSp>
          <p:nvCxnSpPr>
            <p:cNvPr id="12" name="Gerader Verbinder 30">
              <a:extLst>
                <a:ext uri="{FF2B5EF4-FFF2-40B4-BE49-F238E27FC236}">
                  <a16:creationId xmlns:a16="http://schemas.microsoft.com/office/drawing/2014/main" id="{D2843EC3-F326-BB20-9096-39DED7FFD191}"/>
                </a:ext>
              </a:extLst>
            </p:cNvPr>
            <p:cNvCxnSpPr>
              <a:cxnSpLocks/>
            </p:cNvCxnSpPr>
            <p:nvPr/>
          </p:nvCxnSpPr>
          <p:spPr>
            <a:xfrm>
              <a:off x="3838062" y="4305361"/>
              <a:ext cx="377911" cy="0"/>
            </a:xfrm>
            <a:prstGeom prst="line">
              <a:avLst/>
            </a:prstGeom>
          </p:spPr>
          <p:style>
            <a:lnRef idx="1">
              <a:schemeClr val="dk1"/>
            </a:lnRef>
            <a:fillRef idx="0">
              <a:schemeClr val="dk1"/>
            </a:fillRef>
            <a:effectRef idx="0">
              <a:schemeClr val="dk1"/>
            </a:effectRef>
            <a:fontRef idx="minor">
              <a:schemeClr val="tx1"/>
            </a:fontRef>
          </p:style>
        </p:cxnSp>
        <p:sp>
          <p:nvSpPr>
            <p:cNvPr id="13" name="Textfeld 29">
              <a:extLst>
                <a:ext uri="{FF2B5EF4-FFF2-40B4-BE49-F238E27FC236}">
                  <a16:creationId xmlns:a16="http://schemas.microsoft.com/office/drawing/2014/main" id="{B5B36C8F-5AFA-6066-F153-9A8BF547AA3F}"/>
                </a:ext>
              </a:extLst>
            </p:cNvPr>
            <p:cNvSpPr txBox="1"/>
            <p:nvPr/>
          </p:nvSpPr>
          <p:spPr>
            <a:xfrm>
              <a:off x="4297976" y="4309661"/>
              <a:ext cx="598270" cy="26569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Parental wk4</a:t>
              </a:r>
            </a:p>
          </p:txBody>
        </p:sp>
        <p:cxnSp>
          <p:nvCxnSpPr>
            <p:cNvPr id="14" name="Gerader Verbinder 30">
              <a:extLst>
                <a:ext uri="{FF2B5EF4-FFF2-40B4-BE49-F238E27FC236}">
                  <a16:creationId xmlns:a16="http://schemas.microsoft.com/office/drawing/2014/main" id="{E1F702FD-384A-9581-81D5-77CCDF172D1F}"/>
                </a:ext>
              </a:extLst>
            </p:cNvPr>
            <p:cNvCxnSpPr>
              <a:cxnSpLocks/>
            </p:cNvCxnSpPr>
            <p:nvPr/>
          </p:nvCxnSpPr>
          <p:spPr>
            <a:xfrm>
              <a:off x="4409111" y="4305361"/>
              <a:ext cx="377911" cy="0"/>
            </a:xfrm>
            <a:prstGeom prst="line">
              <a:avLst/>
            </a:prstGeom>
          </p:spPr>
          <p:style>
            <a:lnRef idx="1">
              <a:schemeClr val="dk1"/>
            </a:lnRef>
            <a:fillRef idx="0">
              <a:schemeClr val="dk1"/>
            </a:fillRef>
            <a:effectRef idx="0">
              <a:schemeClr val="dk1"/>
            </a:effectRef>
            <a:fontRef idx="minor">
              <a:schemeClr val="tx1"/>
            </a:fontRef>
          </p:style>
        </p:cxnSp>
        <p:sp>
          <p:nvSpPr>
            <p:cNvPr id="15" name="Textfeld 29">
              <a:extLst>
                <a:ext uri="{FF2B5EF4-FFF2-40B4-BE49-F238E27FC236}">
                  <a16:creationId xmlns:a16="http://schemas.microsoft.com/office/drawing/2014/main" id="{E9832CA5-85CC-E4E0-27F3-308E11060691}"/>
                </a:ext>
              </a:extLst>
            </p:cNvPr>
            <p:cNvSpPr txBox="1"/>
            <p:nvPr/>
          </p:nvSpPr>
          <p:spPr>
            <a:xfrm>
              <a:off x="4879956" y="4309183"/>
              <a:ext cx="598270" cy="26569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Parental wk12</a:t>
              </a:r>
            </a:p>
          </p:txBody>
        </p:sp>
        <p:cxnSp>
          <p:nvCxnSpPr>
            <p:cNvPr id="16" name="Gerader Verbinder 30">
              <a:extLst>
                <a:ext uri="{FF2B5EF4-FFF2-40B4-BE49-F238E27FC236}">
                  <a16:creationId xmlns:a16="http://schemas.microsoft.com/office/drawing/2014/main" id="{C17E7B78-0EE8-389D-AC06-FA28203AB91E}"/>
                </a:ext>
              </a:extLst>
            </p:cNvPr>
            <p:cNvCxnSpPr>
              <a:cxnSpLocks/>
            </p:cNvCxnSpPr>
            <p:nvPr/>
          </p:nvCxnSpPr>
          <p:spPr>
            <a:xfrm>
              <a:off x="4991090" y="4304884"/>
              <a:ext cx="377911" cy="0"/>
            </a:xfrm>
            <a:prstGeom prst="line">
              <a:avLst/>
            </a:prstGeom>
          </p:spPr>
          <p:style>
            <a:lnRef idx="1">
              <a:schemeClr val="dk1"/>
            </a:lnRef>
            <a:fillRef idx="0">
              <a:schemeClr val="dk1"/>
            </a:fillRef>
            <a:effectRef idx="0">
              <a:schemeClr val="dk1"/>
            </a:effectRef>
            <a:fontRef idx="minor">
              <a:schemeClr val="tx1"/>
            </a:fontRef>
          </p:style>
        </p:cxnSp>
        <p:sp>
          <p:nvSpPr>
            <p:cNvPr id="17" name="Textfeld 29">
              <a:extLst>
                <a:ext uri="{FF2B5EF4-FFF2-40B4-BE49-F238E27FC236}">
                  <a16:creationId xmlns:a16="http://schemas.microsoft.com/office/drawing/2014/main" id="{CB3321FC-A8F6-6983-B1CD-4E01CC7F18B6}"/>
                </a:ext>
              </a:extLst>
            </p:cNvPr>
            <p:cNvSpPr txBox="1"/>
            <p:nvPr/>
          </p:nvSpPr>
          <p:spPr>
            <a:xfrm>
              <a:off x="5456559" y="4309183"/>
              <a:ext cx="598270" cy="26569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F1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Litter 1  wk5</a:t>
              </a:r>
            </a:p>
          </p:txBody>
        </p:sp>
        <p:cxnSp>
          <p:nvCxnSpPr>
            <p:cNvPr id="18" name="Gerader Verbinder 30">
              <a:extLst>
                <a:ext uri="{FF2B5EF4-FFF2-40B4-BE49-F238E27FC236}">
                  <a16:creationId xmlns:a16="http://schemas.microsoft.com/office/drawing/2014/main" id="{D2995651-79B7-D26E-9507-456D48933FAF}"/>
                </a:ext>
              </a:extLst>
            </p:cNvPr>
            <p:cNvCxnSpPr>
              <a:cxnSpLocks/>
            </p:cNvCxnSpPr>
            <p:nvPr/>
          </p:nvCxnSpPr>
          <p:spPr>
            <a:xfrm>
              <a:off x="5567694" y="4304884"/>
              <a:ext cx="377911" cy="0"/>
            </a:xfrm>
            <a:prstGeom prst="line">
              <a:avLst/>
            </a:prstGeom>
          </p:spPr>
          <p:style>
            <a:lnRef idx="1">
              <a:schemeClr val="dk1"/>
            </a:lnRef>
            <a:fillRef idx="0">
              <a:schemeClr val="dk1"/>
            </a:fillRef>
            <a:effectRef idx="0">
              <a:schemeClr val="dk1"/>
            </a:effectRef>
            <a:fontRef idx="minor">
              <a:schemeClr val="tx1"/>
            </a:fontRef>
          </p:style>
        </p:cxnSp>
        <p:sp>
          <p:nvSpPr>
            <p:cNvPr id="19" name="Textfeld 29">
              <a:extLst>
                <a:ext uri="{FF2B5EF4-FFF2-40B4-BE49-F238E27FC236}">
                  <a16:creationId xmlns:a16="http://schemas.microsoft.com/office/drawing/2014/main" id="{AF75EB21-1F4B-D50A-A02A-BC6AF766A5D8}"/>
                </a:ext>
              </a:extLst>
            </p:cNvPr>
            <p:cNvSpPr txBox="1"/>
            <p:nvPr/>
          </p:nvSpPr>
          <p:spPr>
            <a:xfrm>
              <a:off x="6033162" y="4309183"/>
              <a:ext cx="598270" cy="26569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F1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Litter 2  wk5</a:t>
              </a:r>
            </a:p>
          </p:txBody>
        </p:sp>
        <p:cxnSp>
          <p:nvCxnSpPr>
            <p:cNvPr id="20" name="Gerader Verbinder 30">
              <a:extLst>
                <a:ext uri="{FF2B5EF4-FFF2-40B4-BE49-F238E27FC236}">
                  <a16:creationId xmlns:a16="http://schemas.microsoft.com/office/drawing/2014/main" id="{85398639-81F0-1D3F-B296-792A2DA6830E}"/>
                </a:ext>
              </a:extLst>
            </p:cNvPr>
            <p:cNvCxnSpPr>
              <a:cxnSpLocks/>
            </p:cNvCxnSpPr>
            <p:nvPr/>
          </p:nvCxnSpPr>
          <p:spPr>
            <a:xfrm>
              <a:off x="6144297" y="4304884"/>
              <a:ext cx="377911" cy="0"/>
            </a:xfrm>
            <a:prstGeom prst="line">
              <a:avLst/>
            </a:prstGeom>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6C67854D-ECE6-B369-DD1D-4F385A8553BE}"/>
                </a:ext>
              </a:extLst>
            </p:cNvPr>
            <p:cNvSpPr txBox="1"/>
            <p:nvPr/>
          </p:nvSpPr>
          <p:spPr>
            <a:xfrm>
              <a:off x="6598757" y="2605091"/>
              <a:ext cx="3132463" cy="282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rade Gothic LT Std"/>
                  <a:ea typeface="+mn-ea"/>
                  <a:cs typeface="+mn-cs"/>
                </a:rPr>
                <a:t>*</a:t>
              </a:r>
            </a:p>
          </p:txBody>
        </p:sp>
        <p:sp>
          <p:nvSpPr>
            <p:cNvPr id="22" name="TextBox 21">
              <a:extLst>
                <a:ext uri="{FF2B5EF4-FFF2-40B4-BE49-F238E27FC236}">
                  <a16:creationId xmlns:a16="http://schemas.microsoft.com/office/drawing/2014/main" id="{76A3002E-5036-064B-DA4E-2A633ECF0875}"/>
                </a:ext>
              </a:extLst>
            </p:cNvPr>
            <p:cNvSpPr txBox="1"/>
            <p:nvPr/>
          </p:nvSpPr>
          <p:spPr>
            <a:xfrm>
              <a:off x="6600730" y="2748225"/>
              <a:ext cx="3132463" cy="282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rade Gothic LT Std"/>
                  <a:ea typeface="+mn-ea"/>
                  <a:cs typeface="+mn-cs"/>
                </a:rPr>
                <a:t>*</a:t>
              </a:r>
            </a:p>
          </p:txBody>
        </p:sp>
        <p:sp>
          <p:nvSpPr>
            <p:cNvPr id="24" name="TextBox 23">
              <a:extLst>
                <a:ext uri="{FF2B5EF4-FFF2-40B4-BE49-F238E27FC236}">
                  <a16:creationId xmlns:a16="http://schemas.microsoft.com/office/drawing/2014/main" id="{78EC7A57-7E65-8BC9-A736-DCC0F3473013}"/>
                </a:ext>
              </a:extLst>
            </p:cNvPr>
            <p:cNvSpPr txBox="1"/>
            <p:nvPr/>
          </p:nvSpPr>
          <p:spPr>
            <a:xfrm>
              <a:off x="6600730" y="3452589"/>
              <a:ext cx="3132463" cy="282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rade Gothic LT Std"/>
                  <a:ea typeface="+mn-ea"/>
                  <a:cs typeface="+mn-cs"/>
                </a:rPr>
                <a:t>*</a:t>
              </a:r>
            </a:p>
          </p:txBody>
        </p:sp>
        <p:sp>
          <p:nvSpPr>
            <p:cNvPr id="25" name="TextBox 24">
              <a:extLst>
                <a:ext uri="{FF2B5EF4-FFF2-40B4-BE49-F238E27FC236}">
                  <a16:creationId xmlns:a16="http://schemas.microsoft.com/office/drawing/2014/main" id="{9804CB16-7156-B5A5-AB9E-EAE645D37A78}"/>
                </a:ext>
              </a:extLst>
            </p:cNvPr>
            <p:cNvSpPr txBox="1"/>
            <p:nvPr/>
          </p:nvSpPr>
          <p:spPr>
            <a:xfrm>
              <a:off x="6600730" y="4008326"/>
              <a:ext cx="3132463" cy="282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rade Gothic LT Std"/>
                  <a:ea typeface="+mn-ea"/>
                  <a:cs typeface="+mn-cs"/>
                </a:rPr>
                <a:t>*</a:t>
              </a:r>
            </a:p>
          </p:txBody>
        </p:sp>
        <p:sp>
          <p:nvSpPr>
            <p:cNvPr id="52" name="TextBox 51">
              <a:extLst>
                <a:ext uri="{FF2B5EF4-FFF2-40B4-BE49-F238E27FC236}">
                  <a16:creationId xmlns:a16="http://schemas.microsoft.com/office/drawing/2014/main" id="{7C107E99-B46E-3FDB-DA48-734ABB5425E9}"/>
                </a:ext>
              </a:extLst>
            </p:cNvPr>
            <p:cNvSpPr txBox="1"/>
            <p:nvPr/>
          </p:nvSpPr>
          <p:spPr>
            <a:xfrm>
              <a:off x="8600350" y="4010748"/>
              <a:ext cx="1305310" cy="2989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dirty="0">
                  <a:ln>
                    <a:noFill/>
                  </a:ln>
                  <a:solidFill>
                    <a:prstClr val="black"/>
                  </a:solidFill>
                  <a:effectLst/>
                  <a:uLnTx/>
                  <a:uFillTx/>
                  <a:latin typeface="Trade Gothic LT Std"/>
                  <a:ea typeface="+mn-ea"/>
                  <a:cs typeface="Times New Roman" panose="02020603050405020304" pitchFamily="18" charset="0"/>
                </a:rPr>
                <a:t>→ in fecal pellets: </a:t>
              </a:r>
              <a:r>
                <a:rPr kumimoji="0" lang="en-US" sz="600" b="0" i="0" u="none" strike="noStrike" kern="1200" cap="none" spc="0" normalizeH="0" baseline="0" noProof="0" dirty="0">
                  <a:ln>
                    <a:noFill/>
                  </a:ln>
                  <a:solidFill>
                    <a:prstClr val="black"/>
                  </a:solidFill>
                  <a:effectLst/>
                  <a:uLnTx/>
                  <a:uFillTx/>
                  <a:latin typeface="Trade Gothic LT Std"/>
                  <a:ea typeface="+mn-ea"/>
                  <a:cs typeface="+mn-cs"/>
                </a:rPr>
                <a:t>Bifidobacterium sp.</a:t>
              </a:r>
            </a:p>
          </p:txBody>
        </p:sp>
        <p:sp>
          <p:nvSpPr>
            <p:cNvPr id="53" name="TextBox 52">
              <a:extLst>
                <a:ext uri="{FF2B5EF4-FFF2-40B4-BE49-F238E27FC236}">
                  <a16:creationId xmlns:a16="http://schemas.microsoft.com/office/drawing/2014/main" id="{808FFB40-018F-3F64-AA77-B56B194AF939}"/>
                </a:ext>
              </a:extLst>
            </p:cNvPr>
            <p:cNvSpPr txBox="1"/>
            <p:nvPr/>
          </p:nvSpPr>
          <p:spPr>
            <a:xfrm>
              <a:off x="7342762" y="1990047"/>
              <a:ext cx="2193208" cy="2656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Trade Gothic LT Std"/>
                  <a:ea typeface="+mn-ea"/>
                  <a:cs typeface="+mn-cs"/>
                </a:rPr>
                <a:t>*</a:t>
              </a:r>
              <a:r>
                <a:rPr kumimoji="0" lang="en-US" sz="1000" b="0" i="0" u="none" strike="noStrike" kern="1200" cap="none" spc="0" normalizeH="0" baseline="0" noProof="0" dirty="0">
                  <a:ln>
                    <a:noFill/>
                  </a:ln>
                  <a:solidFill>
                    <a:prstClr val="black"/>
                  </a:solidFill>
                  <a:effectLst/>
                  <a:uLnTx/>
                  <a:uFillTx/>
                  <a:latin typeface="Trade Gothic LT Std"/>
                  <a:ea typeface="+mn-ea"/>
                  <a:cs typeface="+mn-cs"/>
                </a:rPr>
                <a:t>detected in fecal pellets </a:t>
              </a:r>
            </a:p>
          </p:txBody>
        </p:sp>
        <p:sp>
          <p:nvSpPr>
            <p:cNvPr id="54" name="Textfeld 27">
              <a:extLst>
                <a:ext uri="{FF2B5EF4-FFF2-40B4-BE49-F238E27FC236}">
                  <a16:creationId xmlns:a16="http://schemas.microsoft.com/office/drawing/2014/main" id="{09D02493-D022-8479-72F8-D05533BA2C3F}"/>
                </a:ext>
              </a:extLst>
            </p:cNvPr>
            <p:cNvSpPr txBox="1"/>
            <p:nvPr/>
          </p:nvSpPr>
          <p:spPr>
            <a:xfrm rot="5400000">
              <a:off x="2930372" y="4659468"/>
              <a:ext cx="1052470" cy="181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MET1_inoculum_1</a:t>
              </a:r>
            </a:p>
          </p:txBody>
        </p:sp>
        <p:sp>
          <p:nvSpPr>
            <p:cNvPr id="55" name="Textfeld 27">
              <a:extLst>
                <a:ext uri="{FF2B5EF4-FFF2-40B4-BE49-F238E27FC236}">
                  <a16:creationId xmlns:a16="http://schemas.microsoft.com/office/drawing/2014/main" id="{9FBA4EFC-3828-9BAD-8515-EE40D964572F}"/>
                </a:ext>
              </a:extLst>
            </p:cNvPr>
            <p:cNvSpPr txBox="1"/>
            <p:nvPr/>
          </p:nvSpPr>
          <p:spPr>
            <a:xfrm rot="5400000">
              <a:off x="3120427" y="4659468"/>
              <a:ext cx="1052470" cy="181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MET1_inoculum_2</a:t>
              </a:r>
            </a:p>
          </p:txBody>
        </p:sp>
        <p:sp>
          <p:nvSpPr>
            <p:cNvPr id="56" name="TextBox 55">
              <a:extLst>
                <a:ext uri="{FF2B5EF4-FFF2-40B4-BE49-F238E27FC236}">
                  <a16:creationId xmlns:a16="http://schemas.microsoft.com/office/drawing/2014/main" id="{CCC64468-CE3B-9223-74C4-C943196D8DEF}"/>
                </a:ext>
              </a:extLst>
            </p:cNvPr>
            <p:cNvSpPr txBox="1"/>
            <p:nvPr/>
          </p:nvSpPr>
          <p:spPr>
            <a:xfrm>
              <a:off x="8125910" y="3328833"/>
              <a:ext cx="264808" cy="282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rade Gothic LT Std"/>
                  <a:ea typeface="+mn-ea"/>
                  <a:cs typeface="+mn-cs"/>
                </a:rPr>
                <a:t>*</a:t>
              </a:r>
            </a:p>
          </p:txBody>
        </p:sp>
        <p:sp>
          <p:nvSpPr>
            <p:cNvPr id="57" name="TextBox 56">
              <a:extLst>
                <a:ext uri="{FF2B5EF4-FFF2-40B4-BE49-F238E27FC236}">
                  <a16:creationId xmlns:a16="http://schemas.microsoft.com/office/drawing/2014/main" id="{FCE89416-DD49-1300-A0E8-D74B510A9255}"/>
                </a:ext>
              </a:extLst>
            </p:cNvPr>
            <p:cNvSpPr txBox="1"/>
            <p:nvPr/>
          </p:nvSpPr>
          <p:spPr>
            <a:xfrm>
              <a:off x="8125909" y="3166072"/>
              <a:ext cx="264808" cy="282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rade Gothic LT Std"/>
                  <a:ea typeface="+mn-ea"/>
                  <a:cs typeface="+mn-cs"/>
                </a:rPr>
                <a:t>*</a:t>
              </a:r>
            </a:p>
          </p:txBody>
        </p:sp>
        <p:sp>
          <p:nvSpPr>
            <p:cNvPr id="58" name="TextBox 57">
              <a:extLst>
                <a:ext uri="{FF2B5EF4-FFF2-40B4-BE49-F238E27FC236}">
                  <a16:creationId xmlns:a16="http://schemas.microsoft.com/office/drawing/2014/main" id="{C0788857-57BA-7363-0C45-FA32CCA5F466}"/>
                </a:ext>
              </a:extLst>
            </p:cNvPr>
            <p:cNvSpPr txBox="1"/>
            <p:nvPr/>
          </p:nvSpPr>
          <p:spPr>
            <a:xfrm>
              <a:off x="8125908" y="3016976"/>
              <a:ext cx="264808" cy="282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rade Gothic LT Std"/>
                  <a:ea typeface="+mn-ea"/>
                  <a:cs typeface="+mn-cs"/>
                </a:rPr>
                <a:t>*</a:t>
              </a:r>
            </a:p>
          </p:txBody>
        </p:sp>
        <p:sp>
          <p:nvSpPr>
            <p:cNvPr id="59" name="TextBox 58">
              <a:extLst>
                <a:ext uri="{FF2B5EF4-FFF2-40B4-BE49-F238E27FC236}">
                  <a16:creationId xmlns:a16="http://schemas.microsoft.com/office/drawing/2014/main" id="{9AC790BF-3738-4244-6D20-A33B0E4283D6}"/>
                </a:ext>
              </a:extLst>
            </p:cNvPr>
            <p:cNvSpPr txBox="1"/>
            <p:nvPr/>
          </p:nvSpPr>
          <p:spPr>
            <a:xfrm>
              <a:off x="8125274" y="4003414"/>
              <a:ext cx="264808" cy="282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rade Gothic LT Std"/>
                  <a:ea typeface="+mn-ea"/>
                  <a:cs typeface="+mn-cs"/>
                </a:rPr>
                <a:t>*</a:t>
              </a:r>
            </a:p>
          </p:txBody>
        </p:sp>
      </p:grpSp>
      <p:sp>
        <p:nvSpPr>
          <p:cNvPr id="26" name="TextBox 25">
            <a:extLst>
              <a:ext uri="{FF2B5EF4-FFF2-40B4-BE49-F238E27FC236}">
                <a16:creationId xmlns:a16="http://schemas.microsoft.com/office/drawing/2014/main" id="{C8480592-9D1A-53C3-91DF-971468C2C480}"/>
              </a:ext>
            </a:extLst>
          </p:cNvPr>
          <p:cNvSpPr txBox="1"/>
          <p:nvPr/>
        </p:nvSpPr>
        <p:spPr>
          <a:xfrm>
            <a:off x="9862199" y="6259039"/>
            <a:ext cx="2148986" cy="338554"/>
          </a:xfrm>
          <a:prstGeom prst="rect">
            <a:avLst/>
          </a:prstGeom>
          <a:noFill/>
        </p:spPr>
        <p:txBody>
          <a:bodyPr wrap="none" rtlCol="0">
            <a:spAutoFit/>
          </a:bodyPr>
          <a:lstStyle/>
          <a:p>
            <a:r>
              <a:rPr lang="en-US" sz="1600" i="1" dirty="0"/>
              <a:t>Created with </a:t>
            </a:r>
            <a:r>
              <a:rPr lang="en-US" sz="1600" i="1" dirty="0" err="1"/>
              <a:t>BioRender</a:t>
            </a:r>
            <a:endParaRPr lang="en-US" sz="1600" i="1" dirty="0"/>
          </a:p>
        </p:txBody>
      </p:sp>
      <p:pic>
        <p:nvPicPr>
          <p:cNvPr id="30" name="Picture 29" descr="A long skinny worm with arrows&#10;&#10;Description automatically generated with medium confidence">
            <a:extLst>
              <a:ext uri="{FF2B5EF4-FFF2-40B4-BE49-F238E27FC236}">
                <a16:creationId xmlns:a16="http://schemas.microsoft.com/office/drawing/2014/main" id="{3D471D46-0B2B-2171-EFDD-D93FD1B80890}"/>
              </a:ext>
            </a:extLst>
          </p:cNvPr>
          <p:cNvPicPr>
            <a:picLocks noChangeAspect="1"/>
          </p:cNvPicPr>
          <p:nvPr/>
        </p:nvPicPr>
        <p:blipFill rotWithShape="1">
          <a:blip r:embed="rId5">
            <a:extLst>
              <a:ext uri="{28A0092B-C50C-407E-A947-70E740481C1C}">
                <a14:useLocalDpi xmlns:a14="http://schemas.microsoft.com/office/drawing/2010/main" val="0"/>
              </a:ext>
            </a:extLst>
          </a:blip>
          <a:srcRect l="12666" t="38227" r="3693" b="29320"/>
          <a:stretch/>
        </p:blipFill>
        <p:spPr>
          <a:xfrm>
            <a:off x="5462667" y="4859302"/>
            <a:ext cx="5776833" cy="1569014"/>
          </a:xfrm>
          <a:prstGeom prst="rect">
            <a:avLst/>
          </a:prstGeom>
        </p:spPr>
      </p:pic>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93E01B7-45DA-F673-2768-C09313E3F381}"/>
                  </a:ext>
                </a:extLst>
              </p:cNvPr>
              <p:cNvSpPr txBox="1"/>
              <p:nvPr/>
            </p:nvSpPr>
            <p:spPr>
              <a:xfrm>
                <a:off x="1298070" y="5178822"/>
                <a:ext cx="1936299" cy="424860"/>
              </a:xfrm>
              <a:prstGeom prst="rect">
                <a:avLst/>
              </a:prstGeom>
              <a:solidFill>
                <a:schemeClr val="accent6">
                  <a:lumMod val="20000"/>
                  <a:lumOff val="80000"/>
                </a:schemeClr>
              </a:solidFill>
              <a:ln w="28575">
                <a:solidFill>
                  <a:schemeClr val="accent6">
                    <a:lumMod val="75000"/>
                  </a:schemeClr>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000" i="1" smtClean="0">
                              <a:solidFill>
                                <a:schemeClr val="accent6">
                                  <a:lumMod val="75000"/>
                                </a:schemeClr>
                              </a:solidFill>
                              <a:latin typeface="Cambria Math" panose="02040503050406030204" pitchFamily="18" charset="0"/>
                            </a:rPr>
                          </m:ctrlPr>
                        </m:sSubSupPr>
                        <m:e>
                          <m:r>
                            <a:rPr lang="en-CA" sz="2000" b="0" i="1" smtClean="0">
                              <a:solidFill>
                                <a:schemeClr val="accent6">
                                  <a:lumMod val="75000"/>
                                </a:schemeClr>
                              </a:solidFill>
                              <a:latin typeface="Cambria Math" panose="02040503050406030204" pitchFamily="18" charset="0"/>
                            </a:rPr>
                            <m:t>𝑉</m:t>
                          </m:r>
                        </m:e>
                        <m:sub>
                          <m:r>
                            <a:rPr lang="en-CA" sz="2000" b="0" i="1" smtClean="0">
                              <a:solidFill>
                                <a:schemeClr val="accent6">
                                  <a:lumMod val="75000"/>
                                </a:schemeClr>
                              </a:solidFill>
                              <a:latin typeface="Cambria Math" panose="02040503050406030204" pitchFamily="18" charset="0"/>
                            </a:rPr>
                            <m:t>𝑏𝑖𝑜𝑚𝑎𝑠𝑠</m:t>
                          </m:r>
                        </m:sub>
                        <m:sup>
                          <m:r>
                            <a:rPr lang="en-CA" sz="2000" b="0" i="1" smtClean="0">
                              <a:solidFill>
                                <a:schemeClr val="accent6">
                                  <a:lumMod val="75000"/>
                                </a:schemeClr>
                              </a:solidFill>
                              <a:latin typeface="Cambria Math" panose="02040503050406030204" pitchFamily="18" charset="0"/>
                            </a:rPr>
                            <m:t>𝑘</m:t>
                          </m:r>
                        </m:sup>
                      </m:sSubSup>
                      <m:r>
                        <a:rPr lang="en-CA" sz="2000" b="0" i="1" smtClean="0">
                          <a:solidFill>
                            <a:schemeClr val="accent6">
                              <a:lumMod val="75000"/>
                            </a:schemeClr>
                          </a:solidFill>
                          <a:latin typeface="Cambria Math" panose="02040503050406030204" pitchFamily="18" charset="0"/>
                        </a:rPr>
                        <m:t>=</m:t>
                      </m:r>
                      <m:sSup>
                        <m:sSupPr>
                          <m:ctrlPr>
                            <a:rPr lang="en-CA" sz="2000" b="0" i="1" smtClean="0">
                              <a:solidFill>
                                <a:schemeClr val="accent6">
                                  <a:lumMod val="75000"/>
                                </a:schemeClr>
                              </a:solidFill>
                              <a:latin typeface="Cambria Math" panose="02040503050406030204" pitchFamily="18" charset="0"/>
                            </a:rPr>
                          </m:ctrlPr>
                        </m:sSupPr>
                        <m:e>
                          <m:r>
                            <a:rPr lang="en-CA" sz="2000" b="0" i="1" smtClean="0">
                              <a:solidFill>
                                <a:schemeClr val="accent6">
                                  <a:lumMod val="75000"/>
                                </a:schemeClr>
                              </a:solidFill>
                              <a:latin typeface="Cambria Math" panose="02040503050406030204" pitchFamily="18" charset="0"/>
                            </a:rPr>
                            <m:t>𝑋</m:t>
                          </m:r>
                        </m:e>
                        <m:sup>
                          <m:r>
                            <a:rPr lang="en-CA" sz="2000" b="0" i="1" smtClean="0">
                              <a:solidFill>
                                <a:schemeClr val="accent6">
                                  <a:lumMod val="75000"/>
                                </a:schemeClr>
                              </a:solidFill>
                              <a:latin typeface="Cambria Math" panose="02040503050406030204" pitchFamily="18" charset="0"/>
                            </a:rPr>
                            <m:t>𝑘</m:t>
                          </m:r>
                        </m:sup>
                      </m:sSup>
                      <m:r>
                        <a:rPr lang="en-CA" sz="2000" b="0" i="1" smtClean="0">
                          <a:solidFill>
                            <a:schemeClr val="accent6">
                              <a:lumMod val="75000"/>
                            </a:schemeClr>
                          </a:solidFill>
                          <a:latin typeface="Cambria Math" panose="02040503050406030204" pitchFamily="18" charset="0"/>
                          <a:ea typeface="Cambria Math" panose="02040503050406030204" pitchFamily="18" charset="0"/>
                        </a:rPr>
                        <m:t>𝜇</m:t>
                      </m:r>
                    </m:oMath>
                  </m:oMathPara>
                </a14:m>
                <a:endParaRPr lang="en-US" sz="2000" dirty="0">
                  <a:solidFill>
                    <a:schemeClr val="accent6">
                      <a:lumMod val="75000"/>
                    </a:schemeClr>
                  </a:solidFill>
                </a:endParaRPr>
              </a:p>
            </p:txBody>
          </p:sp>
        </mc:Choice>
        <mc:Fallback xmlns="">
          <p:sp>
            <p:nvSpPr>
              <p:cNvPr id="31" name="TextBox 30">
                <a:extLst>
                  <a:ext uri="{FF2B5EF4-FFF2-40B4-BE49-F238E27FC236}">
                    <a16:creationId xmlns:a16="http://schemas.microsoft.com/office/drawing/2014/main" id="{393E01B7-45DA-F673-2768-C09313E3F381}"/>
                  </a:ext>
                </a:extLst>
              </p:cNvPr>
              <p:cNvSpPr txBox="1">
                <a:spLocks noRot="1" noChangeAspect="1" noMove="1" noResize="1" noEditPoints="1" noAdjustHandles="1" noChangeArrowheads="1" noChangeShapeType="1" noTextEdit="1"/>
              </p:cNvSpPr>
              <p:nvPr/>
            </p:nvSpPr>
            <p:spPr>
              <a:xfrm>
                <a:off x="1298070" y="5178822"/>
                <a:ext cx="1936299" cy="424860"/>
              </a:xfrm>
              <a:prstGeom prst="rect">
                <a:avLst/>
              </a:prstGeom>
              <a:blipFill>
                <a:blip r:embed="rId6"/>
                <a:stretch>
                  <a:fillRect b="-2778"/>
                </a:stretch>
              </a:blipFill>
              <a:ln w="28575">
                <a:solidFill>
                  <a:schemeClr val="accent6">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13A0A12-77B7-C3C4-DBE9-5265E3130232}"/>
                  </a:ext>
                </a:extLst>
              </p:cNvPr>
              <p:cNvSpPr txBox="1"/>
              <p:nvPr/>
            </p:nvSpPr>
            <p:spPr>
              <a:xfrm>
                <a:off x="328834" y="5714602"/>
                <a:ext cx="3971152" cy="975139"/>
              </a:xfrm>
              <a:prstGeom prst="rect">
                <a:avLst/>
              </a:prstGeom>
              <a:noFill/>
            </p:spPr>
            <p:txBody>
              <a:bodyPr wrap="none" rtlCol="0">
                <a:spAutoFit/>
              </a:bodyPr>
              <a:lstStyle/>
              <a:p>
                <a:r>
                  <a:rPr lang="en-US" sz="1400" dirty="0">
                    <a:solidFill>
                      <a:schemeClr val="accent6">
                        <a:lumMod val="75000"/>
                      </a:schemeClr>
                    </a:solidFill>
                  </a:rPr>
                  <a:t>where,</a:t>
                </a:r>
              </a:p>
              <a:p>
                <a:r>
                  <a:rPr lang="en-US" sz="1400" dirty="0">
                    <a:solidFill>
                      <a:schemeClr val="accent6">
                        <a:lumMod val="75000"/>
                      </a:schemeClr>
                    </a:solidFill>
                  </a:rPr>
                  <a:t> </a:t>
                </a:r>
                <a14:m>
                  <m:oMath xmlns:m="http://schemas.openxmlformats.org/officeDocument/2006/math">
                    <m:sSubSup>
                      <m:sSubSupPr>
                        <m:ctrlPr>
                          <a:rPr lang="en-US" sz="1400" i="1" smtClean="0">
                            <a:solidFill>
                              <a:schemeClr val="accent6">
                                <a:lumMod val="75000"/>
                              </a:schemeClr>
                            </a:solidFill>
                            <a:latin typeface="Cambria Math" panose="02040503050406030204" pitchFamily="18" charset="0"/>
                          </a:rPr>
                        </m:ctrlPr>
                      </m:sSubSupPr>
                      <m:e>
                        <m:r>
                          <a:rPr lang="en-CA" sz="1400" b="0" i="1" smtClean="0">
                            <a:solidFill>
                              <a:schemeClr val="accent6">
                                <a:lumMod val="75000"/>
                              </a:schemeClr>
                            </a:solidFill>
                            <a:latin typeface="Cambria Math" panose="02040503050406030204" pitchFamily="18" charset="0"/>
                          </a:rPr>
                          <m:t>𝑉</m:t>
                        </m:r>
                      </m:e>
                      <m:sub>
                        <m:r>
                          <a:rPr lang="en-CA" sz="1400" b="0" i="1" smtClean="0">
                            <a:solidFill>
                              <a:schemeClr val="accent6">
                                <a:lumMod val="75000"/>
                              </a:schemeClr>
                            </a:solidFill>
                            <a:latin typeface="Cambria Math" panose="02040503050406030204" pitchFamily="18" charset="0"/>
                          </a:rPr>
                          <m:t>𝑏𝑖𝑜𝑚𝑎𝑠𝑠</m:t>
                        </m:r>
                      </m:sub>
                      <m:sup>
                        <m:r>
                          <a:rPr lang="en-CA" sz="1400" b="0" i="1" smtClean="0">
                            <a:solidFill>
                              <a:schemeClr val="accent6">
                                <a:lumMod val="75000"/>
                              </a:schemeClr>
                            </a:solidFill>
                            <a:latin typeface="Cambria Math" panose="02040503050406030204" pitchFamily="18" charset="0"/>
                          </a:rPr>
                          <m:t>𝑘</m:t>
                        </m:r>
                      </m:sup>
                    </m:sSubSup>
                  </m:oMath>
                </a14:m>
                <a:r>
                  <a:rPr lang="en-US" sz="1400" dirty="0">
                    <a:solidFill>
                      <a:schemeClr val="accent6">
                        <a:lumMod val="75000"/>
                      </a:schemeClr>
                    </a:solidFill>
                  </a:rPr>
                  <a:t> = aggregate biomass production in </a:t>
                </a:r>
                <a:r>
                  <a:rPr lang="en-US" sz="1400" dirty="0" err="1">
                    <a:solidFill>
                      <a:schemeClr val="accent6">
                        <a:lumMod val="75000"/>
                      </a:schemeClr>
                    </a:solidFill>
                  </a:rPr>
                  <a:t>gDW</a:t>
                </a:r>
                <a:r>
                  <a:rPr lang="en-US" sz="1400" dirty="0">
                    <a:solidFill>
                      <a:schemeClr val="accent6">
                        <a:lumMod val="75000"/>
                      </a:schemeClr>
                    </a:solidFill>
                  </a:rPr>
                  <a:t>/h</a:t>
                </a:r>
              </a:p>
              <a:p>
                <a14:m>
                  <m:oMath xmlns:m="http://schemas.openxmlformats.org/officeDocument/2006/math">
                    <m:sSup>
                      <m:sSupPr>
                        <m:ctrlPr>
                          <a:rPr lang="en-US" sz="1400" i="1" smtClean="0">
                            <a:solidFill>
                              <a:schemeClr val="accent6">
                                <a:lumMod val="75000"/>
                              </a:schemeClr>
                            </a:solidFill>
                            <a:latin typeface="Cambria Math" panose="02040503050406030204" pitchFamily="18" charset="0"/>
                            <a:ea typeface="Cambria Math" panose="02040503050406030204" pitchFamily="18" charset="0"/>
                          </a:rPr>
                        </m:ctrlPr>
                      </m:sSupPr>
                      <m:e>
                        <m:r>
                          <a:rPr lang="en-CA" sz="1400" b="0" i="1" smtClean="0">
                            <a:solidFill>
                              <a:schemeClr val="accent6">
                                <a:lumMod val="75000"/>
                              </a:schemeClr>
                            </a:solidFill>
                            <a:latin typeface="Cambria Math" panose="02040503050406030204" pitchFamily="18" charset="0"/>
                            <a:ea typeface="Cambria Math" panose="02040503050406030204" pitchFamily="18" charset="0"/>
                          </a:rPr>
                          <m:t>𝑋</m:t>
                        </m:r>
                      </m:e>
                      <m:sup>
                        <m:r>
                          <a:rPr lang="en-CA" sz="1400" b="0" i="1" smtClean="0">
                            <a:solidFill>
                              <a:schemeClr val="accent6">
                                <a:lumMod val="75000"/>
                              </a:schemeClr>
                            </a:solidFill>
                            <a:latin typeface="Cambria Math" panose="02040503050406030204" pitchFamily="18" charset="0"/>
                            <a:ea typeface="Cambria Math" panose="02040503050406030204" pitchFamily="18" charset="0"/>
                          </a:rPr>
                          <m:t>𝑘</m:t>
                        </m:r>
                      </m:sup>
                    </m:sSup>
                  </m:oMath>
                </a14:m>
                <a:r>
                  <a:rPr lang="en-US" sz="1400" dirty="0">
                    <a:solidFill>
                      <a:schemeClr val="accent6">
                        <a:lumMod val="75000"/>
                      </a:schemeClr>
                    </a:solidFill>
                  </a:rPr>
                  <a:t> = the biomass (in </a:t>
                </a:r>
                <a:r>
                  <a:rPr lang="en-US" sz="1400" dirty="0" err="1">
                    <a:solidFill>
                      <a:schemeClr val="accent6">
                        <a:lumMod val="75000"/>
                      </a:schemeClr>
                    </a:solidFill>
                  </a:rPr>
                  <a:t>gdw</a:t>
                </a:r>
                <a:r>
                  <a:rPr lang="en-US" sz="1400" dirty="0">
                    <a:solidFill>
                      <a:schemeClr val="accent6">
                        <a:lumMod val="75000"/>
                      </a:schemeClr>
                    </a:solidFill>
                  </a:rPr>
                  <a:t>) for organism </a:t>
                </a:r>
                <a:r>
                  <a:rPr lang="en-US" sz="1400" i="1" dirty="0">
                    <a:solidFill>
                      <a:schemeClr val="accent6">
                        <a:lumMod val="75000"/>
                      </a:schemeClr>
                    </a:solidFill>
                  </a:rPr>
                  <a:t>k</a:t>
                </a:r>
                <a:r>
                  <a:rPr lang="en-US" sz="1400" dirty="0">
                    <a:solidFill>
                      <a:schemeClr val="accent6">
                        <a:lumMod val="75000"/>
                      </a:schemeClr>
                    </a:solidFill>
                  </a:rPr>
                  <a:t> </a:t>
                </a:r>
                <a:endParaRPr lang="en-CA" sz="1400" b="0" i="1" dirty="0">
                  <a:solidFill>
                    <a:schemeClr val="accent6">
                      <a:lumMod val="75000"/>
                    </a:schemeClr>
                  </a:solidFill>
                  <a:latin typeface="Cambria Math" panose="02040503050406030204" pitchFamily="18" charset="0"/>
                  <a:ea typeface="Cambria Math" panose="02040503050406030204" pitchFamily="18" charset="0"/>
                </a:endParaRPr>
              </a:p>
              <a:p>
                <a14:m>
                  <m:oMath xmlns:m="http://schemas.openxmlformats.org/officeDocument/2006/math">
                    <m:r>
                      <a:rPr lang="en-CA" sz="1400" b="0" i="1" smtClean="0">
                        <a:solidFill>
                          <a:schemeClr val="accent6">
                            <a:lumMod val="75000"/>
                          </a:schemeClr>
                        </a:solidFill>
                        <a:latin typeface="Cambria Math" panose="02040503050406030204" pitchFamily="18" charset="0"/>
                        <a:ea typeface="Cambria Math" panose="02040503050406030204" pitchFamily="18" charset="0"/>
                      </a:rPr>
                      <m:t>𝜇</m:t>
                    </m:r>
                  </m:oMath>
                </a14:m>
                <a:r>
                  <a:rPr lang="en-US" sz="1400" dirty="0">
                    <a:solidFill>
                      <a:schemeClr val="accent6">
                        <a:lumMod val="75000"/>
                      </a:schemeClr>
                    </a:solidFill>
                  </a:rPr>
                  <a:t> = rate of peristalsis</a:t>
                </a:r>
              </a:p>
            </p:txBody>
          </p:sp>
        </mc:Choice>
        <mc:Fallback xmlns="">
          <p:sp>
            <p:nvSpPr>
              <p:cNvPr id="4" name="TextBox 3">
                <a:extLst>
                  <a:ext uri="{FF2B5EF4-FFF2-40B4-BE49-F238E27FC236}">
                    <a16:creationId xmlns:a16="http://schemas.microsoft.com/office/drawing/2014/main" id="{E13A0A12-77B7-C3C4-DBE9-5265E3130232}"/>
                  </a:ext>
                </a:extLst>
              </p:cNvPr>
              <p:cNvSpPr txBox="1">
                <a:spLocks noRot="1" noChangeAspect="1" noMove="1" noResize="1" noEditPoints="1" noAdjustHandles="1" noChangeArrowheads="1" noChangeShapeType="1" noTextEdit="1"/>
              </p:cNvSpPr>
              <p:nvPr/>
            </p:nvSpPr>
            <p:spPr>
              <a:xfrm>
                <a:off x="328834" y="5714602"/>
                <a:ext cx="3971152" cy="975139"/>
              </a:xfrm>
              <a:prstGeom prst="rect">
                <a:avLst/>
              </a:prstGeom>
              <a:blipFill>
                <a:blip r:embed="rId7"/>
                <a:stretch>
                  <a:fillRect l="-318" b="-6410"/>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97F2A038-906C-260C-E63C-BF860B1EA79A}"/>
              </a:ext>
            </a:extLst>
          </p:cNvPr>
          <p:cNvSpPr txBox="1"/>
          <p:nvPr/>
        </p:nvSpPr>
        <p:spPr>
          <a:xfrm>
            <a:off x="238195" y="1662033"/>
            <a:ext cx="4539576" cy="923330"/>
          </a:xfrm>
          <a:prstGeom prst="rect">
            <a:avLst/>
          </a:prstGeom>
          <a:noFill/>
        </p:spPr>
        <p:txBody>
          <a:bodyPr wrap="none" rtlCol="0">
            <a:spAutoFit/>
          </a:bodyPr>
          <a:lstStyle/>
          <a:p>
            <a:r>
              <a:rPr lang="en-US" b="1" dirty="0">
                <a:solidFill>
                  <a:schemeClr val="accent1">
                    <a:lumMod val="75000"/>
                  </a:schemeClr>
                </a:solidFill>
              </a:rPr>
              <a:t>Assumption 2: </a:t>
            </a:r>
            <a:r>
              <a:rPr lang="en-US" dirty="0">
                <a:solidFill>
                  <a:schemeClr val="accent1">
                    <a:lumMod val="75000"/>
                  </a:schemeClr>
                </a:solidFill>
              </a:rPr>
              <a:t>HDC1 is at steady state in mice.</a:t>
            </a:r>
          </a:p>
          <a:p>
            <a:endParaRPr lang="en-US" b="1" dirty="0">
              <a:solidFill>
                <a:schemeClr val="accent1">
                  <a:lumMod val="75000"/>
                </a:schemeClr>
              </a:solidFill>
            </a:endParaRPr>
          </a:p>
          <a:p>
            <a:endParaRPr lang="en-US" dirty="0">
              <a:solidFill>
                <a:schemeClr val="accent1">
                  <a:lumMod val="75000"/>
                </a:schemeClr>
              </a:solidFill>
            </a:endParaRPr>
          </a:p>
        </p:txBody>
      </p:sp>
      <p:sp>
        <p:nvSpPr>
          <p:cNvPr id="32" name="Title 31">
            <a:extLst>
              <a:ext uri="{FF2B5EF4-FFF2-40B4-BE49-F238E27FC236}">
                <a16:creationId xmlns:a16="http://schemas.microsoft.com/office/drawing/2014/main" id="{4C372A05-BAB2-3AD9-EED5-9C72AB706278}"/>
              </a:ext>
            </a:extLst>
          </p:cNvPr>
          <p:cNvSpPr>
            <a:spLocks noGrp="1"/>
          </p:cNvSpPr>
          <p:nvPr>
            <p:ph type="title"/>
          </p:nvPr>
        </p:nvSpPr>
        <p:spPr>
          <a:xfrm>
            <a:off x="238195" y="365125"/>
            <a:ext cx="11115605" cy="1127631"/>
          </a:xfrm>
        </p:spPr>
        <p:txBody>
          <a:bodyPr>
            <a:noAutofit/>
          </a:bodyPr>
          <a:lstStyle/>
          <a:p>
            <a:r>
              <a:rPr lang="en-US" sz="3600" b="1" dirty="0"/>
              <a:t>Community Metabolic Modelling and Validation Framework</a:t>
            </a:r>
            <a:endParaRPr lang="en-US" sz="3600" dirty="0"/>
          </a:p>
        </p:txBody>
      </p:sp>
    </p:spTree>
    <p:extLst>
      <p:ext uri="{BB962C8B-B14F-4D97-AF65-F5344CB8AC3E}">
        <p14:creationId xmlns:p14="http://schemas.microsoft.com/office/powerpoint/2010/main" val="919325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6" grpId="0"/>
      <p:bldP spid="31" grpId="0" animBg="1"/>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B26F9037-0502-BAFA-9266-F1C6A9BD2673}"/>
              </a:ext>
            </a:extLst>
          </p:cNvPr>
          <p:cNvSpPr txBox="1"/>
          <p:nvPr/>
        </p:nvSpPr>
        <p:spPr>
          <a:xfrm>
            <a:off x="326147" y="1996402"/>
            <a:ext cx="3530236" cy="1323439"/>
          </a:xfrm>
          <a:prstGeom prst="rect">
            <a:avLst/>
          </a:prstGeom>
          <a:noFill/>
        </p:spPr>
        <p:txBody>
          <a:bodyPr wrap="square" rtlCol="0">
            <a:spAutoFit/>
          </a:bodyPr>
          <a:lstStyle/>
          <a:p>
            <a:r>
              <a:rPr lang="en-US" sz="2000" dirty="0"/>
              <a:t>The overall flux of a metabolite out of an organism is proportional to its relative abundance in the community.</a:t>
            </a:r>
          </a:p>
        </p:txBody>
      </p:sp>
      <p:pic>
        <p:nvPicPr>
          <p:cNvPr id="27" name="Picture 26">
            <a:extLst>
              <a:ext uri="{FF2B5EF4-FFF2-40B4-BE49-F238E27FC236}">
                <a16:creationId xmlns:a16="http://schemas.microsoft.com/office/drawing/2014/main" id="{6AEC8355-27AE-EDE1-09B1-E5BF2F8418E1}"/>
              </a:ext>
            </a:extLst>
          </p:cNvPr>
          <p:cNvPicPr>
            <a:picLocks noChangeAspect="1"/>
          </p:cNvPicPr>
          <p:nvPr/>
        </p:nvPicPr>
        <p:blipFill rotWithShape="1">
          <a:blip r:embed="rId3">
            <a:extLst>
              <a:ext uri="{28A0092B-C50C-407E-A947-70E740481C1C}">
                <a14:useLocalDpi xmlns:a14="http://schemas.microsoft.com/office/drawing/2010/main" val="0"/>
              </a:ext>
            </a:extLst>
          </a:blip>
          <a:srcRect l="5035" t="13968" r="13408"/>
          <a:stretch/>
        </p:blipFill>
        <p:spPr>
          <a:xfrm>
            <a:off x="4679778" y="1756410"/>
            <a:ext cx="6676081" cy="4929628"/>
          </a:xfrm>
          <a:prstGeom prst="rect">
            <a:avLst/>
          </a:prstGeom>
        </p:spPr>
      </p:pic>
      <p:sp>
        <p:nvSpPr>
          <p:cNvPr id="28" name="TextBox 27">
            <a:extLst>
              <a:ext uri="{FF2B5EF4-FFF2-40B4-BE49-F238E27FC236}">
                <a16:creationId xmlns:a16="http://schemas.microsoft.com/office/drawing/2014/main" id="{D7E9FF66-26FC-4ADF-86A7-B55E213A2A62}"/>
              </a:ext>
            </a:extLst>
          </p:cNvPr>
          <p:cNvSpPr txBox="1"/>
          <p:nvPr/>
        </p:nvSpPr>
        <p:spPr>
          <a:xfrm>
            <a:off x="9862199" y="6259039"/>
            <a:ext cx="2148986" cy="338554"/>
          </a:xfrm>
          <a:prstGeom prst="rect">
            <a:avLst/>
          </a:prstGeom>
          <a:noFill/>
        </p:spPr>
        <p:txBody>
          <a:bodyPr wrap="none" rtlCol="0">
            <a:spAutoFit/>
          </a:bodyPr>
          <a:lstStyle/>
          <a:p>
            <a:r>
              <a:rPr lang="en-US" sz="1600" i="1" dirty="0"/>
              <a:t>Created with </a:t>
            </a:r>
            <a:r>
              <a:rPr lang="en-US" sz="1600" i="1" dirty="0" err="1"/>
              <a:t>BioRender</a:t>
            </a:r>
            <a:endParaRPr lang="en-US" sz="1600" i="1"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63C8117-3F90-BF7F-C429-FFA70FDC48C9}"/>
                  </a:ext>
                </a:extLst>
              </p:cNvPr>
              <p:cNvSpPr txBox="1"/>
              <p:nvPr/>
            </p:nvSpPr>
            <p:spPr>
              <a:xfrm>
                <a:off x="1071211" y="4253225"/>
                <a:ext cx="1471878" cy="459678"/>
              </a:xfrm>
              <a:prstGeom prst="rect">
                <a:avLst/>
              </a:prstGeom>
              <a:solidFill>
                <a:schemeClr val="accent6">
                  <a:lumMod val="20000"/>
                  <a:lumOff val="80000"/>
                </a:schemeClr>
              </a:solidFill>
              <a:ln w="28575">
                <a:solidFill>
                  <a:schemeClr val="accent6">
                    <a:lumMod val="75000"/>
                  </a:schemeClr>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2000" i="1" smtClean="0">
                              <a:solidFill>
                                <a:schemeClr val="accent6">
                                  <a:lumMod val="75000"/>
                                </a:schemeClr>
                              </a:solidFill>
                              <a:latin typeface="Cambria Math" panose="02040503050406030204" pitchFamily="18" charset="0"/>
                              <a:ea typeface="Cambria Math" panose="02040503050406030204" pitchFamily="18" charset="0"/>
                            </a:rPr>
                          </m:ctrlPr>
                        </m:sSubSupPr>
                        <m:e>
                          <m:r>
                            <a:rPr lang="en-CA" sz="2000" b="0" i="1" smtClean="0">
                              <a:solidFill>
                                <a:schemeClr val="accent6">
                                  <a:lumMod val="75000"/>
                                </a:schemeClr>
                              </a:solidFill>
                              <a:latin typeface="Cambria Math" panose="02040503050406030204" pitchFamily="18" charset="0"/>
                              <a:ea typeface="Cambria Math" panose="02040503050406030204" pitchFamily="18" charset="0"/>
                            </a:rPr>
                            <m:t>𝑉</m:t>
                          </m:r>
                        </m:e>
                        <m:sub>
                          <m:r>
                            <a:rPr lang="en-CA" sz="2000" b="0" i="1" smtClean="0">
                              <a:solidFill>
                                <a:schemeClr val="accent6">
                                  <a:lumMod val="75000"/>
                                </a:schemeClr>
                              </a:solidFill>
                              <a:latin typeface="Cambria Math" panose="02040503050406030204" pitchFamily="18" charset="0"/>
                              <a:ea typeface="Cambria Math" panose="02040503050406030204" pitchFamily="18" charset="0"/>
                            </a:rPr>
                            <m:t>𝑗</m:t>
                          </m:r>
                        </m:sub>
                        <m:sup>
                          <m:r>
                            <a:rPr lang="en-CA" sz="2000" b="0" i="1" smtClean="0">
                              <a:solidFill>
                                <a:schemeClr val="accent6">
                                  <a:lumMod val="75000"/>
                                </a:schemeClr>
                              </a:solidFill>
                              <a:latin typeface="Cambria Math" panose="02040503050406030204" pitchFamily="18" charset="0"/>
                              <a:ea typeface="Cambria Math" panose="02040503050406030204" pitchFamily="18" charset="0"/>
                            </a:rPr>
                            <m:t>𝑘</m:t>
                          </m:r>
                        </m:sup>
                      </m:sSubSup>
                      <m:r>
                        <a:rPr lang="en-CA" sz="2000" b="0" i="1" smtClean="0">
                          <a:solidFill>
                            <a:schemeClr val="accent6">
                              <a:lumMod val="75000"/>
                            </a:schemeClr>
                          </a:solidFill>
                          <a:latin typeface="Cambria Math" panose="02040503050406030204" pitchFamily="18" charset="0"/>
                          <a:ea typeface="Cambria Math" panose="02040503050406030204" pitchFamily="18" charset="0"/>
                        </a:rPr>
                        <m:t>=</m:t>
                      </m:r>
                      <m:sSup>
                        <m:sSupPr>
                          <m:ctrlPr>
                            <a:rPr lang="en-CA" sz="2000" b="0" i="1" smtClean="0">
                              <a:solidFill>
                                <a:schemeClr val="accent6">
                                  <a:lumMod val="75000"/>
                                </a:schemeClr>
                              </a:solidFill>
                              <a:latin typeface="Cambria Math" panose="02040503050406030204" pitchFamily="18" charset="0"/>
                              <a:ea typeface="Cambria Math" panose="02040503050406030204" pitchFamily="18" charset="0"/>
                            </a:rPr>
                          </m:ctrlPr>
                        </m:sSupPr>
                        <m:e>
                          <m:r>
                            <a:rPr lang="en-CA" sz="2000" b="0" i="1" smtClean="0">
                              <a:solidFill>
                                <a:schemeClr val="accent6">
                                  <a:lumMod val="75000"/>
                                </a:schemeClr>
                              </a:solidFill>
                              <a:latin typeface="Cambria Math" panose="02040503050406030204" pitchFamily="18" charset="0"/>
                              <a:ea typeface="Cambria Math" panose="02040503050406030204" pitchFamily="18" charset="0"/>
                            </a:rPr>
                            <m:t>𝑋</m:t>
                          </m:r>
                        </m:e>
                        <m:sup>
                          <m:r>
                            <a:rPr lang="en-CA" sz="2000" b="0" i="1" smtClean="0">
                              <a:solidFill>
                                <a:schemeClr val="accent6">
                                  <a:lumMod val="75000"/>
                                </a:schemeClr>
                              </a:solidFill>
                              <a:latin typeface="Cambria Math" panose="02040503050406030204" pitchFamily="18" charset="0"/>
                              <a:ea typeface="Cambria Math" panose="02040503050406030204" pitchFamily="18" charset="0"/>
                            </a:rPr>
                            <m:t>𝑘</m:t>
                          </m:r>
                        </m:sup>
                      </m:sSup>
                      <m:sSubSup>
                        <m:sSubSupPr>
                          <m:ctrlPr>
                            <a:rPr lang="en-CA" sz="2000" b="0" i="1" smtClean="0">
                              <a:solidFill>
                                <a:schemeClr val="accent6">
                                  <a:lumMod val="75000"/>
                                </a:schemeClr>
                              </a:solidFill>
                              <a:latin typeface="Cambria Math" panose="02040503050406030204" pitchFamily="18" charset="0"/>
                              <a:ea typeface="Cambria Math" panose="02040503050406030204" pitchFamily="18" charset="0"/>
                            </a:rPr>
                          </m:ctrlPr>
                        </m:sSubSupPr>
                        <m:e>
                          <m:r>
                            <a:rPr lang="en-CA" sz="2000" b="0" i="1" smtClean="0">
                              <a:solidFill>
                                <a:schemeClr val="accent6">
                                  <a:lumMod val="75000"/>
                                </a:schemeClr>
                              </a:solidFill>
                              <a:latin typeface="Cambria Math" panose="02040503050406030204" pitchFamily="18" charset="0"/>
                              <a:ea typeface="Cambria Math" panose="02040503050406030204" pitchFamily="18" charset="0"/>
                            </a:rPr>
                            <m:t>𝑣</m:t>
                          </m:r>
                        </m:e>
                        <m:sub>
                          <m:r>
                            <a:rPr lang="en-CA" sz="2000" b="0" i="1" smtClean="0">
                              <a:solidFill>
                                <a:schemeClr val="accent6">
                                  <a:lumMod val="75000"/>
                                </a:schemeClr>
                              </a:solidFill>
                              <a:latin typeface="Cambria Math" panose="02040503050406030204" pitchFamily="18" charset="0"/>
                              <a:ea typeface="Cambria Math" panose="02040503050406030204" pitchFamily="18" charset="0"/>
                            </a:rPr>
                            <m:t>𝑗</m:t>
                          </m:r>
                        </m:sub>
                        <m:sup>
                          <m:r>
                            <a:rPr lang="en-CA" sz="2000" b="0" i="1" smtClean="0">
                              <a:solidFill>
                                <a:schemeClr val="accent6">
                                  <a:lumMod val="75000"/>
                                </a:schemeClr>
                              </a:solidFill>
                              <a:latin typeface="Cambria Math" panose="02040503050406030204" pitchFamily="18" charset="0"/>
                              <a:ea typeface="Cambria Math" panose="02040503050406030204" pitchFamily="18" charset="0"/>
                            </a:rPr>
                            <m:t>𝑘</m:t>
                          </m:r>
                        </m:sup>
                      </m:sSubSup>
                    </m:oMath>
                  </m:oMathPara>
                </a14:m>
                <a:endParaRPr lang="en-US" sz="2000" dirty="0">
                  <a:solidFill>
                    <a:schemeClr val="accent6">
                      <a:lumMod val="75000"/>
                    </a:schemeClr>
                  </a:solidFill>
                  <a:latin typeface="Cambria Math" panose="02040503050406030204" pitchFamily="18" charset="0"/>
                  <a:ea typeface="Cambria Math" panose="02040503050406030204" pitchFamily="18" charset="0"/>
                </a:endParaRPr>
              </a:p>
            </p:txBody>
          </p:sp>
        </mc:Choice>
        <mc:Fallback xmlns="">
          <p:sp>
            <p:nvSpPr>
              <p:cNvPr id="29" name="TextBox 28">
                <a:extLst>
                  <a:ext uri="{FF2B5EF4-FFF2-40B4-BE49-F238E27FC236}">
                    <a16:creationId xmlns:a16="http://schemas.microsoft.com/office/drawing/2014/main" id="{363C8117-3F90-BF7F-C429-FFA70FDC48C9}"/>
                  </a:ext>
                </a:extLst>
              </p:cNvPr>
              <p:cNvSpPr txBox="1">
                <a:spLocks noRot="1" noChangeAspect="1" noMove="1" noResize="1" noEditPoints="1" noAdjustHandles="1" noChangeArrowheads="1" noChangeShapeType="1" noTextEdit="1"/>
              </p:cNvSpPr>
              <p:nvPr/>
            </p:nvSpPr>
            <p:spPr>
              <a:xfrm>
                <a:off x="1071211" y="4253225"/>
                <a:ext cx="1471878" cy="459678"/>
              </a:xfrm>
              <a:prstGeom prst="rect">
                <a:avLst/>
              </a:prstGeom>
              <a:blipFill>
                <a:blip r:embed="rId4"/>
                <a:stretch>
                  <a:fillRect b="-5128"/>
                </a:stretch>
              </a:blipFill>
              <a:ln w="28575">
                <a:solidFill>
                  <a:schemeClr val="accent6">
                    <a:lumMod val="7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79D4B9D-A6D5-7A1F-AABF-F225C640811F}"/>
                  </a:ext>
                </a:extLst>
              </p:cNvPr>
              <p:cNvSpPr txBox="1"/>
              <p:nvPr/>
            </p:nvSpPr>
            <p:spPr>
              <a:xfrm>
                <a:off x="326147" y="4802065"/>
                <a:ext cx="4457888" cy="1687450"/>
              </a:xfrm>
              <a:prstGeom prst="rect">
                <a:avLst/>
              </a:prstGeom>
              <a:noFill/>
            </p:spPr>
            <p:txBody>
              <a:bodyPr wrap="square" rtlCol="0">
                <a:spAutoFit/>
              </a:bodyPr>
              <a:lstStyle/>
              <a:p>
                <a:r>
                  <a:rPr lang="en-US" sz="1400" dirty="0">
                    <a:solidFill>
                      <a:schemeClr val="accent6">
                        <a:lumMod val="75000"/>
                      </a:schemeClr>
                    </a:solidFill>
                  </a:rPr>
                  <a:t>where,</a:t>
                </a:r>
              </a:p>
              <a:p>
                <a14:m>
                  <m:oMath xmlns:m="http://schemas.openxmlformats.org/officeDocument/2006/math">
                    <m:sSubSup>
                      <m:sSubSupPr>
                        <m:ctrlPr>
                          <a:rPr lang="en-US" sz="1400" i="1" smtClean="0">
                            <a:solidFill>
                              <a:schemeClr val="accent6">
                                <a:lumMod val="75000"/>
                              </a:schemeClr>
                            </a:solidFill>
                            <a:latin typeface="Cambria Math" panose="02040503050406030204" pitchFamily="18" charset="0"/>
                          </a:rPr>
                        </m:ctrlPr>
                      </m:sSubSupPr>
                      <m:e>
                        <m:r>
                          <a:rPr lang="en-CA" sz="1400" b="0" i="1" smtClean="0">
                            <a:solidFill>
                              <a:schemeClr val="accent6">
                                <a:lumMod val="75000"/>
                              </a:schemeClr>
                            </a:solidFill>
                            <a:latin typeface="Cambria Math" panose="02040503050406030204" pitchFamily="18" charset="0"/>
                          </a:rPr>
                          <m:t>𝑉</m:t>
                        </m:r>
                      </m:e>
                      <m:sub>
                        <m:r>
                          <a:rPr lang="en-CA" sz="1400" b="0" i="1" smtClean="0">
                            <a:solidFill>
                              <a:schemeClr val="accent6">
                                <a:lumMod val="75000"/>
                              </a:schemeClr>
                            </a:solidFill>
                            <a:latin typeface="Cambria Math" panose="02040503050406030204" pitchFamily="18" charset="0"/>
                          </a:rPr>
                          <m:t>𝑗</m:t>
                        </m:r>
                      </m:sub>
                      <m:sup>
                        <m:r>
                          <a:rPr lang="en-CA" sz="1400" b="0" i="1" smtClean="0">
                            <a:solidFill>
                              <a:schemeClr val="accent6">
                                <a:lumMod val="75000"/>
                              </a:schemeClr>
                            </a:solidFill>
                            <a:latin typeface="Cambria Math" panose="02040503050406030204" pitchFamily="18" charset="0"/>
                          </a:rPr>
                          <m:t>𝑘</m:t>
                        </m:r>
                      </m:sup>
                    </m:sSubSup>
                  </m:oMath>
                </a14:m>
                <a:r>
                  <a:rPr lang="en-US" sz="1400" dirty="0">
                    <a:solidFill>
                      <a:schemeClr val="accent6">
                        <a:lumMod val="75000"/>
                      </a:schemeClr>
                    </a:solidFill>
                  </a:rPr>
                  <a:t> = aggregate flux; has units of mmol/h and represents the collective flux of reaction</a:t>
                </a:r>
                <a:r>
                  <a:rPr lang="en-US" sz="1400" i="1" dirty="0">
                    <a:solidFill>
                      <a:schemeClr val="accent6">
                        <a:lumMod val="75000"/>
                      </a:schemeClr>
                    </a:solidFill>
                  </a:rPr>
                  <a:t> j </a:t>
                </a:r>
                <a:r>
                  <a:rPr lang="en-US" sz="1400" dirty="0">
                    <a:solidFill>
                      <a:schemeClr val="accent6">
                        <a:lumMod val="75000"/>
                      </a:schemeClr>
                    </a:solidFill>
                  </a:rPr>
                  <a:t>through the entire population of organism </a:t>
                </a:r>
                <a:r>
                  <a:rPr lang="en-US" sz="1400" i="1" dirty="0">
                    <a:solidFill>
                      <a:schemeClr val="accent6">
                        <a:lumMod val="75000"/>
                      </a:schemeClr>
                    </a:solidFill>
                  </a:rPr>
                  <a:t>k</a:t>
                </a:r>
              </a:p>
              <a:p>
                <a14:m>
                  <m:oMath xmlns:m="http://schemas.openxmlformats.org/officeDocument/2006/math">
                    <m:sSubSup>
                      <m:sSubSupPr>
                        <m:ctrlPr>
                          <a:rPr lang="en-US" sz="1400" i="1" smtClean="0">
                            <a:solidFill>
                              <a:schemeClr val="accent6">
                                <a:lumMod val="75000"/>
                              </a:schemeClr>
                            </a:solidFill>
                            <a:latin typeface="Cambria Math" panose="02040503050406030204" pitchFamily="18" charset="0"/>
                          </a:rPr>
                        </m:ctrlPr>
                      </m:sSubSupPr>
                      <m:e>
                        <m:r>
                          <a:rPr lang="en-CA" sz="1400" b="0" i="1" smtClean="0">
                            <a:solidFill>
                              <a:schemeClr val="accent6">
                                <a:lumMod val="75000"/>
                              </a:schemeClr>
                            </a:solidFill>
                            <a:latin typeface="Cambria Math" panose="02040503050406030204" pitchFamily="18" charset="0"/>
                          </a:rPr>
                          <m:t>𝑣</m:t>
                        </m:r>
                      </m:e>
                      <m:sub>
                        <m:r>
                          <a:rPr lang="en-CA" sz="1400" b="0" i="1" smtClean="0">
                            <a:solidFill>
                              <a:schemeClr val="accent6">
                                <a:lumMod val="75000"/>
                              </a:schemeClr>
                            </a:solidFill>
                            <a:latin typeface="Cambria Math" panose="02040503050406030204" pitchFamily="18" charset="0"/>
                          </a:rPr>
                          <m:t>𝑗</m:t>
                        </m:r>
                      </m:sub>
                      <m:sup>
                        <m:r>
                          <a:rPr lang="en-CA" sz="1400" b="0" i="1" smtClean="0">
                            <a:solidFill>
                              <a:schemeClr val="accent6">
                                <a:lumMod val="75000"/>
                              </a:schemeClr>
                            </a:solidFill>
                            <a:latin typeface="Cambria Math" panose="02040503050406030204" pitchFamily="18" charset="0"/>
                          </a:rPr>
                          <m:t>𝑘</m:t>
                        </m:r>
                      </m:sup>
                    </m:sSubSup>
                  </m:oMath>
                </a14:m>
                <a:r>
                  <a:rPr lang="en-US" sz="1400" dirty="0">
                    <a:solidFill>
                      <a:schemeClr val="accent6">
                        <a:lumMod val="75000"/>
                      </a:schemeClr>
                    </a:solidFill>
                  </a:rPr>
                  <a:t> = reaction flux of reaction</a:t>
                </a:r>
                <a:r>
                  <a:rPr lang="en-US" sz="1400" i="1" dirty="0">
                    <a:solidFill>
                      <a:schemeClr val="accent6">
                        <a:lumMod val="75000"/>
                      </a:schemeClr>
                    </a:solidFill>
                  </a:rPr>
                  <a:t> j </a:t>
                </a:r>
                <a:r>
                  <a:rPr lang="en-US" sz="1400" dirty="0">
                    <a:solidFill>
                      <a:schemeClr val="accent6">
                        <a:lumMod val="75000"/>
                      </a:schemeClr>
                    </a:solidFill>
                  </a:rPr>
                  <a:t>for organism k normalized by the biomass of organism</a:t>
                </a:r>
                <a:r>
                  <a:rPr lang="en-US" sz="1400" i="1" dirty="0">
                    <a:solidFill>
                      <a:schemeClr val="accent6">
                        <a:lumMod val="75000"/>
                      </a:schemeClr>
                    </a:solidFill>
                  </a:rPr>
                  <a:t> k</a:t>
                </a:r>
                <a:r>
                  <a:rPr lang="en-US" sz="1400" dirty="0">
                    <a:solidFill>
                      <a:schemeClr val="accent6">
                        <a:lumMod val="75000"/>
                      </a:schemeClr>
                    </a:solidFill>
                  </a:rPr>
                  <a:t> (in mmol/</a:t>
                </a:r>
                <a:r>
                  <a:rPr lang="en-US" sz="1400" dirty="0" err="1">
                    <a:solidFill>
                      <a:schemeClr val="accent6">
                        <a:lumMod val="75000"/>
                      </a:schemeClr>
                    </a:solidFill>
                  </a:rPr>
                  <a:t>gDW</a:t>
                </a:r>
                <a:r>
                  <a:rPr lang="en-US" sz="1400" dirty="0">
                    <a:solidFill>
                      <a:schemeClr val="accent6">
                        <a:lumMod val="75000"/>
                      </a:schemeClr>
                    </a:solidFill>
                  </a:rPr>
                  <a:t>/h)</a:t>
                </a:r>
              </a:p>
              <a:p>
                <a14:m>
                  <m:oMath xmlns:m="http://schemas.openxmlformats.org/officeDocument/2006/math">
                    <m:sSup>
                      <m:sSupPr>
                        <m:ctrlPr>
                          <a:rPr lang="en-US" sz="1400" i="1" smtClean="0">
                            <a:solidFill>
                              <a:schemeClr val="accent6">
                                <a:lumMod val="75000"/>
                              </a:schemeClr>
                            </a:solidFill>
                            <a:latin typeface="Cambria Math" panose="02040503050406030204" pitchFamily="18" charset="0"/>
                            <a:ea typeface="Cambria Math" panose="02040503050406030204" pitchFamily="18" charset="0"/>
                          </a:rPr>
                        </m:ctrlPr>
                      </m:sSupPr>
                      <m:e>
                        <m:r>
                          <a:rPr lang="en-CA" sz="1400" b="0" i="1" smtClean="0">
                            <a:solidFill>
                              <a:schemeClr val="accent6">
                                <a:lumMod val="75000"/>
                              </a:schemeClr>
                            </a:solidFill>
                            <a:latin typeface="Cambria Math" panose="02040503050406030204" pitchFamily="18" charset="0"/>
                            <a:ea typeface="Cambria Math" panose="02040503050406030204" pitchFamily="18" charset="0"/>
                          </a:rPr>
                          <m:t>𝑋</m:t>
                        </m:r>
                      </m:e>
                      <m:sup>
                        <m:r>
                          <a:rPr lang="en-CA" sz="1400" b="0" i="1" smtClean="0">
                            <a:solidFill>
                              <a:schemeClr val="accent6">
                                <a:lumMod val="75000"/>
                              </a:schemeClr>
                            </a:solidFill>
                            <a:latin typeface="Cambria Math" panose="02040503050406030204" pitchFamily="18" charset="0"/>
                            <a:ea typeface="Cambria Math" panose="02040503050406030204" pitchFamily="18" charset="0"/>
                          </a:rPr>
                          <m:t>𝑘</m:t>
                        </m:r>
                      </m:sup>
                    </m:sSup>
                  </m:oMath>
                </a14:m>
                <a:r>
                  <a:rPr lang="en-US" sz="1400" dirty="0">
                    <a:solidFill>
                      <a:schemeClr val="accent6">
                        <a:lumMod val="75000"/>
                      </a:schemeClr>
                    </a:solidFill>
                  </a:rPr>
                  <a:t> = the biomass (in </a:t>
                </a:r>
                <a:r>
                  <a:rPr lang="en-US" sz="1400" dirty="0" err="1">
                    <a:solidFill>
                      <a:schemeClr val="accent6">
                        <a:lumMod val="75000"/>
                      </a:schemeClr>
                    </a:solidFill>
                  </a:rPr>
                  <a:t>gDW</a:t>
                </a:r>
                <a:r>
                  <a:rPr lang="en-US" sz="1400" dirty="0">
                    <a:solidFill>
                      <a:schemeClr val="accent6">
                        <a:lumMod val="75000"/>
                      </a:schemeClr>
                    </a:solidFill>
                  </a:rPr>
                  <a:t>) for organism </a:t>
                </a:r>
                <a:r>
                  <a:rPr lang="en-US" sz="1400" i="1" dirty="0">
                    <a:solidFill>
                      <a:schemeClr val="accent6">
                        <a:lumMod val="75000"/>
                      </a:schemeClr>
                    </a:solidFill>
                  </a:rPr>
                  <a:t>k</a:t>
                </a:r>
                <a:endParaRPr lang="en-CA" sz="1400" b="0" i="1" dirty="0">
                  <a:solidFill>
                    <a:schemeClr val="accent6">
                      <a:lumMod val="75000"/>
                    </a:schemeClr>
                  </a:solidFill>
                  <a:latin typeface="Cambria Math" panose="02040503050406030204" pitchFamily="18" charset="0"/>
                  <a:ea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679D4B9D-A6D5-7A1F-AABF-F225C640811F}"/>
                  </a:ext>
                </a:extLst>
              </p:cNvPr>
              <p:cNvSpPr txBox="1">
                <a:spLocks noRot="1" noChangeAspect="1" noMove="1" noResize="1" noEditPoints="1" noAdjustHandles="1" noChangeArrowheads="1" noChangeShapeType="1" noTextEdit="1"/>
              </p:cNvSpPr>
              <p:nvPr/>
            </p:nvSpPr>
            <p:spPr>
              <a:xfrm>
                <a:off x="326147" y="4802065"/>
                <a:ext cx="4457888" cy="1687450"/>
              </a:xfrm>
              <a:prstGeom prst="rect">
                <a:avLst/>
              </a:prstGeom>
              <a:blipFill>
                <a:blip r:embed="rId5"/>
                <a:stretch>
                  <a:fillRect l="-284" t="-746" b="-2985"/>
                </a:stretch>
              </a:blipFill>
            </p:spPr>
            <p:txBody>
              <a:bodyPr/>
              <a:lstStyle/>
              <a:p>
                <a:r>
                  <a:rPr lang="en-US">
                    <a:noFill/>
                  </a:rPr>
                  <a:t> </a:t>
                </a:r>
              </a:p>
            </p:txBody>
          </p:sp>
        </mc:Fallback>
      </mc:AlternateContent>
      <p:sp>
        <p:nvSpPr>
          <p:cNvPr id="9" name="Title 31">
            <a:extLst>
              <a:ext uri="{FF2B5EF4-FFF2-40B4-BE49-F238E27FC236}">
                <a16:creationId xmlns:a16="http://schemas.microsoft.com/office/drawing/2014/main" id="{C69429FE-3B7D-EC41-2C11-4A9EE67086B2}"/>
              </a:ext>
            </a:extLst>
          </p:cNvPr>
          <p:cNvSpPr>
            <a:spLocks noGrp="1"/>
          </p:cNvSpPr>
          <p:nvPr>
            <p:ph type="title"/>
          </p:nvPr>
        </p:nvSpPr>
        <p:spPr>
          <a:xfrm>
            <a:off x="238195" y="365125"/>
            <a:ext cx="11115605" cy="1127631"/>
          </a:xfrm>
        </p:spPr>
        <p:txBody>
          <a:bodyPr>
            <a:noAutofit/>
          </a:bodyPr>
          <a:lstStyle/>
          <a:p>
            <a:r>
              <a:rPr lang="en-US" sz="3600" b="1" dirty="0"/>
              <a:t>Community Metabolic Modelling and Validation Framework</a:t>
            </a:r>
            <a:endParaRPr lang="en-US" sz="3600" dirty="0"/>
          </a:p>
        </p:txBody>
      </p:sp>
    </p:spTree>
    <p:extLst>
      <p:ext uri="{BB962C8B-B14F-4D97-AF65-F5344CB8AC3E}">
        <p14:creationId xmlns:p14="http://schemas.microsoft.com/office/powerpoint/2010/main" val="4009577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09103-E644-B4E8-BC63-6AB2AD63D9CD}"/>
              </a:ext>
            </a:extLst>
          </p:cNvPr>
          <p:cNvSpPr>
            <a:spLocks noGrp="1"/>
          </p:cNvSpPr>
          <p:nvPr>
            <p:ph type="title"/>
          </p:nvPr>
        </p:nvSpPr>
        <p:spPr>
          <a:xfrm>
            <a:off x="321072" y="99339"/>
            <a:ext cx="10515600" cy="886095"/>
          </a:xfrm>
        </p:spPr>
        <p:txBody>
          <a:bodyPr/>
          <a:lstStyle/>
          <a:p>
            <a:r>
              <a:rPr lang="en-US" b="1" dirty="0"/>
              <a:t>Adapted </a:t>
            </a:r>
            <a:r>
              <a:rPr lang="en-US" b="1" dirty="0" err="1"/>
              <a:t>SteadyCom</a:t>
            </a:r>
            <a:r>
              <a:rPr lang="en-US" b="1" dirty="0"/>
              <a:t> Formulation</a:t>
            </a:r>
          </a:p>
        </p:txBody>
      </p:sp>
      <p:grpSp>
        <p:nvGrpSpPr>
          <p:cNvPr id="18" name="Group 17">
            <a:extLst>
              <a:ext uri="{FF2B5EF4-FFF2-40B4-BE49-F238E27FC236}">
                <a16:creationId xmlns:a16="http://schemas.microsoft.com/office/drawing/2014/main" id="{8402EDDD-FC04-05EC-E633-B1ADF61DEEA8}"/>
              </a:ext>
            </a:extLst>
          </p:cNvPr>
          <p:cNvGrpSpPr/>
          <p:nvPr/>
        </p:nvGrpSpPr>
        <p:grpSpPr>
          <a:xfrm>
            <a:off x="321072" y="972840"/>
            <a:ext cx="5689970" cy="5428023"/>
            <a:chOff x="321072" y="972840"/>
            <a:chExt cx="5689970" cy="5428023"/>
          </a:xfrm>
        </p:grpSpPr>
        <p:grpSp>
          <p:nvGrpSpPr>
            <p:cNvPr id="31" name="Group 30">
              <a:extLst>
                <a:ext uri="{FF2B5EF4-FFF2-40B4-BE49-F238E27FC236}">
                  <a16:creationId xmlns:a16="http://schemas.microsoft.com/office/drawing/2014/main" id="{5FA4409F-11BC-94B7-A28E-9D5AAC68A8CF}"/>
                </a:ext>
              </a:extLst>
            </p:cNvPr>
            <p:cNvGrpSpPr/>
            <p:nvPr/>
          </p:nvGrpSpPr>
          <p:grpSpPr>
            <a:xfrm>
              <a:off x="321072" y="972840"/>
              <a:ext cx="5689970" cy="5428023"/>
              <a:chOff x="257490" y="466979"/>
              <a:chExt cx="5689970" cy="5428023"/>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81935BA-F004-4C0F-C563-4B1413797EDE}"/>
                      </a:ext>
                    </a:extLst>
                  </p:cNvPr>
                  <p:cNvSpPr txBox="1"/>
                  <p:nvPr/>
                </p:nvSpPr>
                <p:spPr>
                  <a:xfrm>
                    <a:off x="2062312" y="1746719"/>
                    <a:ext cx="1259767" cy="6592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1400" i="1" smtClean="0">
                                  <a:latin typeface="Cambria Math" panose="02040503050406030204" pitchFamily="18" charset="0"/>
                                </a:rPr>
                              </m:ctrlPr>
                            </m:naryPr>
                            <m:sub>
                              <m:r>
                                <m:rPr>
                                  <m:brk m:alnAt="7"/>
                                </m:rPr>
                                <a:rPr lang="en-CA" sz="1400" b="0" i="1" smtClean="0">
                                  <a:latin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𝜖</m:t>
                              </m:r>
                              <m:sSup>
                                <m:sSupPr>
                                  <m:ctrlPr>
                                    <a:rPr lang="en-CA" sz="1400" i="1" smtClean="0">
                                      <a:latin typeface="Cambria Math" panose="02040503050406030204" pitchFamily="18" charset="0"/>
                                      <a:ea typeface="Cambria Math" panose="02040503050406030204" pitchFamily="18" charset="0"/>
                                    </a:rPr>
                                  </m:ctrlPr>
                                </m:sSupPr>
                                <m:e>
                                  <m:r>
                                    <m:rPr>
                                      <m:sty m:val="p"/>
                                    </m:rPr>
                                    <a:rPr lang="en-CA" sz="1400" b="0" i="0" smtClean="0">
                                      <a:latin typeface="Cambria Math" panose="02040503050406030204" pitchFamily="18" charset="0"/>
                                      <a:ea typeface="Cambria Math" panose="02040503050406030204" pitchFamily="18" charset="0"/>
                                    </a:rPr>
                                    <m:t>J</m:t>
                                  </m:r>
                                </m:e>
                                <m:sup>
                                  <m:r>
                                    <m:rPr>
                                      <m:sty m:val="p"/>
                                    </m:rPr>
                                    <a:rPr lang="en-CA" sz="1400" b="0" i="0" smtClean="0">
                                      <a:latin typeface="Cambria Math" panose="02040503050406030204" pitchFamily="18" charset="0"/>
                                      <a:ea typeface="Cambria Math" panose="02040503050406030204" pitchFamily="18" charset="0"/>
                                    </a:rPr>
                                    <m:t>k</m:t>
                                  </m:r>
                                </m:sup>
                              </m:sSup>
                            </m:sub>
                            <m:sup/>
                            <m:e>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𝑆</m:t>
                                  </m:r>
                                </m:e>
                                <m:sub>
                                  <m:r>
                                    <a:rPr lang="en-CA" sz="1400" b="0" i="1" smtClean="0">
                                      <a:latin typeface="Cambria Math" panose="02040503050406030204" pitchFamily="18" charset="0"/>
                                    </a:rPr>
                                    <m:t>𝑖𝑗</m:t>
                                  </m:r>
                                </m:sub>
                                <m:sup>
                                  <m:r>
                                    <a:rPr lang="en-CA" sz="1400" b="0" i="1" smtClean="0">
                                      <a:latin typeface="Cambria Math" panose="02040503050406030204" pitchFamily="18" charset="0"/>
                                    </a:rPr>
                                    <m:t>𝑘</m:t>
                                  </m:r>
                                </m:sup>
                              </m:sSubSup>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𝑗</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=0</m:t>
                              </m:r>
                            </m:e>
                          </m:nary>
                        </m:oMath>
                      </m:oMathPara>
                    </a14:m>
                    <a:endParaRPr lang="en-US" sz="1400" dirty="0"/>
                  </a:p>
                </p:txBody>
              </p:sp>
            </mc:Choice>
            <mc:Fallback xmlns="">
              <p:sp>
                <p:nvSpPr>
                  <p:cNvPr id="4" name="TextBox 3">
                    <a:extLst>
                      <a:ext uri="{FF2B5EF4-FFF2-40B4-BE49-F238E27FC236}">
                        <a16:creationId xmlns:a16="http://schemas.microsoft.com/office/drawing/2014/main" id="{D81935BA-F004-4C0F-C563-4B1413797EDE}"/>
                      </a:ext>
                    </a:extLst>
                  </p:cNvPr>
                  <p:cNvSpPr txBox="1">
                    <a:spLocks noRot="1" noChangeAspect="1" noMove="1" noResize="1" noEditPoints="1" noAdjustHandles="1" noChangeArrowheads="1" noChangeShapeType="1" noTextEdit="1"/>
                  </p:cNvSpPr>
                  <p:nvPr/>
                </p:nvSpPr>
                <p:spPr>
                  <a:xfrm>
                    <a:off x="2062312" y="1746719"/>
                    <a:ext cx="1259767" cy="659283"/>
                  </a:xfrm>
                  <a:prstGeom prst="rect">
                    <a:avLst/>
                  </a:prstGeom>
                  <a:blipFill>
                    <a:blip r:embed="rId3"/>
                    <a:stretch>
                      <a:fillRect l="-44000" t="-109434" b="-1509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7D62AD9-5B0A-61C2-9105-08BD2E202775}"/>
                      </a:ext>
                    </a:extLst>
                  </p:cNvPr>
                  <p:cNvSpPr txBox="1"/>
                  <p:nvPr/>
                </p:nvSpPr>
                <p:spPr>
                  <a:xfrm>
                    <a:off x="4179169" y="1841489"/>
                    <a:ext cx="773610" cy="3115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𝑘</m:t>
                              </m:r>
                            </m:sup>
                          </m:sSup>
                        </m:oMath>
                      </m:oMathPara>
                    </a14:m>
                    <a:endParaRPr lang="en-US" sz="1400" dirty="0"/>
                  </a:p>
                </p:txBody>
              </p:sp>
            </mc:Choice>
            <mc:Fallback xmlns="">
              <p:sp>
                <p:nvSpPr>
                  <p:cNvPr id="5" name="TextBox 4">
                    <a:extLst>
                      <a:ext uri="{FF2B5EF4-FFF2-40B4-BE49-F238E27FC236}">
                        <a16:creationId xmlns:a16="http://schemas.microsoft.com/office/drawing/2014/main" id="{A7D62AD9-5B0A-61C2-9105-08BD2E202775}"/>
                      </a:ext>
                    </a:extLst>
                  </p:cNvPr>
                  <p:cNvSpPr txBox="1">
                    <a:spLocks noRot="1" noChangeAspect="1" noMove="1" noResize="1" noEditPoints="1" noAdjustHandles="1" noChangeArrowheads="1" noChangeShapeType="1" noTextEdit="1"/>
                  </p:cNvSpPr>
                  <p:nvPr/>
                </p:nvSpPr>
                <p:spPr>
                  <a:xfrm>
                    <a:off x="4179169" y="1841489"/>
                    <a:ext cx="773610" cy="31156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F45E541-CF29-8515-4AC5-1DEAA563AD59}"/>
                      </a:ext>
                    </a:extLst>
                  </p:cNvPr>
                  <p:cNvSpPr txBox="1"/>
                  <p:nvPr/>
                </p:nvSpPr>
                <p:spPr>
                  <a:xfrm>
                    <a:off x="1800722" y="2570010"/>
                    <a:ext cx="1982594" cy="349391"/>
                  </a:xfrm>
                  <a:prstGeom prst="rect">
                    <a:avLst/>
                  </a:prstGeom>
                  <a:noFill/>
                </p:spPr>
                <p:txBody>
                  <a:bodyPr wrap="none" rtlCol="0">
                    <a:spAutoFit/>
                  </a:bodyPr>
                  <a:lstStyle/>
                  <a:p>
                    <a14:m>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𝐿𝐵</m:t>
                            </m:r>
                          </m:e>
                          <m:sub>
                            <m:r>
                              <a:rPr lang="en-CA" sz="1400" b="0" i="1" smtClean="0">
                                <a:latin typeface="Cambria Math" panose="02040503050406030204" pitchFamily="18" charset="0"/>
                              </a:rPr>
                              <m:t>𝑗</m:t>
                            </m:r>
                          </m:sub>
                          <m:sup>
                            <m:r>
                              <a:rPr lang="en-CA" sz="1400" b="0" i="1" smtClean="0">
                                <a:latin typeface="Cambria Math" panose="02040503050406030204" pitchFamily="18" charset="0"/>
                              </a:rPr>
                              <m:t>𝑘</m:t>
                            </m:r>
                          </m:sup>
                        </m:sSubSup>
                        <m:sSup>
                          <m:sSupPr>
                            <m:ctrlPr>
                              <a:rPr lang="en-US" sz="140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US" sz="1400" i="1" smtClean="0">
                            <a:latin typeface="Cambria Math" panose="02040503050406030204" pitchFamily="18" charset="0"/>
                            <a:ea typeface="Cambria Math" panose="02040503050406030204" pitchFamily="18" charset="0"/>
                          </a:rPr>
                          <m:t>≤</m:t>
                        </m:r>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𝑉</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r>
                          <a:rPr lang="en-US" sz="1400" i="1" smtClean="0">
                            <a:latin typeface="Cambria Math" panose="02040503050406030204" pitchFamily="18" charset="0"/>
                            <a:ea typeface="Cambria Math" panose="02040503050406030204" pitchFamily="18" charset="0"/>
                          </a:rPr>
                          <m:t>≤</m:t>
                        </m:r>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𝑈𝐵</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sSup>
                          <m:sSupPr>
                            <m:ctrlPr>
                              <a:rPr lang="en-US" sz="140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𝑋</m:t>
                            </m:r>
                          </m:e>
                          <m:sup>
                            <m:r>
                              <a:rPr lang="en-CA" sz="1400" b="0" i="1" smtClean="0">
                                <a:latin typeface="Cambria Math" panose="02040503050406030204" pitchFamily="18" charset="0"/>
                                <a:ea typeface="Cambria Math" panose="02040503050406030204" pitchFamily="18" charset="0"/>
                              </a:rPr>
                              <m:t>𝑘</m:t>
                            </m:r>
                          </m:sup>
                        </m:sSup>
                      </m:oMath>
                    </a14:m>
                    <a:r>
                      <a:rPr lang="en-US" sz="1400" dirty="0"/>
                      <a:t>,</a:t>
                    </a:r>
                  </a:p>
                </p:txBody>
              </p:sp>
            </mc:Choice>
            <mc:Fallback xmlns="">
              <p:sp>
                <p:nvSpPr>
                  <p:cNvPr id="3" name="TextBox 2">
                    <a:extLst>
                      <a:ext uri="{FF2B5EF4-FFF2-40B4-BE49-F238E27FC236}">
                        <a16:creationId xmlns:a16="http://schemas.microsoft.com/office/drawing/2014/main" id="{EF45E541-CF29-8515-4AC5-1DEAA563AD59}"/>
                      </a:ext>
                    </a:extLst>
                  </p:cNvPr>
                  <p:cNvSpPr txBox="1">
                    <a:spLocks noRot="1" noChangeAspect="1" noMove="1" noResize="1" noEditPoints="1" noAdjustHandles="1" noChangeArrowheads="1" noChangeShapeType="1" noTextEdit="1"/>
                  </p:cNvSpPr>
                  <p:nvPr/>
                </p:nvSpPr>
                <p:spPr>
                  <a:xfrm>
                    <a:off x="1800722" y="2570010"/>
                    <a:ext cx="1982594" cy="349391"/>
                  </a:xfrm>
                  <a:prstGeom prst="rect">
                    <a:avLst/>
                  </a:prstGeom>
                  <a:blipFill>
                    <a:blip r:embed="rId5"/>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F9B08F7-CFB1-9D82-11F3-DD87259BDF8A}"/>
                      </a:ext>
                    </a:extLst>
                  </p:cNvPr>
                  <p:cNvSpPr txBox="1"/>
                  <p:nvPr/>
                </p:nvSpPr>
                <p:spPr>
                  <a:xfrm>
                    <a:off x="4174361" y="2544233"/>
                    <a:ext cx="778418" cy="3115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𝐽</m:t>
                              </m:r>
                            </m:e>
                            <m:sup>
                              <m:r>
                                <a:rPr lang="en-CA" sz="1400" b="0" i="1" smtClean="0">
                                  <a:latin typeface="Cambria Math" panose="02040503050406030204" pitchFamily="18" charset="0"/>
                                  <a:ea typeface="Cambria Math" panose="02040503050406030204" pitchFamily="18" charset="0"/>
                                </a:rPr>
                                <m:t>𝑘</m:t>
                              </m:r>
                            </m:sup>
                          </m:sSup>
                        </m:oMath>
                      </m:oMathPara>
                    </a14:m>
                    <a:endParaRPr lang="en-US" sz="1400" dirty="0"/>
                  </a:p>
                </p:txBody>
              </p:sp>
            </mc:Choice>
            <mc:Fallback xmlns="">
              <p:sp>
                <p:nvSpPr>
                  <p:cNvPr id="6" name="TextBox 5">
                    <a:extLst>
                      <a:ext uri="{FF2B5EF4-FFF2-40B4-BE49-F238E27FC236}">
                        <a16:creationId xmlns:a16="http://schemas.microsoft.com/office/drawing/2014/main" id="{CF9B08F7-CFB1-9D82-11F3-DD87259BDF8A}"/>
                      </a:ext>
                    </a:extLst>
                  </p:cNvPr>
                  <p:cNvSpPr txBox="1">
                    <a:spLocks noRot="1" noChangeAspect="1" noMove="1" noResize="1" noEditPoints="1" noAdjustHandles="1" noChangeArrowheads="1" noChangeShapeType="1" noTextEdit="1"/>
                  </p:cNvSpPr>
                  <p:nvPr/>
                </p:nvSpPr>
                <p:spPr>
                  <a:xfrm>
                    <a:off x="4174361" y="2544233"/>
                    <a:ext cx="778418" cy="311560"/>
                  </a:xfrm>
                  <a:prstGeom prst="rect">
                    <a:avLst/>
                  </a:prstGeom>
                  <a:blipFill>
                    <a:blip r:embed="rId6"/>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8C7C5EA-078E-A729-EA3E-F97A633542E8}"/>
                      </a:ext>
                    </a:extLst>
                  </p:cNvPr>
                  <p:cNvSpPr txBox="1"/>
                  <p:nvPr/>
                </p:nvSpPr>
                <p:spPr>
                  <a:xfrm>
                    <a:off x="1928741" y="3098019"/>
                    <a:ext cx="1407885" cy="3250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𝑏𝑖𝑜𝑚𝑎𝑠𝑠</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m:t>
                          </m:r>
                          <m:sSup>
                            <m:sSupPr>
                              <m:ctrlPr>
                                <a:rPr lang="en-CA" sz="1400" b="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CA" sz="1400" b="0" i="1" smtClean="0">
                              <a:latin typeface="Cambria Math" panose="02040503050406030204" pitchFamily="18" charset="0"/>
                              <a:ea typeface="Cambria Math" panose="02040503050406030204" pitchFamily="18" charset="0"/>
                            </a:rPr>
                            <m:t>𝜇</m:t>
                          </m:r>
                        </m:oMath>
                      </m:oMathPara>
                    </a14:m>
                    <a:endParaRPr lang="en-US" sz="1400" dirty="0"/>
                  </a:p>
                </p:txBody>
              </p:sp>
            </mc:Choice>
            <mc:Fallback xmlns="">
              <p:sp>
                <p:nvSpPr>
                  <p:cNvPr id="7" name="TextBox 6">
                    <a:extLst>
                      <a:ext uri="{FF2B5EF4-FFF2-40B4-BE49-F238E27FC236}">
                        <a16:creationId xmlns:a16="http://schemas.microsoft.com/office/drawing/2014/main" id="{48C7C5EA-078E-A729-EA3E-F97A633542E8}"/>
                      </a:ext>
                    </a:extLst>
                  </p:cNvPr>
                  <p:cNvSpPr txBox="1">
                    <a:spLocks noRot="1" noChangeAspect="1" noMove="1" noResize="1" noEditPoints="1" noAdjustHandles="1" noChangeArrowheads="1" noChangeShapeType="1" noTextEdit="1"/>
                  </p:cNvSpPr>
                  <p:nvPr/>
                </p:nvSpPr>
                <p:spPr>
                  <a:xfrm>
                    <a:off x="1928741" y="3098019"/>
                    <a:ext cx="1407885" cy="32502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FD53736-C1F2-CA87-2D6B-04B5B8C4F5D6}"/>
                      </a:ext>
                    </a:extLst>
                  </p:cNvPr>
                  <p:cNvSpPr txBox="1"/>
                  <p:nvPr/>
                </p:nvSpPr>
                <p:spPr>
                  <a:xfrm>
                    <a:off x="2116897" y="3601662"/>
                    <a:ext cx="1031571" cy="3115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40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0</m:t>
                          </m:r>
                        </m:oMath>
                      </m:oMathPara>
                    </a14:m>
                    <a:endParaRPr lang="en-US" sz="1400" dirty="0"/>
                  </a:p>
                </p:txBody>
              </p:sp>
            </mc:Choice>
            <mc:Fallback xmlns="">
              <p:sp>
                <p:nvSpPr>
                  <p:cNvPr id="8" name="TextBox 7">
                    <a:extLst>
                      <a:ext uri="{FF2B5EF4-FFF2-40B4-BE49-F238E27FC236}">
                        <a16:creationId xmlns:a16="http://schemas.microsoft.com/office/drawing/2014/main" id="{DFD53736-C1F2-CA87-2D6B-04B5B8C4F5D6}"/>
                      </a:ext>
                    </a:extLst>
                  </p:cNvPr>
                  <p:cNvSpPr txBox="1">
                    <a:spLocks noRot="1" noChangeAspect="1" noMove="1" noResize="1" noEditPoints="1" noAdjustHandles="1" noChangeArrowheads="1" noChangeShapeType="1" noTextEdit="1"/>
                  </p:cNvSpPr>
                  <p:nvPr/>
                </p:nvSpPr>
                <p:spPr>
                  <a:xfrm>
                    <a:off x="2116897" y="3601662"/>
                    <a:ext cx="1031571" cy="31156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AB149D9-5EFA-775D-943D-E91493264173}"/>
                      </a:ext>
                    </a:extLst>
                  </p:cNvPr>
                  <p:cNvSpPr txBox="1"/>
                  <p:nvPr/>
                </p:nvSpPr>
                <p:spPr>
                  <a:xfrm>
                    <a:off x="5163399" y="2381244"/>
                    <a:ext cx="78406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oMath>
                      </m:oMathPara>
                    </a14:m>
                    <a:endParaRPr lang="en-US" sz="1400" dirty="0"/>
                  </a:p>
                </p:txBody>
              </p:sp>
            </mc:Choice>
            <mc:Fallback xmlns="">
              <p:sp>
                <p:nvSpPr>
                  <p:cNvPr id="9" name="TextBox 8">
                    <a:extLst>
                      <a:ext uri="{FF2B5EF4-FFF2-40B4-BE49-F238E27FC236}">
                        <a16:creationId xmlns:a16="http://schemas.microsoft.com/office/drawing/2014/main" id="{1AB149D9-5EFA-775D-943D-E91493264173}"/>
                      </a:ext>
                    </a:extLst>
                  </p:cNvPr>
                  <p:cNvSpPr txBox="1">
                    <a:spLocks noRot="1" noChangeAspect="1" noMove="1" noResize="1" noEditPoints="1" noAdjustHandles="1" noChangeArrowheads="1" noChangeShapeType="1" noTextEdit="1"/>
                  </p:cNvSpPr>
                  <p:nvPr/>
                </p:nvSpPr>
                <p:spPr>
                  <a:xfrm>
                    <a:off x="5163399" y="2381244"/>
                    <a:ext cx="784061" cy="30777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782835D-EEF7-9EC5-9A74-D452DA6DF8C8}"/>
                      </a:ext>
                    </a:extLst>
                  </p:cNvPr>
                  <p:cNvSpPr txBox="1"/>
                  <p:nvPr/>
                </p:nvSpPr>
                <p:spPr>
                  <a:xfrm>
                    <a:off x="1832597" y="4146204"/>
                    <a:ext cx="2084930" cy="6151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𝑢</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CA" sz="1400" b="0" i="1" smtClean="0">
                              <a:latin typeface="Cambria Math" panose="02040503050406030204" pitchFamily="18" charset="0"/>
                            </a:rPr>
                            <m:t>−</m:t>
                          </m:r>
                          <m:sSubSup>
                            <m:sSubSupPr>
                              <m:ctrlPr>
                                <a:rPr lang="en-CA" sz="1400" b="0" i="1" smtClean="0">
                                  <a:latin typeface="Cambria Math" panose="02040503050406030204" pitchFamily="18" charset="0"/>
                                </a:rPr>
                              </m:ctrlPr>
                            </m:sSubSupPr>
                            <m:e>
                              <m:r>
                                <a:rPr lang="en-CA" sz="1400" b="0" i="1" smtClean="0">
                                  <a:latin typeface="Cambria Math" panose="02040503050406030204" pitchFamily="18" charset="0"/>
                                </a:rPr>
                                <m:t>𝑒</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CA" sz="1400" b="0" i="1" smtClean="0">
                              <a:latin typeface="Cambria Math" panose="02040503050406030204" pitchFamily="18" charset="0"/>
                            </a:rPr>
                            <m:t>+</m:t>
                          </m:r>
                          <m:nary>
                            <m:naryPr>
                              <m:chr m:val="∑"/>
                              <m:supHide m:val="on"/>
                              <m:ctrlPr>
                                <a:rPr lang="en-CA" sz="1400" b="0" i="1" smtClean="0">
                                  <a:latin typeface="Cambria Math" panose="02040503050406030204" pitchFamily="18" charset="0"/>
                                </a:rPr>
                              </m:ctrlPr>
                            </m:naryPr>
                            <m:sub>
                              <m:r>
                                <m:rPr>
                                  <m:brk m:alnAt="7"/>
                                </m:rPr>
                                <a:rPr lang="en-CA" sz="1400" b="0" i="1" smtClean="0">
                                  <a:latin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sub>
                            <m:sup/>
                            <m:e>
                              <m:sSubSup>
                                <m:sSubSupPr>
                                  <m:ctrlPr>
                                    <a:rPr lang="en-CA" sz="1400" b="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𝑒𝑥</m:t>
                                  </m:r>
                                  <m:r>
                                    <a:rPr lang="en-CA" sz="1400" b="0" i="1" smtClean="0">
                                      <a:latin typeface="Cambria Math" panose="02040503050406030204" pitchFamily="18" charset="0"/>
                                    </a:rPr>
                                    <m:t>(</m:t>
                                  </m:r>
                                  <m:r>
                                    <a:rPr lang="en-CA" sz="1400" b="0" i="1" smtClean="0">
                                      <a:latin typeface="Cambria Math" panose="02040503050406030204" pitchFamily="18" charset="0"/>
                                    </a:rPr>
                                    <m:t>𝑖</m:t>
                                  </m:r>
                                  <m:r>
                                    <a:rPr lang="en-CA" sz="1400" b="0" i="1" smtClean="0">
                                      <a:latin typeface="Cambria Math" panose="02040503050406030204" pitchFamily="18" charset="0"/>
                                    </a:rPr>
                                    <m:t>)</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=0,</m:t>
                              </m:r>
                            </m:e>
                          </m:nary>
                        </m:oMath>
                      </m:oMathPara>
                    </a14:m>
                    <a:endParaRPr lang="en-US" sz="1400" dirty="0"/>
                  </a:p>
                </p:txBody>
              </p:sp>
            </mc:Choice>
            <mc:Fallback xmlns="">
              <p:sp>
                <p:nvSpPr>
                  <p:cNvPr id="10" name="TextBox 9">
                    <a:extLst>
                      <a:ext uri="{FF2B5EF4-FFF2-40B4-BE49-F238E27FC236}">
                        <a16:creationId xmlns:a16="http://schemas.microsoft.com/office/drawing/2014/main" id="{D782835D-EEF7-9EC5-9A74-D452DA6DF8C8}"/>
                      </a:ext>
                    </a:extLst>
                  </p:cNvPr>
                  <p:cNvSpPr txBox="1">
                    <a:spLocks noRot="1" noChangeAspect="1" noMove="1" noResize="1" noEditPoints="1" noAdjustHandles="1" noChangeArrowheads="1" noChangeShapeType="1" noTextEdit="1"/>
                  </p:cNvSpPr>
                  <p:nvPr/>
                </p:nvSpPr>
                <p:spPr>
                  <a:xfrm>
                    <a:off x="1832597" y="4146204"/>
                    <a:ext cx="2084930" cy="615168"/>
                  </a:xfrm>
                  <a:prstGeom prst="rect">
                    <a:avLst/>
                  </a:prstGeom>
                  <a:blipFill>
                    <a:blip r:embed="rId10"/>
                    <a:stretch>
                      <a:fillRect t="-118367" b="-17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46CA0AC-D45E-7F50-7B81-90EB96BF2849}"/>
                      </a:ext>
                    </a:extLst>
                  </p:cNvPr>
                  <p:cNvSpPr txBox="1"/>
                  <p:nvPr/>
                </p:nvSpPr>
                <p:spPr>
                  <a:xfrm>
                    <a:off x="4240912" y="4226900"/>
                    <a:ext cx="95795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𝑐𝑜𝑚</m:t>
                              </m:r>
                            </m:sup>
                          </m:sSup>
                        </m:oMath>
                      </m:oMathPara>
                    </a14:m>
                    <a:endParaRPr lang="en-US" sz="1400" dirty="0"/>
                  </a:p>
                </p:txBody>
              </p:sp>
            </mc:Choice>
            <mc:Fallback xmlns="">
              <p:sp>
                <p:nvSpPr>
                  <p:cNvPr id="11" name="TextBox 10">
                    <a:extLst>
                      <a:ext uri="{FF2B5EF4-FFF2-40B4-BE49-F238E27FC236}">
                        <a16:creationId xmlns:a16="http://schemas.microsoft.com/office/drawing/2014/main" id="{346CA0AC-D45E-7F50-7B81-90EB96BF2849}"/>
                      </a:ext>
                    </a:extLst>
                  </p:cNvPr>
                  <p:cNvSpPr txBox="1">
                    <a:spLocks noRot="1" noChangeAspect="1" noMove="1" noResize="1" noEditPoints="1" noAdjustHandles="1" noChangeArrowheads="1" noChangeShapeType="1" noTextEdit="1"/>
                  </p:cNvSpPr>
                  <p:nvPr/>
                </p:nvSpPr>
                <p:spPr>
                  <a:xfrm>
                    <a:off x="4240912" y="4226900"/>
                    <a:ext cx="957955" cy="30777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90B1BA6-5C46-D52F-EB50-F38F803EF518}"/>
                      </a:ext>
                    </a:extLst>
                  </p:cNvPr>
                  <p:cNvSpPr txBox="1"/>
                  <p:nvPr/>
                </p:nvSpPr>
                <p:spPr>
                  <a:xfrm>
                    <a:off x="1877156" y="4832441"/>
                    <a:ext cx="1155957" cy="6151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CA" sz="1400" b="0" i="1" smtClean="0">
                                  <a:latin typeface="Cambria Math" panose="02040503050406030204" pitchFamily="18" charset="0"/>
                                </a:rPr>
                              </m:ctrlPr>
                            </m:naryPr>
                            <m:sub>
                              <m:r>
                                <m:rPr>
                                  <m:brk m:alnAt="7"/>
                                </m:rPr>
                                <a:rPr lang="en-CA" sz="1400" b="0" i="1" smtClean="0">
                                  <a:latin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sub>
                            <m:sup/>
                            <m:e>
                              <m:sSup>
                                <m:sSupPr>
                                  <m:ctrlPr>
                                    <a:rPr lang="en-CA" sz="1400" b="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CA" sz="1400" b="0" i="1" smtClean="0">
                                  <a:latin typeface="Cambria Math" panose="02040503050406030204" pitchFamily="18" charset="0"/>
                                </a:rPr>
                                <m:t>=</m:t>
                              </m:r>
                              <m:sSub>
                                <m:sSubPr>
                                  <m:ctrlPr>
                                    <a:rPr lang="en-CA" sz="1400" b="0" i="1" smtClean="0">
                                      <a:latin typeface="Cambria Math" panose="02040503050406030204" pitchFamily="18" charset="0"/>
                                    </a:rPr>
                                  </m:ctrlPr>
                                </m:sSubPr>
                                <m:e>
                                  <m:r>
                                    <a:rPr lang="en-CA" sz="1400" b="0" i="1" smtClean="0">
                                      <a:latin typeface="Cambria Math" panose="02040503050406030204" pitchFamily="18" charset="0"/>
                                    </a:rPr>
                                    <m:t>𝑋</m:t>
                                  </m:r>
                                </m:e>
                                <m:sub>
                                  <m:r>
                                    <a:rPr lang="en-CA" sz="1400" b="0" i="1" smtClean="0">
                                      <a:latin typeface="Cambria Math" panose="02040503050406030204" pitchFamily="18" charset="0"/>
                                    </a:rPr>
                                    <m:t>0</m:t>
                                  </m:r>
                                </m:sub>
                              </m:sSub>
                            </m:e>
                          </m:nary>
                        </m:oMath>
                      </m:oMathPara>
                    </a14:m>
                    <a:endParaRPr lang="en-US" sz="1400" dirty="0"/>
                  </a:p>
                </p:txBody>
              </p:sp>
            </mc:Choice>
            <mc:Fallback xmlns="">
              <p:sp>
                <p:nvSpPr>
                  <p:cNvPr id="12" name="TextBox 11">
                    <a:extLst>
                      <a:ext uri="{FF2B5EF4-FFF2-40B4-BE49-F238E27FC236}">
                        <a16:creationId xmlns:a16="http://schemas.microsoft.com/office/drawing/2014/main" id="{F90B1BA6-5C46-D52F-EB50-F38F803EF518}"/>
                      </a:ext>
                    </a:extLst>
                  </p:cNvPr>
                  <p:cNvSpPr txBox="1">
                    <a:spLocks noRot="1" noChangeAspect="1" noMove="1" noResize="1" noEditPoints="1" noAdjustHandles="1" noChangeArrowheads="1" noChangeShapeType="1" noTextEdit="1"/>
                  </p:cNvSpPr>
                  <p:nvPr/>
                </p:nvSpPr>
                <p:spPr>
                  <a:xfrm>
                    <a:off x="1877156" y="4832441"/>
                    <a:ext cx="1155957" cy="615168"/>
                  </a:xfrm>
                  <a:prstGeom prst="rect">
                    <a:avLst/>
                  </a:prstGeom>
                  <a:blipFill>
                    <a:blip r:embed="rId12"/>
                    <a:stretch>
                      <a:fillRect l="-47312" t="-114000" b="-16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D645FE8-E159-1794-7126-BFFF592A2580}"/>
                      </a:ext>
                    </a:extLst>
                  </p:cNvPr>
                  <p:cNvSpPr txBox="1"/>
                  <p:nvPr/>
                </p:nvSpPr>
                <p:spPr>
                  <a:xfrm>
                    <a:off x="1914422" y="5526401"/>
                    <a:ext cx="32733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𝜇</m:t>
                          </m:r>
                        </m:oMath>
                      </m:oMathPara>
                    </a14:m>
                    <a:endParaRPr lang="en-US" sz="1400" dirty="0"/>
                  </a:p>
                </p:txBody>
              </p:sp>
            </mc:Choice>
            <mc:Fallback xmlns="">
              <p:sp>
                <p:nvSpPr>
                  <p:cNvPr id="13" name="TextBox 12">
                    <a:extLst>
                      <a:ext uri="{FF2B5EF4-FFF2-40B4-BE49-F238E27FC236}">
                        <a16:creationId xmlns:a16="http://schemas.microsoft.com/office/drawing/2014/main" id="{4D645FE8-E159-1794-7126-BFFF592A2580}"/>
                      </a:ext>
                    </a:extLst>
                  </p:cNvPr>
                  <p:cNvSpPr txBox="1">
                    <a:spLocks noRot="1" noChangeAspect="1" noMove="1" noResize="1" noEditPoints="1" noAdjustHandles="1" noChangeArrowheads="1" noChangeShapeType="1" noTextEdit="1"/>
                  </p:cNvSpPr>
                  <p:nvPr/>
                </p:nvSpPr>
                <p:spPr>
                  <a:xfrm>
                    <a:off x="1914422" y="5526401"/>
                    <a:ext cx="327334" cy="30777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83FF2DF-DA44-00B3-BAF1-28854F6B2A30}"/>
                      </a:ext>
                    </a:extLst>
                  </p:cNvPr>
                  <p:cNvSpPr txBox="1"/>
                  <p:nvPr/>
                </p:nvSpPr>
                <p:spPr>
                  <a:xfrm>
                    <a:off x="2815748" y="5546528"/>
                    <a:ext cx="735330" cy="3085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𝑒</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0</m:t>
                          </m:r>
                        </m:oMath>
                      </m:oMathPara>
                    </a14:m>
                    <a:endParaRPr lang="en-US" sz="1400" dirty="0"/>
                  </a:p>
                </p:txBody>
              </p:sp>
            </mc:Choice>
            <mc:Fallback xmlns="">
              <p:sp>
                <p:nvSpPr>
                  <p:cNvPr id="14" name="TextBox 13">
                    <a:extLst>
                      <a:ext uri="{FF2B5EF4-FFF2-40B4-BE49-F238E27FC236}">
                        <a16:creationId xmlns:a16="http://schemas.microsoft.com/office/drawing/2014/main" id="{A83FF2DF-DA44-00B3-BAF1-28854F6B2A30}"/>
                      </a:ext>
                    </a:extLst>
                  </p:cNvPr>
                  <p:cNvSpPr txBox="1">
                    <a:spLocks noRot="1" noChangeAspect="1" noMove="1" noResize="1" noEditPoints="1" noAdjustHandles="1" noChangeArrowheads="1" noChangeShapeType="1" noTextEdit="1"/>
                  </p:cNvSpPr>
                  <p:nvPr/>
                </p:nvSpPr>
                <p:spPr>
                  <a:xfrm>
                    <a:off x="2815748" y="5546528"/>
                    <a:ext cx="735330" cy="30854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2FBC4D0-A4BF-FF5A-15BF-E035C57424FD}"/>
                      </a:ext>
                    </a:extLst>
                  </p:cNvPr>
                  <p:cNvSpPr txBox="1"/>
                  <p:nvPr/>
                </p:nvSpPr>
                <p:spPr>
                  <a:xfrm>
                    <a:off x="3912630" y="5546528"/>
                    <a:ext cx="95795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𝑐𝑜𝑚</m:t>
                              </m:r>
                            </m:sup>
                          </m:sSup>
                        </m:oMath>
                      </m:oMathPara>
                    </a14:m>
                    <a:endParaRPr lang="en-US" sz="1400" dirty="0"/>
                  </a:p>
                </p:txBody>
              </p:sp>
            </mc:Choice>
            <mc:Fallback xmlns="">
              <p:sp>
                <p:nvSpPr>
                  <p:cNvPr id="15" name="TextBox 14">
                    <a:extLst>
                      <a:ext uri="{FF2B5EF4-FFF2-40B4-BE49-F238E27FC236}">
                        <a16:creationId xmlns:a16="http://schemas.microsoft.com/office/drawing/2014/main" id="{A2FBC4D0-A4BF-FF5A-15BF-E035C57424FD}"/>
                      </a:ext>
                    </a:extLst>
                  </p:cNvPr>
                  <p:cNvSpPr txBox="1">
                    <a:spLocks noRot="1" noChangeAspect="1" noMove="1" noResize="1" noEditPoints="1" noAdjustHandles="1" noChangeArrowheads="1" noChangeShapeType="1" noTextEdit="1"/>
                  </p:cNvSpPr>
                  <p:nvPr/>
                </p:nvSpPr>
                <p:spPr>
                  <a:xfrm>
                    <a:off x="3912630" y="5546528"/>
                    <a:ext cx="957955" cy="307777"/>
                  </a:xfrm>
                  <a:prstGeom prst="rect">
                    <a:avLst/>
                  </a:prstGeom>
                  <a:blipFill>
                    <a:blip r:embed="rId15"/>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473A71E2-D555-C1F9-9850-F2A463FECD55}"/>
                  </a:ext>
                </a:extLst>
              </p:cNvPr>
              <p:cNvSpPr txBox="1"/>
              <p:nvPr/>
            </p:nvSpPr>
            <p:spPr>
              <a:xfrm>
                <a:off x="3617079" y="5587225"/>
                <a:ext cx="229550" cy="307777"/>
              </a:xfrm>
              <a:prstGeom prst="rect">
                <a:avLst/>
              </a:prstGeom>
              <a:noFill/>
            </p:spPr>
            <p:txBody>
              <a:bodyPr wrap="none" rtlCol="0">
                <a:spAutoFit/>
              </a:bodyPr>
              <a:lstStyle/>
              <a:p>
                <a:r>
                  <a:rPr lang="en-US" sz="1400" dirty="0"/>
                  <a:t>,</a:t>
                </a:r>
              </a:p>
            </p:txBody>
          </p:sp>
          <p:sp>
            <p:nvSpPr>
              <p:cNvPr id="17" name="TextBox 16">
                <a:extLst>
                  <a:ext uri="{FF2B5EF4-FFF2-40B4-BE49-F238E27FC236}">
                    <a16:creationId xmlns:a16="http://schemas.microsoft.com/office/drawing/2014/main" id="{6CF0EA0E-59D1-440A-0047-B15D71BC96E5}"/>
                  </a:ext>
                </a:extLst>
              </p:cNvPr>
              <p:cNvSpPr txBox="1"/>
              <p:nvPr/>
            </p:nvSpPr>
            <p:spPr>
              <a:xfrm>
                <a:off x="2438423" y="5587225"/>
                <a:ext cx="229550" cy="307777"/>
              </a:xfrm>
              <a:prstGeom prst="rect">
                <a:avLst/>
              </a:prstGeom>
              <a:noFill/>
            </p:spPr>
            <p:txBody>
              <a:bodyPr wrap="none" rtlCol="0">
                <a:spAutoFit/>
              </a:bodyPr>
              <a:lstStyle/>
              <a:p>
                <a:r>
                  <a:rPr lang="en-US" sz="1400" dirty="0"/>
                  <a:t>,</a:t>
                </a:r>
              </a:p>
            </p:txBody>
          </p:sp>
          <p:sp>
            <p:nvSpPr>
              <p:cNvPr id="21" name="Left Bracket 20">
                <a:extLst>
                  <a:ext uri="{FF2B5EF4-FFF2-40B4-BE49-F238E27FC236}">
                    <a16:creationId xmlns:a16="http://schemas.microsoft.com/office/drawing/2014/main" id="{F92E2A9B-2D7F-F27B-0ABF-5F1429F1D213}"/>
                  </a:ext>
                </a:extLst>
              </p:cNvPr>
              <p:cNvSpPr/>
              <p:nvPr/>
            </p:nvSpPr>
            <p:spPr>
              <a:xfrm rot="10800000">
                <a:off x="5004548" y="1057446"/>
                <a:ext cx="100580" cy="2878984"/>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3496E18-A816-2D1F-02E5-1E6F4F48937E}"/>
                      </a:ext>
                    </a:extLst>
                  </p:cNvPr>
                  <p:cNvSpPr txBox="1"/>
                  <p:nvPr/>
                </p:nvSpPr>
                <p:spPr>
                  <a:xfrm>
                    <a:off x="257490" y="466979"/>
                    <a:ext cx="2296719" cy="704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𝑚𝑖𝑛</m:t>
                              </m:r>
                            </m:e>
                            <m:sub>
                              <m:sSup>
                                <m:sSupPr>
                                  <m:ctrlPr>
                                    <a:rPr lang="en-US" i="1" smtClean="0">
                                      <a:latin typeface="Cambria Math" panose="02040503050406030204" pitchFamily="18" charset="0"/>
                                    </a:rPr>
                                  </m:ctrlPr>
                                </m:sSupPr>
                                <m:e>
                                  <m:r>
                                    <a:rPr lang="en-CA" b="0" i="1" smtClean="0">
                                      <a:latin typeface="Cambria Math" panose="02040503050406030204" pitchFamily="18" charset="0"/>
                                    </a:rPr>
                                    <m:t>𝑋</m:t>
                                  </m:r>
                                </m:e>
                                <m:sup>
                                  <m:r>
                                    <a:rPr lang="en-CA" b="0" i="1" smtClean="0">
                                      <a:latin typeface="Cambria Math" panose="02040503050406030204" pitchFamily="18" charset="0"/>
                                    </a:rPr>
                                    <m:t>𝑘</m:t>
                                  </m:r>
                                </m:sup>
                              </m:sSup>
                              <m:r>
                                <a:rPr lang="en-CA" b="0" i="1" smtClean="0">
                                  <a:latin typeface="Cambria Math" panose="02040503050406030204" pitchFamily="18" charset="0"/>
                                </a:rPr>
                                <m:t> </m:t>
                              </m:r>
                            </m:sub>
                          </m:sSub>
                          <m:d>
                            <m:dPr>
                              <m:begChr m:val="|"/>
                              <m:endChr m:val="|"/>
                              <m:ctrlPr>
                                <a:rPr lang="en-US" i="1" smtClean="0">
                                  <a:latin typeface="Cambria Math" panose="02040503050406030204" pitchFamily="18" charset="0"/>
                                </a:rPr>
                              </m:ctrlPr>
                            </m:dPr>
                            <m:e>
                              <m:sSup>
                                <m:sSupPr>
                                  <m:ctrlPr>
                                    <a:rPr lang="en-US" i="1" smtClean="0">
                                      <a:latin typeface="Cambria Math" panose="02040503050406030204" pitchFamily="18" charset="0"/>
                                    </a:rPr>
                                  </m:ctrlPr>
                                </m:sSupPr>
                                <m:e>
                                  <m:r>
                                    <a:rPr lang="en-CA" b="0" i="1" smtClean="0">
                                      <a:latin typeface="Cambria Math" panose="02040503050406030204" pitchFamily="18" charset="0"/>
                                    </a:rPr>
                                    <m:t>𝑋</m:t>
                                  </m:r>
                                </m:e>
                                <m:sup>
                                  <m:r>
                                    <a:rPr lang="en-CA" b="0" i="1" smtClean="0">
                                      <a:latin typeface="Cambria Math" panose="02040503050406030204" pitchFamily="18" charset="0"/>
                                    </a:rPr>
                                    <m:t>𝑘</m:t>
                                  </m:r>
                                </m:sup>
                              </m:sSup>
                              <m:r>
                                <a:rPr lang="en-CA" b="0" i="1" smtClean="0">
                                  <a:latin typeface="Cambria Math" panose="02040503050406030204" pitchFamily="18" charset="0"/>
                                </a:rPr>
                                <m:t>−</m:t>
                              </m:r>
                              <m:sSubSup>
                                <m:sSubSupPr>
                                  <m:ctrlPr>
                                    <a:rPr lang="en-CA" b="0" i="1" smtClean="0">
                                      <a:latin typeface="Cambria Math" panose="02040503050406030204" pitchFamily="18" charset="0"/>
                                    </a:rPr>
                                  </m:ctrlPr>
                                </m:sSubSupPr>
                                <m:e>
                                  <m:r>
                                    <a:rPr lang="en-CA" b="0" i="1" smtClean="0">
                                      <a:latin typeface="Cambria Math" panose="02040503050406030204" pitchFamily="18" charset="0"/>
                                    </a:rPr>
                                    <m:t>𝑋</m:t>
                                  </m:r>
                                </m:e>
                                <m:sub>
                                  <m:r>
                                    <a:rPr lang="en-CA" b="0" i="1" smtClean="0">
                                      <a:latin typeface="Cambria Math" panose="02040503050406030204" pitchFamily="18" charset="0"/>
                                    </a:rPr>
                                    <m:t>𝑒𝑥𝑝</m:t>
                                  </m:r>
                                </m:sub>
                                <m:sup>
                                  <m:r>
                                    <a:rPr lang="en-CA" b="0" i="1" smtClean="0">
                                      <a:latin typeface="Cambria Math" panose="02040503050406030204" pitchFamily="18" charset="0"/>
                                    </a:rPr>
                                    <m:t>𝑘</m:t>
                                  </m:r>
                                </m:sup>
                              </m:sSubSup>
                            </m:e>
                          </m:d>
                        </m:oMath>
                      </m:oMathPara>
                    </a14:m>
                    <a:endParaRPr lang="en-US" dirty="0"/>
                  </a:p>
                  <a:p>
                    <a:r>
                      <a:rPr lang="en-US" dirty="0"/>
                      <a:t>subject to</a:t>
                    </a:r>
                  </a:p>
                </p:txBody>
              </p:sp>
            </mc:Choice>
            <mc:Fallback xmlns="">
              <p:sp>
                <p:nvSpPr>
                  <p:cNvPr id="22" name="TextBox 21">
                    <a:extLst>
                      <a:ext uri="{FF2B5EF4-FFF2-40B4-BE49-F238E27FC236}">
                        <a16:creationId xmlns:a16="http://schemas.microsoft.com/office/drawing/2014/main" id="{63496E18-A816-2D1F-02E5-1E6F4F48937E}"/>
                      </a:ext>
                    </a:extLst>
                  </p:cNvPr>
                  <p:cNvSpPr txBox="1">
                    <a:spLocks noRot="1" noChangeAspect="1" noMove="1" noResize="1" noEditPoints="1" noAdjustHandles="1" noChangeArrowheads="1" noChangeShapeType="1" noTextEdit="1"/>
                  </p:cNvSpPr>
                  <p:nvPr/>
                </p:nvSpPr>
                <p:spPr>
                  <a:xfrm>
                    <a:off x="257490" y="466979"/>
                    <a:ext cx="2296719" cy="704488"/>
                  </a:xfrm>
                  <a:prstGeom prst="rect">
                    <a:avLst/>
                  </a:prstGeom>
                  <a:blipFill>
                    <a:blip r:embed="rId16"/>
                    <a:stretch>
                      <a:fillRect l="-2210" b="-12500"/>
                    </a:stretch>
                  </a:blipFill>
                </p:spPr>
                <p:txBody>
                  <a:bodyPr/>
                  <a:lstStyle/>
                  <a:p>
                    <a:r>
                      <a:rPr lang="en-US">
                        <a:noFill/>
                      </a:rPr>
                      <a:t> </a:t>
                    </a:r>
                  </a:p>
                </p:txBody>
              </p:sp>
            </mc:Fallback>
          </mc:AlternateContent>
          <p:sp>
            <p:nvSpPr>
              <p:cNvPr id="23" name="Left Bracket 22">
                <a:extLst>
                  <a:ext uri="{FF2B5EF4-FFF2-40B4-BE49-F238E27FC236}">
                    <a16:creationId xmlns:a16="http://schemas.microsoft.com/office/drawing/2014/main" id="{EAF0B067-0FCF-7CE9-592B-4369EBAB6A7A}"/>
                  </a:ext>
                </a:extLst>
              </p:cNvPr>
              <p:cNvSpPr/>
              <p:nvPr/>
            </p:nvSpPr>
            <p:spPr>
              <a:xfrm>
                <a:off x="1788038" y="1057733"/>
                <a:ext cx="126384" cy="2944818"/>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400"/>
              </a:p>
            </p:txBody>
          </p:sp>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27CEDD8-6CEC-CD4C-C926-2C03ACA6C1C6}"/>
                    </a:ext>
                  </a:extLst>
                </p:cNvPr>
                <p:cNvSpPr txBox="1"/>
                <p:nvPr/>
              </p:nvSpPr>
              <p:spPr>
                <a:xfrm>
                  <a:off x="2048004" y="1740398"/>
                  <a:ext cx="2959143" cy="349391"/>
                </a:xfrm>
                <a:prstGeom prst="rect">
                  <a:avLst/>
                </a:prstGeom>
                <a:noFill/>
              </p:spPr>
              <p:txBody>
                <a:bodyPr wrap="none" rtlCol="0">
                  <a:spAutoFit/>
                </a:bodyPr>
                <a:lstStyle/>
                <a:p>
                  <a14:m>
                    <m:oMath xmlns:m="http://schemas.openxmlformats.org/officeDocument/2006/math">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𝑉</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𝑋</m:t>
                          </m:r>
                        </m:e>
                        <m:sup>
                          <m:r>
                            <a:rPr lang="en-CA" sz="1400" b="0" i="1" smtClean="0">
                              <a:latin typeface="Cambria Math" panose="02040503050406030204" pitchFamily="18" charset="0"/>
                              <a:ea typeface="Cambria Math" panose="02040503050406030204" pitchFamily="18" charset="0"/>
                            </a:rPr>
                            <m:t>𝑘</m:t>
                          </m:r>
                        </m:sup>
                      </m:sSup>
                      <m:sSubSup>
                        <m:sSubSupPr>
                          <m:ctrlPr>
                            <a:rPr lang="en-CA" sz="1400" b="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𝑣</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oMath>
                  </a14:m>
                  <a:r>
                    <a:rPr lang="en-US" sz="1400" dirty="0">
                      <a:latin typeface="Cambria Math" panose="02040503050406030204" pitchFamily="18" charset="0"/>
                      <a:ea typeface="Cambria Math" panose="02040503050406030204" pitchFamily="18" charset="0"/>
                    </a:rPr>
                    <a:t>,  </a:t>
                  </a:r>
                  <a14:m>
                    <m:oMath xmlns:m="http://schemas.openxmlformats.org/officeDocument/2006/math">
                      <m:r>
                        <a:rPr lang="en-CA" sz="1400" b="0" i="0" smtClean="0">
                          <a:latin typeface="Cambria Math" panose="02040503050406030204" pitchFamily="18" charset="0"/>
                          <a:ea typeface="Cambria Math" panose="02040503050406030204" pitchFamily="18" charset="0"/>
                        </a:rPr>
                        <m:t>                  </m:t>
                      </m:r>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𝐽</m:t>
                          </m:r>
                        </m:e>
                        <m:sup>
                          <m:r>
                            <a:rPr lang="en-CA" sz="1400" b="0" i="1" smtClean="0">
                              <a:latin typeface="Cambria Math" panose="02040503050406030204" pitchFamily="18" charset="0"/>
                              <a:ea typeface="Cambria Math" panose="02040503050406030204" pitchFamily="18" charset="0"/>
                            </a:rPr>
                            <m:t>𝑘</m:t>
                          </m:r>
                        </m:sup>
                      </m:sSup>
                    </m:oMath>
                  </a14:m>
                  <a:r>
                    <a:rPr lang="en-US" sz="1400" dirty="0">
                      <a:latin typeface="Cambria Math" panose="02040503050406030204" pitchFamily="18" charset="0"/>
                      <a:ea typeface="Cambria Math" panose="02040503050406030204" pitchFamily="18" charset="0"/>
                    </a:rPr>
                    <a:t>, </a:t>
                  </a:r>
                  <a14:m>
                    <m:oMath xmlns:m="http://schemas.openxmlformats.org/officeDocument/2006/math">
                      <m:r>
                        <a:rPr lang="en-CA" sz="1400" b="0" i="1" smtClean="0">
                          <a:latin typeface="Cambria Math" panose="02040503050406030204" pitchFamily="18" charset="0"/>
                          <a:ea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oMath>
                  </a14:m>
                  <a:endParaRPr lang="en-US" sz="1400" dirty="0">
                    <a:latin typeface="Cambria Math" panose="02040503050406030204" pitchFamily="18" charset="0"/>
                    <a:ea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F27CEDD8-6CEC-CD4C-C926-2C03ACA6C1C6}"/>
                    </a:ext>
                  </a:extLst>
                </p:cNvPr>
                <p:cNvSpPr txBox="1">
                  <a:spLocks noRot="1" noChangeAspect="1" noMove="1" noResize="1" noEditPoints="1" noAdjustHandles="1" noChangeArrowheads="1" noChangeShapeType="1" noTextEdit="1"/>
                </p:cNvSpPr>
                <p:nvPr/>
              </p:nvSpPr>
              <p:spPr>
                <a:xfrm>
                  <a:off x="2048004" y="1740398"/>
                  <a:ext cx="2959143" cy="349391"/>
                </a:xfrm>
                <a:prstGeom prst="rect">
                  <a:avLst/>
                </a:prstGeom>
                <a:blipFill>
                  <a:blip r:embed="rId17"/>
                  <a:stretch>
                    <a:fillRect b="-1379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970B9EA-1F70-5101-1BE8-D014F5851BC3}"/>
                  </a:ext>
                </a:extLst>
              </p:cNvPr>
              <p:cNvSpPr txBox="1"/>
              <p:nvPr/>
            </p:nvSpPr>
            <p:spPr>
              <a:xfrm>
                <a:off x="6081421" y="985434"/>
                <a:ext cx="5961903" cy="5498236"/>
              </a:xfrm>
              <a:prstGeom prst="rect">
                <a:avLst/>
              </a:prstGeom>
              <a:noFill/>
            </p:spPr>
            <p:txBody>
              <a:bodyPr wrap="square" rtlCol="0">
                <a:spAutoFit/>
              </a:bodyPr>
              <a:lstStyle/>
              <a:p>
                <a:r>
                  <a:rPr lang="en-US" sz="1400" dirty="0">
                    <a:solidFill>
                      <a:schemeClr val="tx1"/>
                    </a:solidFill>
                  </a:rPr>
                  <a:t>where…,</a:t>
                </a:r>
              </a:p>
              <a:p>
                <a:endParaRPr lang="en-US" sz="1400" dirty="0">
                  <a:solidFill>
                    <a:schemeClr val="tx1"/>
                  </a:solidFill>
                </a:endParaRPr>
              </a:p>
              <a:p>
                <a14:m>
                  <m:oMath xmlns:m="http://schemas.openxmlformats.org/officeDocument/2006/math">
                    <m:sSubSup>
                      <m:sSubSupPr>
                        <m:ctrlPr>
                          <a:rPr lang="en-US" sz="140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𝑆</m:t>
                        </m:r>
                      </m:e>
                      <m:sub>
                        <m:r>
                          <a:rPr lang="en-CA" sz="1400" b="0" i="1" smtClean="0">
                            <a:solidFill>
                              <a:schemeClr val="tx1"/>
                            </a:solidFill>
                            <a:latin typeface="Cambria Math" panose="02040503050406030204" pitchFamily="18" charset="0"/>
                          </a:rPr>
                          <m:t>𝑖𝑗</m:t>
                        </m:r>
                      </m:sub>
                      <m:sup>
                        <m:r>
                          <a:rPr lang="en-CA" sz="1400" b="0" i="1" smtClean="0">
                            <a:solidFill>
                              <a:schemeClr val="tx1"/>
                            </a:solidFill>
                            <a:latin typeface="Cambria Math" panose="02040503050406030204" pitchFamily="18" charset="0"/>
                          </a:rPr>
                          <m:t>𝑘</m:t>
                        </m:r>
                      </m:sup>
                    </m:sSubSup>
                  </m:oMath>
                </a14:m>
                <a:r>
                  <a:rPr lang="en-US" sz="1400" dirty="0">
                    <a:solidFill>
                      <a:schemeClr val="tx1"/>
                    </a:solidFill>
                  </a:rPr>
                  <a:t> = </a:t>
                </a:r>
                <a:r>
                  <a:rPr lang="en-US" altLang="en-US" sz="1400" dirty="0">
                    <a:solidFill>
                      <a:srgbClr val="0070C0"/>
                    </a:solidFill>
                  </a:rPr>
                  <a:t>the stoichiometry for metabolite </a:t>
                </a:r>
                <a:r>
                  <a:rPr lang="en-US" altLang="en-US" sz="1400" i="1" dirty="0" err="1">
                    <a:solidFill>
                      <a:srgbClr val="0070C0"/>
                    </a:solidFill>
                  </a:rPr>
                  <a:t>i</a:t>
                </a:r>
                <a:r>
                  <a:rPr lang="en-US" altLang="en-US" sz="1400" dirty="0">
                    <a:solidFill>
                      <a:srgbClr val="0070C0"/>
                    </a:solidFill>
                  </a:rPr>
                  <a:t> in reaction </a:t>
                </a:r>
                <a:r>
                  <a:rPr lang="en-US" altLang="en-US" sz="1400" i="1" dirty="0">
                    <a:solidFill>
                      <a:srgbClr val="0070C0"/>
                    </a:solidFill>
                  </a:rPr>
                  <a:t>j</a:t>
                </a:r>
              </a:p>
              <a:p>
                <a:endParaRPr lang="en-US" sz="1400" dirty="0">
                  <a:solidFill>
                    <a:schemeClr val="tx1"/>
                  </a:solidFill>
                </a:endParaRPr>
              </a:p>
              <a:p>
                <a14:m>
                  <m:oMath xmlns:m="http://schemas.openxmlformats.org/officeDocument/2006/math">
                    <m:sSubSup>
                      <m:sSubSupPr>
                        <m:ctrlPr>
                          <a:rPr lang="en-US" sz="140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𝑉</m:t>
                        </m:r>
                      </m:e>
                      <m:sub>
                        <m:r>
                          <a:rPr lang="en-CA" sz="1400" b="0" i="1" smtClean="0">
                            <a:solidFill>
                              <a:schemeClr val="tx1"/>
                            </a:solidFill>
                            <a:latin typeface="Cambria Math" panose="02040503050406030204" pitchFamily="18" charset="0"/>
                          </a:rPr>
                          <m:t>𝑗</m:t>
                        </m:r>
                      </m:sub>
                      <m:sup>
                        <m:r>
                          <a:rPr lang="en-CA" sz="1400" b="0" i="1" smtClean="0">
                            <a:solidFill>
                              <a:schemeClr val="tx1"/>
                            </a:solidFill>
                            <a:latin typeface="Cambria Math" panose="02040503050406030204" pitchFamily="18" charset="0"/>
                          </a:rPr>
                          <m:t>𝑘</m:t>
                        </m:r>
                      </m:sup>
                    </m:sSubSup>
                  </m:oMath>
                </a14:m>
                <a:r>
                  <a:rPr lang="en-US" sz="1400" dirty="0">
                    <a:solidFill>
                      <a:schemeClr val="tx1"/>
                    </a:solidFill>
                  </a:rPr>
                  <a:t> = </a:t>
                </a:r>
                <a:r>
                  <a:rPr lang="en-US" sz="1400" dirty="0">
                    <a:solidFill>
                      <a:srgbClr val="0070C0"/>
                    </a:solidFill>
                  </a:rPr>
                  <a:t>aggregate flux; has units of mmol h-1 and represents the collective flux of reaction</a:t>
                </a:r>
                <a:r>
                  <a:rPr lang="en-US" sz="1400" i="1" dirty="0">
                    <a:solidFill>
                      <a:srgbClr val="0070C0"/>
                    </a:solidFill>
                  </a:rPr>
                  <a:t> j </a:t>
                </a:r>
                <a:r>
                  <a:rPr lang="en-US" sz="1400" dirty="0">
                    <a:solidFill>
                      <a:srgbClr val="0070C0"/>
                    </a:solidFill>
                  </a:rPr>
                  <a:t>through the entire population of organism </a:t>
                </a:r>
                <a:r>
                  <a:rPr lang="en-US" sz="1400" i="1" dirty="0">
                    <a:solidFill>
                      <a:srgbClr val="0070C0"/>
                    </a:solidFill>
                  </a:rPr>
                  <a:t>k</a:t>
                </a:r>
              </a:p>
              <a:p>
                <a:endParaRPr lang="en-US" sz="1400" i="1" dirty="0">
                  <a:solidFill>
                    <a:srgbClr val="0070C0"/>
                  </a:solidFill>
                </a:endParaRPr>
              </a:p>
              <a:p>
                <a14:m>
                  <m:oMath xmlns:m="http://schemas.openxmlformats.org/officeDocument/2006/math">
                    <m:sSubSup>
                      <m:sSubSupPr>
                        <m:ctrlPr>
                          <a:rPr lang="en-US" sz="140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𝑣</m:t>
                        </m:r>
                      </m:e>
                      <m:sub>
                        <m:r>
                          <a:rPr lang="en-CA" sz="1400" b="0" i="1" smtClean="0">
                            <a:solidFill>
                              <a:schemeClr val="tx1"/>
                            </a:solidFill>
                            <a:latin typeface="Cambria Math" panose="02040503050406030204" pitchFamily="18" charset="0"/>
                          </a:rPr>
                          <m:t>𝑗</m:t>
                        </m:r>
                      </m:sub>
                      <m:sup>
                        <m:r>
                          <a:rPr lang="en-CA" sz="1400" b="0" i="1" smtClean="0">
                            <a:solidFill>
                              <a:schemeClr val="tx1"/>
                            </a:solidFill>
                            <a:latin typeface="Cambria Math" panose="02040503050406030204" pitchFamily="18" charset="0"/>
                          </a:rPr>
                          <m:t>𝑘</m:t>
                        </m:r>
                      </m:sup>
                    </m:sSubSup>
                  </m:oMath>
                </a14:m>
                <a:r>
                  <a:rPr lang="en-US" sz="1400" dirty="0">
                    <a:solidFill>
                      <a:schemeClr val="tx1"/>
                    </a:solidFill>
                  </a:rPr>
                  <a:t> = </a:t>
                </a:r>
                <a:r>
                  <a:rPr lang="en-US" sz="1400" dirty="0">
                    <a:solidFill>
                      <a:srgbClr val="0070C0"/>
                    </a:solidFill>
                  </a:rPr>
                  <a:t>reaction flux of reaction</a:t>
                </a:r>
                <a:r>
                  <a:rPr lang="en-US" sz="1400" i="1" dirty="0">
                    <a:solidFill>
                      <a:srgbClr val="0070C0"/>
                    </a:solidFill>
                  </a:rPr>
                  <a:t> j </a:t>
                </a:r>
                <a:r>
                  <a:rPr lang="en-US" sz="1400" dirty="0">
                    <a:solidFill>
                      <a:srgbClr val="0070C0"/>
                    </a:solidFill>
                  </a:rPr>
                  <a:t>for organism k normalized</a:t>
                </a:r>
              </a:p>
              <a:p>
                <a:endParaRPr lang="en-US" sz="1400" dirty="0">
                  <a:solidFill>
                    <a:schemeClr val="tx1"/>
                  </a:solidFill>
                </a:endParaRPr>
              </a:p>
              <a:p>
                <a14:m>
                  <m:oMath xmlns:m="http://schemas.openxmlformats.org/officeDocument/2006/math">
                    <m:sSup>
                      <m:sSupPr>
                        <m:ctrlPr>
                          <a:rPr lang="en-US" sz="1400" i="1" smtClean="0">
                            <a:solidFill>
                              <a:schemeClr val="tx1"/>
                            </a:solidFill>
                            <a:latin typeface="Cambria Math" panose="02040503050406030204" pitchFamily="18" charset="0"/>
                            <a:ea typeface="Cambria Math" panose="02040503050406030204" pitchFamily="18" charset="0"/>
                          </a:rPr>
                        </m:ctrlPr>
                      </m:sSupPr>
                      <m:e>
                        <m:r>
                          <a:rPr lang="en-CA" sz="1400" b="0" i="1" smtClean="0">
                            <a:solidFill>
                              <a:schemeClr val="tx1"/>
                            </a:solidFill>
                            <a:latin typeface="Cambria Math" panose="02040503050406030204" pitchFamily="18" charset="0"/>
                            <a:ea typeface="Cambria Math" panose="02040503050406030204" pitchFamily="18" charset="0"/>
                          </a:rPr>
                          <m:t>𝑋</m:t>
                        </m:r>
                      </m:e>
                      <m:sup>
                        <m:r>
                          <a:rPr lang="en-CA" sz="1400" b="0" i="1" smtClean="0">
                            <a:solidFill>
                              <a:schemeClr val="tx1"/>
                            </a:solidFill>
                            <a:latin typeface="Cambria Math" panose="02040503050406030204" pitchFamily="18" charset="0"/>
                            <a:ea typeface="Cambria Math" panose="02040503050406030204" pitchFamily="18" charset="0"/>
                          </a:rPr>
                          <m:t>𝑘</m:t>
                        </m:r>
                      </m:sup>
                    </m:sSup>
                  </m:oMath>
                </a14:m>
                <a:r>
                  <a:rPr lang="en-US" sz="1400" dirty="0">
                    <a:solidFill>
                      <a:schemeClr val="tx1"/>
                    </a:solidFill>
                  </a:rPr>
                  <a:t> = </a:t>
                </a:r>
                <a:r>
                  <a:rPr lang="en-US" sz="1400" dirty="0">
                    <a:solidFill>
                      <a:srgbClr val="0070C0"/>
                    </a:solidFill>
                  </a:rPr>
                  <a:t>the biomass (in </a:t>
                </a:r>
                <a:r>
                  <a:rPr lang="en-US" sz="1400" dirty="0" err="1">
                    <a:solidFill>
                      <a:srgbClr val="0070C0"/>
                    </a:solidFill>
                  </a:rPr>
                  <a:t>gdw</a:t>
                </a:r>
                <a:r>
                  <a:rPr lang="en-US" sz="1400" dirty="0">
                    <a:solidFill>
                      <a:srgbClr val="0070C0"/>
                    </a:solidFill>
                  </a:rPr>
                  <a:t>) for organism </a:t>
                </a:r>
                <a:r>
                  <a:rPr lang="en-US" sz="1400" i="1" dirty="0">
                    <a:solidFill>
                      <a:srgbClr val="0070C0"/>
                    </a:solidFill>
                  </a:rPr>
                  <a:t>k</a:t>
                </a:r>
                <a:r>
                  <a:rPr lang="en-US" sz="1400" dirty="0">
                    <a:solidFill>
                      <a:srgbClr val="0070C0"/>
                    </a:solidFill>
                  </a:rPr>
                  <a:t> </a:t>
                </a:r>
              </a:p>
              <a:p>
                <a:endParaRPr lang="en-US" sz="1400" dirty="0">
                  <a:solidFill>
                    <a:schemeClr val="tx1"/>
                  </a:solidFill>
                </a:endParaRPr>
              </a:p>
              <a:p>
                <a14:m>
                  <m:oMath xmlns:m="http://schemas.openxmlformats.org/officeDocument/2006/math">
                    <m:sSubSup>
                      <m:sSubSupPr>
                        <m:ctrlPr>
                          <a:rPr lang="en-US" sz="140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𝐿𝐵</m:t>
                        </m:r>
                      </m:e>
                      <m:sub>
                        <m:r>
                          <a:rPr lang="en-CA" sz="1400" b="0" i="1" smtClean="0">
                            <a:solidFill>
                              <a:schemeClr val="tx1"/>
                            </a:solidFill>
                            <a:latin typeface="Cambria Math" panose="02040503050406030204" pitchFamily="18" charset="0"/>
                          </a:rPr>
                          <m:t>𝑗</m:t>
                        </m:r>
                      </m:sub>
                      <m:sup>
                        <m:r>
                          <a:rPr lang="en-CA" sz="1400" b="0" i="1" smtClean="0">
                            <a:solidFill>
                              <a:schemeClr val="tx1"/>
                            </a:solidFill>
                            <a:latin typeface="Cambria Math" panose="02040503050406030204" pitchFamily="18" charset="0"/>
                          </a:rPr>
                          <m:t>𝑘</m:t>
                        </m:r>
                      </m:sup>
                    </m:sSubSup>
                  </m:oMath>
                </a14:m>
                <a:r>
                  <a:rPr lang="en-US" sz="1400" dirty="0">
                    <a:solidFill>
                      <a:schemeClr val="tx1"/>
                    </a:solidFill>
                  </a:rPr>
                  <a:t> and </a:t>
                </a:r>
                <a14:m>
                  <m:oMath xmlns:m="http://schemas.openxmlformats.org/officeDocument/2006/math">
                    <m:sSubSup>
                      <m:sSubSupPr>
                        <m:ctrlPr>
                          <a:rPr lang="en-US" sz="1400" i="1">
                            <a:solidFill>
                              <a:schemeClr val="tx1"/>
                            </a:solidFill>
                            <a:latin typeface="Cambria Math" panose="02040503050406030204" pitchFamily="18" charset="0"/>
                            <a:ea typeface="Cambria Math" panose="02040503050406030204" pitchFamily="18" charset="0"/>
                          </a:rPr>
                        </m:ctrlPr>
                      </m:sSubSupPr>
                      <m:e>
                        <m:r>
                          <a:rPr lang="en-CA" sz="1400" i="1">
                            <a:solidFill>
                              <a:schemeClr val="tx1"/>
                            </a:solidFill>
                            <a:latin typeface="Cambria Math" panose="02040503050406030204" pitchFamily="18" charset="0"/>
                            <a:ea typeface="Cambria Math" panose="02040503050406030204" pitchFamily="18" charset="0"/>
                          </a:rPr>
                          <m:t>𝑈𝐵</m:t>
                        </m:r>
                      </m:e>
                      <m:sub>
                        <m:r>
                          <a:rPr lang="en-CA" sz="1400" i="1">
                            <a:solidFill>
                              <a:schemeClr val="tx1"/>
                            </a:solidFill>
                            <a:latin typeface="Cambria Math" panose="02040503050406030204" pitchFamily="18" charset="0"/>
                            <a:ea typeface="Cambria Math" panose="02040503050406030204" pitchFamily="18" charset="0"/>
                          </a:rPr>
                          <m:t>𝑗</m:t>
                        </m:r>
                      </m:sub>
                      <m:sup>
                        <m:r>
                          <a:rPr lang="en-CA" sz="1400" i="1">
                            <a:solidFill>
                              <a:schemeClr val="tx1"/>
                            </a:solidFill>
                            <a:latin typeface="Cambria Math" panose="02040503050406030204" pitchFamily="18" charset="0"/>
                            <a:ea typeface="Cambria Math" panose="02040503050406030204" pitchFamily="18" charset="0"/>
                          </a:rPr>
                          <m:t>𝑘</m:t>
                        </m:r>
                      </m:sup>
                    </m:sSubSup>
                  </m:oMath>
                </a14:m>
                <a:r>
                  <a:rPr lang="en-US" sz="1400" dirty="0">
                    <a:solidFill>
                      <a:schemeClr val="tx1"/>
                    </a:solidFill>
                  </a:rPr>
                  <a:t> = </a:t>
                </a:r>
                <a:r>
                  <a:rPr lang="en-US" altLang="en-US" sz="1400" dirty="0">
                    <a:solidFill>
                      <a:srgbClr val="0070C0"/>
                    </a:solidFill>
                  </a:rPr>
                  <a:t>the lower bound and upper bounds for fluxes </a:t>
                </a:r>
                <a14:m>
                  <m:oMath xmlns:m="http://schemas.openxmlformats.org/officeDocument/2006/math">
                    <m:sSubSup>
                      <m:sSubSupPr>
                        <m:ctrlPr>
                          <a:rPr lang="en-US" altLang="en-US" sz="1400" i="1">
                            <a:solidFill>
                              <a:srgbClr val="0070C0"/>
                            </a:solidFill>
                            <a:latin typeface="Cambria Math" panose="02040503050406030204" pitchFamily="18" charset="0"/>
                          </a:rPr>
                        </m:ctrlPr>
                      </m:sSubSupPr>
                      <m:e>
                        <m:r>
                          <a:rPr lang="en-CA" altLang="en-US" sz="1400" b="0" i="1" smtClean="0">
                            <a:solidFill>
                              <a:srgbClr val="0070C0"/>
                            </a:solidFill>
                            <a:latin typeface="Cambria Math" panose="02040503050406030204" pitchFamily="18" charset="0"/>
                          </a:rPr>
                          <m:t>𝑉</m:t>
                        </m:r>
                      </m:e>
                      <m:sub>
                        <m:r>
                          <a:rPr lang="en-US" altLang="en-US" sz="1400" b="0" i="1">
                            <a:solidFill>
                              <a:srgbClr val="0070C0"/>
                            </a:solidFill>
                            <a:latin typeface="Cambria Math" panose="02040503050406030204" pitchFamily="18" charset="0"/>
                          </a:rPr>
                          <m:t>𝑗</m:t>
                        </m:r>
                      </m:sub>
                      <m:sup>
                        <m:r>
                          <a:rPr lang="en-US" altLang="en-US" sz="1400" b="0" i="1">
                            <a:solidFill>
                              <a:srgbClr val="0070C0"/>
                            </a:solidFill>
                            <a:latin typeface="Cambria Math" panose="02040503050406030204" pitchFamily="18" charset="0"/>
                          </a:rPr>
                          <m:t>𝑘</m:t>
                        </m:r>
                      </m:sup>
                    </m:sSubSup>
                  </m:oMath>
                </a14:m>
                <a:r>
                  <a:rPr lang="en-US" altLang="en-US" sz="1400" dirty="0">
                    <a:solidFill>
                      <a:srgbClr val="0070C0"/>
                    </a:solidFill>
                  </a:rPr>
                  <a:t> , respectively</a:t>
                </a:r>
              </a:p>
              <a:p>
                <a:endParaRPr lang="en-US" sz="1400" dirty="0">
                  <a:solidFill>
                    <a:schemeClr val="tx1"/>
                  </a:solidFill>
                </a:endParaRPr>
              </a:p>
              <a:p>
                <a:r>
                  <a:rPr lang="en-US" sz="1400" dirty="0">
                    <a:solidFill>
                      <a:schemeClr val="tx1"/>
                    </a:solidFill>
                  </a:rPr>
                  <a:t> </a:t>
                </a:r>
                <a14:m>
                  <m:oMath xmlns:m="http://schemas.openxmlformats.org/officeDocument/2006/math">
                    <m:sSubSup>
                      <m:sSubSupPr>
                        <m:ctrlPr>
                          <a:rPr lang="en-US" sz="140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𝑉</m:t>
                        </m:r>
                      </m:e>
                      <m:sub>
                        <m:r>
                          <a:rPr lang="en-CA" sz="1400" b="0" i="1" smtClean="0">
                            <a:solidFill>
                              <a:schemeClr val="tx1"/>
                            </a:solidFill>
                            <a:latin typeface="Cambria Math" panose="02040503050406030204" pitchFamily="18" charset="0"/>
                          </a:rPr>
                          <m:t>𝑏𝑖𝑜𝑚𝑎𝑠𝑠</m:t>
                        </m:r>
                      </m:sub>
                      <m:sup>
                        <m:r>
                          <a:rPr lang="en-CA" sz="1400" b="0" i="1" smtClean="0">
                            <a:solidFill>
                              <a:schemeClr val="tx1"/>
                            </a:solidFill>
                            <a:latin typeface="Cambria Math" panose="02040503050406030204" pitchFamily="18" charset="0"/>
                          </a:rPr>
                          <m:t>𝑘</m:t>
                        </m:r>
                      </m:sup>
                    </m:sSubSup>
                  </m:oMath>
                </a14:m>
                <a:r>
                  <a:rPr lang="en-US" sz="1400" dirty="0">
                    <a:solidFill>
                      <a:schemeClr val="tx1"/>
                    </a:solidFill>
                  </a:rPr>
                  <a:t> = </a:t>
                </a:r>
                <a:r>
                  <a:rPr lang="en-US" sz="1400" dirty="0">
                    <a:solidFill>
                      <a:srgbClr val="0070C0"/>
                    </a:solidFill>
                  </a:rPr>
                  <a:t>aggregate biomass production in mmol h-</a:t>
                </a:r>
              </a:p>
              <a:p>
                <a:endParaRPr lang="en-CA" sz="1400" b="0" i="1" dirty="0">
                  <a:solidFill>
                    <a:schemeClr val="tx1"/>
                  </a:solidFill>
                  <a:latin typeface="Cambria Math" panose="02040503050406030204" pitchFamily="18" charset="0"/>
                  <a:ea typeface="Cambria Math" panose="02040503050406030204" pitchFamily="18" charset="0"/>
                </a:endParaRPr>
              </a:p>
              <a:p>
                <a14:m>
                  <m:oMath xmlns:m="http://schemas.openxmlformats.org/officeDocument/2006/math">
                    <m:r>
                      <a:rPr lang="en-CA" sz="1400" b="0" i="1" smtClean="0">
                        <a:solidFill>
                          <a:schemeClr val="tx1"/>
                        </a:solidFill>
                        <a:latin typeface="Cambria Math" panose="02040503050406030204" pitchFamily="18" charset="0"/>
                        <a:ea typeface="Cambria Math" panose="02040503050406030204" pitchFamily="18" charset="0"/>
                      </a:rPr>
                      <m:t>𝜇</m:t>
                    </m:r>
                  </m:oMath>
                </a14:m>
                <a:r>
                  <a:rPr lang="en-US" sz="1400" dirty="0">
                    <a:solidFill>
                      <a:schemeClr val="tx1"/>
                    </a:solidFill>
                  </a:rPr>
                  <a:t> = </a:t>
                </a:r>
                <a:r>
                  <a:rPr lang="en-US" sz="1400" dirty="0">
                    <a:solidFill>
                      <a:srgbClr val="0070C0"/>
                    </a:solidFill>
                  </a:rPr>
                  <a:t>community growth rate</a:t>
                </a:r>
              </a:p>
              <a:p>
                <a:endParaRPr lang="en-US" sz="1400" dirty="0">
                  <a:solidFill>
                    <a:schemeClr val="tx1"/>
                  </a:solidFill>
                </a:endParaRPr>
              </a:p>
              <a:p>
                <a14:m>
                  <m:oMath xmlns:m="http://schemas.openxmlformats.org/officeDocument/2006/math">
                    <m:sSubSup>
                      <m:sSubSupPr>
                        <m:ctrlPr>
                          <a:rPr lang="en-CA" sz="1400" b="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𝑉</m:t>
                        </m:r>
                      </m:e>
                      <m:sub>
                        <m:r>
                          <a:rPr lang="en-CA" sz="1400" b="0" i="1" smtClean="0">
                            <a:solidFill>
                              <a:schemeClr val="tx1"/>
                            </a:solidFill>
                            <a:latin typeface="Cambria Math" panose="02040503050406030204" pitchFamily="18" charset="0"/>
                          </a:rPr>
                          <m:t>𝑒𝑥</m:t>
                        </m:r>
                        <m:r>
                          <a:rPr lang="en-CA" sz="1400" b="0" i="1" smtClean="0">
                            <a:solidFill>
                              <a:schemeClr val="tx1"/>
                            </a:solidFill>
                            <a:latin typeface="Cambria Math" panose="02040503050406030204" pitchFamily="18" charset="0"/>
                          </a:rPr>
                          <m:t>(</m:t>
                        </m:r>
                        <m:r>
                          <a:rPr lang="en-CA" sz="1400" b="0" i="1" smtClean="0">
                            <a:solidFill>
                              <a:schemeClr val="tx1"/>
                            </a:solidFill>
                            <a:latin typeface="Cambria Math" panose="02040503050406030204" pitchFamily="18" charset="0"/>
                          </a:rPr>
                          <m:t>𝑖</m:t>
                        </m:r>
                        <m:r>
                          <a:rPr lang="en-CA" sz="1400" b="0" i="1" smtClean="0">
                            <a:solidFill>
                              <a:schemeClr val="tx1"/>
                            </a:solidFill>
                            <a:latin typeface="Cambria Math" panose="02040503050406030204" pitchFamily="18" charset="0"/>
                          </a:rPr>
                          <m:t>)</m:t>
                        </m:r>
                      </m:sub>
                      <m:sup>
                        <m:r>
                          <a:rPr lang="en-CA" sz="1400" b="0" i="1" smtClean="0">
                            <a:solidFill>
                              <a:schemeClr val="tx1"/>
                            </a:solidFill>
                            <a:latin typeface="Cambria Math" panose="02040503050406030204" pitchFamily="18" charset="0"/>
                          </a:rPr>
                          <m:t>𝑘</m:t>
                        </m:r>
                      </m:sup>
                    </m:sSubSup>
                  </m:oMath>
                </a14:m>
                <a:r>
                  <a:rPr lang="en-US" sz="1400" dirty="0">
                    <a:solidFill>
                      <a:schemeClr val="tx1"/>
                    </a:solidFill>
                  </a:rPr>
                  <a:t> = </a:t>
                </a:r>
                <a:r>
                  <a:rPr lang="en-US" sz="1400" dirty="0">
                    <a:solidFill>
                      <a:srgbClr val="0070C0"/>
                    </a:solidFill>
                  </a:rPr>
                  <a:t>the transport reaction fluxes from the extracellular space into the individual community member </a:t>
                </a:r>
                <a:r>
                  <a:rPr lang="en-US" sz="1400" i="1" dirty="0">
                    <a:solidFill>
                      <a:srgbClr val="0070C0"/>
                    </a:solidFill>
                  </a:rPr>
                  <a:t>k</a:t>
                </a:r>
                <a:r>
                  <a:rPr lang="en-US" sz="1400" dirty="0">
                    <a:solidFill>
                      <a:srgbClr val="0070C0"/>
                    </a:solidFill>
                  </a:rPr>
                  <a:t> taking into account the abundance of the organism</a:t>
                </a:r>
              </a:p>
              <a:p>
                <a:endParaRPr lang="en-CA" sz="1400" i="1" dirty="0">
                  <a:solidFill>
                    <a:schemeClr val="tx1"/>
                  </a:solidFill>
                  <a:latin typeface="Cambria Math" panose="02040503050406030204" pitchFamily="18" charset="0"/>
                </a:endParaRPr>
              </a:p>
              <a:p>
                <a14:m>
                  <m:oMath xmlns:m="http://schemas.openxmlformats.org/officeDocument/2006/math">
                    <m:sSubSup>
                      <m:sSubSupPr>
                        <m:ctrlPr>
                          <a:rPr lang="en-US" sz="1400" i="1" smtClean="0">
                            <a:solidFill>
                              <a:schemeClr val="tx1"/>
                            </a:solidFill>
                            <a:latin typeface="Cambria Math" panose="02040503050406030204" pitchFamily="18" charset="0"/>
                          </a:rPr>
                        </m:ctrlPr>
                      </m:sSubSupPr>
                      <m:e>
                        <m:r>
                          <a:rPr lang="en-CA" sz="1400" b="0" i="1" smtClean="0">
                            <a:solidFill>
                              <a:schemeClr val="tx1"/>
                            </a:solidFill>
                            <a:latin typeface="Cambria Math" panose="02040503050406030204" pitchFamily="18" charset="0"/>
                          </a:rPr>
                          <m:t>𝑢</m:t>
                        </m:r>
                      </m:e>
                      <m:sub>
                        <m:r>
                          <a:rPr lang="en-CA" sz="1400" b="0" i="1" smtClean="0">
                            <a:solidFill>
                              <a:schemeClr val="tx1"/>
                            </a:solidFill>
                            <a:latin typeface="Cambria Math" panose="02040503050406030204" pitchFamily="18" charset="0"/>
                          </a:rPr>
                          <m:t>𝑖</m:t>
                        </m:r>
                      </m:sub>
                      <m:sup>
                        <m:r>
                          <a:rPr lang="en-CA" sz="1400" b="0" i="1" smtClean="0">
                            <a:solidFill>
                              <a:schemeClr val="tx1"/>
                            </a:solidFill>
                            <a:latin typeface="Cambria Math" panose="02040503050406030204" pitchFamily="18" charset="0"/>
                          </a:rPr>
                          <m:t>𝑐</m:t>
                        </m:r>
                      </m:sup>
                    </m:sSubSup>
                  </m:oMath>
                </a14:m>
                <a:r>
                  <a:rPr lang="en-US" sz="1400" dirty="0">
                    <a:solidFill>
                      <a:schemeClr val="tx1"/>
                    </a:solidFill>
                  </a:rPr>
                  <a:t> and </a:t>
                </a:r>
                <a14:m>
                  <m:oMath xmlns:m="http://schemas.openxmlformats.org/officeDocument/2006/math">
                    <m:sSubSup>
                      <m:sSubSupPr>
                        <m:ctrlPr>
                          <a:rPr lang="en-CA" sz="1400" i="1">
                            <a:latin typeface="Cambria Math" panose="02040503050406030204" pitchFamily="18" charset="0"/>
                          </a:rPr>
                        </m:ctrlPr>
                      </m:sSubSupPr>
                      <m:e>
                        <m:r>
                          <a:rPr lang="en-CA" sz="1400" i="1">
                            <a:latin typeface="Cambria Math" panose="02040503050406030204" pitchFamily="18" charset="0"/>
                          </a:rPr>
                          <m:t>𝑒</m:t>
                        </m:r>
                      </m:e>
                      <m:sub>
                        <m:r>
                          <a:rPr lang="en-CA" sz="1400" i="1">
                            <a:latin typeface="Cambria Math" panose="02040503050406030204" pitchFamily="18" charset="0"/>
                          </a:rPr>
                          <m:t>𝑖</m:t>
                        </m:r>
                      </m:sub>
                      <m:sup>
                        <m:r>
                          <a:rPr lang="en-CA" sz="1400" i="1">
                            <a:latin typeface="Cambria Math" panose="02040503050406030204" pitchFamily="18" charset="0"/>
                          </a:rPr>
                          <m:t>𝑐</m:t>
                        </m:r>
                      </m:sup>
                    </m:sSubSup>
                  </m:oMath>
                </a14:m>
                <a:r>
                  <a:rPr lang="en-US" sz="1400" dirty="0"/>
                  <a:t> = </a:t>
                </a:r>
                <a:r>
                  <a:rPr lang="en-US" altLang="en-US" sz="1400" dirty="0">
                    <a:solidFill>
                      <a:srgbClr val="0070C0"/>
                    </a:solidFill>
                  </a:rPr>
                  <a:t>the community uptake and export rates, respectively</a:t>
                </a:r>
              </a:p>
              <a:p>
                <a:endParaRPr lang="en-US" sz="1400" dirty="0"/>
              </a:p>
              <a:p>
                <a14:m>
                  <m:oMath xmlns:m="http://schemas.openxmlformats.org/officeDocument/2006/math">
                    <m:sSub>
                      <m:sSubPr>
                        <m:ctrlPr>
                          <a:rPr lang="en-CA" sz="1400" b="0" i="1" smtClean="0">
                            <a:solidFill>
                              <a:schemeClr val="tx1"/>
                            </a:solidFill>
                            <a:latin typeface="Cambria Math" panose="02040503050406030204" pitchFamily="18" charset="0"/>
                          </a:rPr>
                        </m:ctrlPr>
                      </m:sSubPr>
                      <m:e>
                        <m:r>
                          <a:rPr lang="en-CA" sz="1400" b="0" i="1" smtClean="0">
                            <a:solidFill>
                              <a:schemeClr val="tx1"/>
                            </a:solidFill>
                            <a:latin typeface="Cambria Math" panose="02040503050406030204" pitchFamily="18" charset="0"/>
                          </a:rPr>
                          <m:t>𝑋</m:t>
                        </m:r>
                      </m:e>
                      <m:sub>
                        <m:r>
                          <a:rPr lang="en-CA" sz="1400" b="0" i="1" smtClean="0">
                            <a:solidFill>
                              <a:schemeClr val="tx1"/>
                            </a:solidFill>
                            <a:latin typeface="Cambria Math" panose="02040503050406030204" pitchFamily="18" charset="0"/>
                          </a:rPr>
                          <m:t>0</m:t>
                        </m:r>
                      </m:sub>
                    </m:sSub>
                  </m:oMath>
                </a14:m>
                <a:r>
                  <a:rPr lang="en-US" sz="1400" dirty="0">
                    <a:solidFill>
                      <a:schemeClr val="tx1"/>
                    </a:solidFill>
                  </a:rPr>
                  <a:t> = </a:t>
                </a:r>
                <a:r>
                  <a:rPr lang="en-US" sz="1400" dirty="0">
                    <a:solidFill>
                      <a:srgbClr val="0070C0"/>
                    </a:solidFill>
                  </a:rPr>
                  <a:t>a defined non-zero total biomass</a:t>
                </a:r>
                <a:endParaRPr lang="en-US" sz="1400" dirty="0">
                  <a:solidFill>
                    <a:schemeClr val="tx1"/>
                  </a:solidFill>
                </a:endParaRPr>
              </a:p>
            </p:txBody>
          </p:sp>
        </mc:Choice>
        <mc:Fallback xmlns="">
          <p:sp>
            <p:nvSpPr>
              <p:cNvPr id="20" name="TextBox 19">
                <a:extLst>
                  <a:ext uri="{FF2B5EF4-FFF2-40B4-BE49-F238E27FC236}">
                    <a16:creationId xmlns:a16="http://schemas.microsoft.com/office/drawing/2014/main" id="{1970B9EA-1F70-5101-1BE8-D014F5851BC3}"/>
                  </a:ext>
                </a:extLst>
              </p:cNvPr>
              <p:cNvSpPr txBox="1">
                <a:spLocks noRot="1" noChangeAspect="1" noMove="1" noResize="1" noEditPoints="1" noAdjustHandles="1" noChangeArrowheads="1" noChangeShapeType="1" noTextEdit="1"/>
              </p:cNvSpPr>
              <p:nvPr/>
            </p:nvSpPr>
            <p:spPr>
              <a:xfrm>
                <a:off x="6081421" y="985434"/>
                <a:ext cx="5961903" cy="5498236"/>
              </a:xfrm>
              <a:prstGeom prst="rect">
                <a:avLst/>
              </a:prstGeom>
              <a:blipFill>
                <a:blip r:embed="rId18"/>
                <a:stretch>
                  <a:fillRect l="-426" t="-230" b="-461"/>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107312D7-4581-6D96-548D-0A606038ED8B}"/>
              </a:ext>
            </a:extLst>
          </p:cNvPr>
          <p:cNvSpPr txBox="1"/>
          <p:nvPr/>
        </p:nvSpPr>
        <p:spPr>
          <a:xfrm>
            <a:off x="127153" y="6562462"/>
            <a:ext cx="11767778" cy="246221"/>
          </a:xfrm>
          <a:prstGeom prst="rect">
            <a:avLst/>
          </a:prstGeom>
          <a:noFill/>
        </p:spPr>
        <p:txBody>
          <a:bodyPr wrap="square">
            <a:spAutoFit/>
          </a:bodyPr>
          <a:lstStyle/>
          <a:p>
            <a:r>
              <a:rPr lang="en-CA" sz="1000" b="0" i="0" dirty="0">
                <a:effectLst/>
                <a:latin typeface="Roboto" panose="020F0502020204030204" pitchFamily="34" charset="0"/>
              </a:rPr>
              <a:t>Chan SHJ, Simons MN, </a:t>
            </a:r>
            <a:r>
              <a:rPr lang="en-CA" sz="1000" b="0" i="0" dirty="0" err="1">
                <a:effectLst/>
                <a:latin typeface="Roboto" panose="020F0502020204030204" pitchFamily="34" charset="0"/>
              </a:rPr>
              <a:t>Maranas</a:t>
            </a:r>
            <a:r>
              <a:rPr lang="en-CA" sz="1000" b="0" i="0" dirty="0">
                <a:effectLst/>
                <a:latin typeface="Roboto" panose="020F0502020204030204" pitchFamily="34" charset="0"/>
              </a:rPr>
              <a:t> CD. </a:t>
            </a:r>
            <a:r>
              <a:rPr lang="en-CA" sz="1000" b="0" i="0" dirty="0" err="1">
                <a:effectLst/>
                <a:latin typeface="Roboto" panose="020F0502020204030204" pitchFamily="34" charset="0"/>
              </a:rPr>
              <a:t>SteadyCom</a:t>
            </a:r>
            <a:r>
              <a:rPr lang="en-CA" sz="1000" b="0" i="0" dirty="0">
                <a:effectLst/>
                <a:latin typeface="Roboto" panose="020F0502020204030204" pitchFamily="34" charset="0"/>
              </a:rPr>
              <a:t>: Predicting microbial abundances while ensuring community stability. </a:t>
            </a:r>
            <a:r>
              <a:rPr lang="en-CA" sz="1000" b="0" i="0" dirty="0" err="1">
                <a:effectLst/>
                <a:latin typeface="Roboto" panose="020F0502020204030204" pitchFamily="34" charset="0"/>
              </a:rPr>
              <a:t>PLoS</a:t>
            </a:r>
            <a:r>
              <a:rPr lang="en-CA" sz="1000" b="0" i="0" dirty="0">
                <a:effectLst/>
                <a:latin typeface="Roboto" panose="020F0502020204030204" pitchFamily="34" charset="0"/>
              </a:rPr>
              <a:t> </a:t>
            </a:r>
            <a:r>
              <a:rPr lang="en-CA" sz="1000" b="0" i="0" dirty="0" err="1">
                <a:effectLst/>
                <a:latin typeface="Roboto" panose="020F0502020204030204" pitchFamily="34" charset="0"/>
              </a:rPr>
              <a:t>Comput</a:t>
            </a:r>
            <a:r>
              <a:rPr lang="en-CA" sz="1000" b="0" i="0" dirty="0">
                <a:effectLst/>
                <a:latin typeface="Roboto" panose="020F0502020204030204" pitchFamily="34" charset="0"/>
              </a:rPr>
              <a:t> Biol. 2017 May 15;13(5):e1005539. </a:t>
            </a:r>
            <a:r>
              <a:rPr lang="en-CA" sz="1000" b="0" i="0" dirty="0" err="1">
                <a:effectLst/>
                <a:latin typeface="Roboto" panose="020F0502020204030204" pitchFamily="34" charset="0"/>
              </a:rPr>
              <a:t>doi</a:t>
            </a:r>
            <a:r>
              <a:rPr lang="en-CA" sz="1000" b="0" i="0" dirty="0">
                <a:effectLst/>
                <a:latin typeface="Roboto" panose="020F0502020204030204" pitchFamily="34" charset="0"/>
              </a:rPr>
              <a:t>: 10.1371/journal.pcbi.1005539.</a:t>
            </a:r>
            <a:endParaRPr lang="en-US" sz="1000" dirty="0"/>
          </a:p>
        </p:txBody>
      </p:sp>
    </p:spTree>
    <p:extLst>
      <p:ext uri="{BB962C8B-B14F-4D97-AF65-F5344CB8AC3E}">
        <p14:creationId xmlns:p14="http://schemas.microsoft.com/office/powerpoint/2010/main" val="670229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3AD2DDB-01EC-BA3D-DB6F-083C6692DF79}"/>
              </a:ext>
            </a:extLst>
          </p:cNvPr>
          <p:cNvSpPr txBox="1"/>
          <p:nvPr/>
        </p:nvSpPr>
        <p:spPr>
          <a:xfrm>
            <a:off x="128012" y="6526265"/>
            <a:ext cx="3046988" cy="276999"/>
          </a:xfrm>
          <a:prstGeom prst="rect">
            <a:avLst/>
          </a:prstGeom>
          <a:noFill/>
        </p:spPr>
        <p:txBody>
          <a:bodyPr wrap="square" rtlCol="0">
            <a:spAutoFit/>
          </a:bodyPr>
          <a:lstStyle/>
          <a:p>
            <a:r>
              <a:rPr lang="en-US" sz="1200" i="1" dirty="0"/>
              <a:t>Created with </a:t>
            </a:r>
            <a:r>
              <a:rPr lang="en-US" sz="1200" i="1" dirty="0" err="1"/>
              <a:t>BioRender</a:t>
            </a:r>
            <a:endParaRPr lang="en-US" sz="1200" i="1" dirty="0"/>
          </a:p>
        </p:txBody>
      </p:sp>
      <p:pic>
        <p:nvPicPr>
          <p:cNvPr id="17" name="Picture 16" descr="A screen shot of a computer&#10;&#10;Description automatically generated">
            <a:extLst>
              <a:ext uri="{FF2B5EF4-FFF2-40B4-BE49-F238E27FC236}">
                <a16:creationId xmlns:a16="http://schemas.microsoft.com/office/drawing/2014/main" id="{AA5AC040-61D9-0ADD-FFCC-98F6197F29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3386" y="1147583"/>
            <a:ext cx="8500533" cy="5950373"/>
          </a:xfrm>
          <a:prstGeom prst="rect">
            <a:avLst/>
          </a:prstGeom>
        </p:spPr>
      </p:pic>
      <p:sp>
        <p:nvSpPr>
          <p:cNvPr id="5" name="Freeform 4">
            <a:extLst>
              <a:ext uri="{FF2B5EF4-FFF2-40B4-BE49-F238E27FC236}">
                <a16:creationId xmlns:a16="http://schemas.microsoft.com/office/drawing/2014/main" id="{181B4DEB-C6FF-A1D4-4E4F-60FC93704AE6}"/>
              </a:ext>
            </a:extLst>
          </p:cNvPr>
          <p:cNvSpPr/>
          <p:nvPr/>
        </p:nvSpPr>
        <p:spPr>
          <a:xfrm>
            <a:off x="4340352" y="1240558"/>
            <a:ext cx="7723636" cy="5564367"/>
          </a:xfrm>
          <a:custGeom>
            <a:avLst/>
            <a:gdLst>
              <a:gd name="connsiteX0" fmla="*/ 2987040 w 7693152"/>
              <a:gd name="connsiteY0" fmla="*/ 0 h 5596128"/>
              <a:gd name="connsiteX1" fmla="*/ 2962656 w 7693152"/>
              <a:gd name="connsiteY1" fmla="*/ 3791712 h 5596128"/>
              <a:gd name="connsiteX2" fmla="*/ 12192 w 7693152"/>
              <a:gd name="connsiteY2" fmla="*/ 3767328 h 5596128"/>
              <a:gd name="connsiteX3" fmla="*/ 0 w 7693152"/>
              <a:gd name="connsiteY3" fmla="*/ 5596128 h 5596128"/>
              <a:gd name="connsiteX4" fmla="*/ 7693152 w 7693152"/>
              <a:gd name="connsiteY4" fmla="*/ 5571744 h 5596128"/>
              <a:gd name="connsiteX5" fmla="*/ 7620000 w 7693152"/>
              <a:gd name="connsiteY5" fmla="*/ 12192 h 5596128"/>
              <a:gd name="connsiteX6" fmla="*/ 2987040 w 7693152"/>
              <a:gd name="connsiteY6" fmla="*/ 0 h 5596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93152" h="5596128">
                <a:moveTo>
                  <a:pt x="2987040" y="0"/>
                </a:moveTo>
                <a:lnTo>
                  <a:pt x="2962656" y="3791712"/>
                </a:lnTo>
                <a:lnTo>
                  <a:pt x="12192" y="3767328"/>
                </a:lnTo>
                <a:lnTo>
                  <a:pt x="0" y="5596128"/>
                </a:lnTo>
                <a:lnTo>
                  <a:pt x="7693152" y="5571744"/>
                </a:lnTo>
                <a:lnTo>
                  <a:pt x="7620000" y="12192"/>
                </a:lnTo>
                <a:lnTo>
                  <a:pt x="2987040" y="0"/>
                </a:lnTo>
                <a:close/>
              </a:path>
            </a:pathLst>
          </a:cu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31">
            <a:extLst>
              <a:ext uri="{FF2B5EF4-FFF2-40B4-BE49-F238E27FC236}">
                <a16:creationId xmlns:a16="http://schemas.microsoft.com/office/drawing/2014/main" id="{A0971A7C-81C3-3CD1-E209-538DD99B63FC}"/>
              </a:ext>
            </a:extLst>
          </p:cNvPr>
          <p:cNvSpPr txBox="1">
            <a:spLocks/>
          </p:cNvSpPr>
          <p:nvPr/>
        </p:nvSpPr>
        <p:spPr>
          <a:xfrm>
            <a:off x="238081" y="112927"/>
            <a:ext cx="11115605" cy="112763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a:t>Community Metabolic Modelling and Validation Framework</a:t>
            </a:r>
            <a:endParaRPr lang="en-US" sz="3600" dirty="0"/>
          </a:p>
        </p:txBody>
      </p:sp>
    </p:spTree>
    <p:extLst>
      <p:ext uri="{BB962C8B-B14F-4D97-AF65-F5344CB8AC3E}">
        <p14:creationId xmlns:p14="http://schemas.microsoft.com/office/powerpoint/2010/main" val="551426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5FD083A-725C-EFBB-8731-9420803B6B1F}"/>
                  </a:ext>
                </a:extLst>
              </p:cNvPr>
              <p:cNvSpPr txBox="1"/>
              <p:nvPr/>
            </p:nvSpPr>
            <p:spPr>
              <a:xfrm>
                <a:off x="898645" y="4834728"/>
                <a:ext cx="4939511" cy="2079095"/>
              </a:xfrm>
              <a:prstGeom prst="rect">
                <a:avLst/>
              </a:prstGeom>
              <a:noFill/>
            </p:spPr>
            <p:txBody>
              <a:bodyPr wrap="square" rtlCol="0">
                <a:spAutoFit/>
              </a:bodyPr>
              <a:lstStyle/>
              <a:p>
                <a:r>
                  <a:rPr lang="en-CA" sz="1400" dirty="0">
                    <a:solidFill>
                      <a:schemeClr val="accent6">
                        <a:lumMod val="75000"/>
                      </a:schemeClr>
                    </a:solidFill>
                  </a:rPr>
                  <a:t>where,</a:t>
                </a:r>
              </a:p>
              <a:p>
                <a14:m>
                  <m:oMath xmlns:m="http://schemas.openxmlformats.org/officeDocument/2006/math">
                    <m:sSubSup>
                      <m:sSubSupPr>
                        <m:ctrlPr>
                          <a:rPr lang="en-CA" sz="1400" b="0" i="1" smtClean="0">
                            <a:solidFill>
                              <a:schemeClr val="accent6">
                                <a:lumMod val="75000"/>
                              </a:schemeClr>
                            </a:solidFill>
                            <a:latin typeface="Cambria Math" panose="02040503050406030204" pitchFamily="18" charset="0"/>
                          </a:rPr>
                        </m:ctrlPr>
                      </m:sSubSupPr>
                      <m:e>
                        <m:r>
                          <a:rPr lang="en-CA" sz="1400" b="0" i="1" smtClean="0">
                            <a:solidFill>
                              <a:schemeClr val="accent6">
                                <a:lumMod val="75000"/>
                              </a:schemeClr>
                            </a:solidFill>
                            <a:latin typeface="Cambria Math" panose="02040503050406030204" pitchFamily="18" charset="0"/>
                          </a:rPr>
                          <m:t>𝑉</m:t>
                        </m:r>
                      </m:e>
                      <m:sub>
                        <m:r>
                          <a:rPr lang="en-CA" sz="1400" b="0" i="1" smtClean="0">
                            <a:solidFill>
                              <a:schemeClr val="accent6">
                                <a:lumMod val="75000"/>
                              </a:schemeClr>
                            </a:solidFill>
                            <a:latin typeface="Cambria Math" panose="02040503050406030204" pitchFamily="18" charset="0"/>
                          </a:rPr>
                          <m:t>𝑒𝑥</m:t>
                        </m:r>
                        <m:r>
                          <a:rPr lang="en-CA" sz="1400" b="0" i="1" smtClean="0">
                            <a:solidFill>
                              <a:schemeClr val="accent6">
                                <a:lumMod val="75000"/>
                              </a:schemeClr>
                            </a:solidFill>
                            <a:latin typeface="Cambria Math" panose="02040503050406030204" pitchFamily="18" charset="0"/>
                          </a:rPr>
                          <m:t>(</m:t>
                        </m:r>
                        <m:r>
                          <a:rPr lang="en-CA" sz="1400" b="0" i="1" smtClean="0">
                            <a:solidFill>
                              <a:schemeClr val="accent6">
                                <a:lumMod val="75000"/>
                              </a:schemeClr>
                            </a:solidFill>
                            <a:latin typeface="Cambria Math" panose="02040503050406030204" pitchFamily="18" charset="0"/>
                          </a:rPr>
                          <m:t>𝑖</m:t>
                        </m:r>
                        <m:r>
                          <a:rPr lang="en-CA" sz="1400" b="0" i="1" smtClean="0">
                            <a:solidFill>
                              <a:schemeClr val="accent6">
                                <a:lumMod val="75000"/>
                              </a:schemeClr>
                            </a:solidFill>
                            <a:latin typeface="Cambria Math" panose="02040503050406030204" pitchFamily="18" charset="0"/>
                          </a:rPr>
                          <m:t>)</m:t>
                        </m:r>
                      </m:sub>
                      <m:sup>
                        <m:r>
                          <a:rPr lang="en-CA" sz="1400" b="0" i="1" smtClean="0">
                            <a:solidFill>
                              <a:schemeClr val="accent6">
                                <a:lumMod val="75000"/>
                              </a:schemeClr>
                            </a:solidFill>
                            <a:latin typeface="Cambria Math" panose="02040503050406030204" pitchFamily="18" charset="0"/>
                          </a:rPr>
                          <m:t>𝑘</m:t>
                        </m:r>
                      </m:sup>
                    </m:sSubSup>
                  </m:oMath>
                </a14:m>
                <a:r>
                  <a:rPr lang="en-US" sz="1400" dirty="0">
                    <a:solidFill>
                      <a:schemeClr val="accent6">
                        <a:lumMod val="75000"/>
                      </a:schemeClr>
                    </a:solidFill>
                  </a:rPr>
                  <a:t> = the transport reaction fluxes from the extracellular space into the individual community member </a:t>
                </a:r>
                <a:r>
                  <a:rPr lang="en-US" sz="1400" i="1" dirty="0">
                    <a:solidFill>
                      <a:schemeClr val="accent6">
                        <a:lumMod val="75000"/>
                      </a:schemeClr>
                    </a:solidFill>
                  </a:rPr>
                  <a:t>k</a:t>
                </a:r>
                <a:r>
                  <a:rPr lang="en-US" sz="1400" dirty="0">
                    <a:solidFill>
                      <a:schemeClr val="accent6">
                        <a:lumMod val="75000"/>
                      </a:schemeClr>
                    </a:solidFill>
                  </a:rPr>
                  <a:t> taking into account the abundance of the organism (mmol/</a:t>
                </a:r>
                <a:r>
                  <a:rPr lang="en-US" sz="1400" dirty="0" err="1">
                    <a:solidFill>
                      <a:schemeClr val="accent6">
                        <a:lumMod val="75000"/>
                      </a:schemeClr>
                    </a:solidFill>
                  </a:rPr>
                  <a:t>hr</a:t>
                </a:r>
                <a:r>
                  <a:rPr lang="en-US" sz="1400" dirty="0">
                    <a:solidFill>
                      <a:schemeClr val="accent6">
                        <a:lumMod val="75000"/>
                      </a:schemeClr>
                    </a:solidFill>
                  </a:rPr>
                  <a:t>/g of fecal matter)</a:t>
                </a:r>
              </a:p>
              <a:p>
                <a:endParaRPr lang="en-CA" sz="1400" i="1" dirty="0">
                  <a:solidFill>
                    <a:schemeClr val="accent6">
                      <a:lumMod val="75000"/>
                    </a:schemeClr>
                  </a:solidFill>
                  <a:latin typeface="Cambria Math" panose="02040503050406030204" pitchFamily="18" charset="0"/>
                </a:endParaRPr>
              </a:p>
              <a:p>
                <a14:m>
                  <m:oMath xmlns:m="http://schemas.openxmlformats.org/officeDocument/2006/math">
                    <m:sSubSup>
                      <m:sSubSupPr>
                        <m:ctrlPr>
                          <a:rPr lang="en-US" sz="1400" i="1" smtClean="0">
                            <a:solidFill>
                              <a:schemeClr val="accent6">
                                <a:lumMod val="75000"/>
                              </a:schemeClr>
                            </a:solidFill>
                            <a:latin typeface="Cambria Math" panose="02040503050406030204" pitchFamily="18" charset="0"/>
                          </a:rPr>
                        </m:ctrlPr>
                      </m:sSubSupPr>
                      <m:e>
                        <m:r>
                          <a:rPr lang="en-CA" sz="1400" b="0" i="1" smtClean="0">
                            <a:solidFill>
                              <a:schemeClr val="accent6">
                                <a:lumMod val="75000"/>
                              </a:schemeClr>
                            </a:solidFill>
                            <a:latin typeface="Cambria Math" panose="02040503050406030204" pitchFamily="18" charset="0"/>
                          </a:rPr>
                          <m:t>𝑢</m:t>
                        </m:r>
                      </m:e>
                      <m:sub>
                        <m:r>
                          <a:rPr lang="en-CA" sz="1400" b="0" i="1" smtClean="0">
                            <a:solidFill>
                              <a:schemeClr val="accent6">
                                <a:lumMod val="75000"/>
                              </a:schemeClr>
                            </a:solidFill>
                            <a:latin typeface="Cambria Math" panose="02040503050406030204" pitchFamily="18" charset="0"/>
                          </a:rPr>
                          <m:t>𝑖</m:t>
                        </m:r>
                      </m:sub>
                      <m:sup>
                        <m:r>
                          <a:rPr lang="en-CA" sz="1400" b="0" i="1" smtClean="0">
                            <a:solidFill>
                              <a:schemeClr val="accent6">
                                <a:lumMod val="75000"/>
                              </a:schemeClr>
                            </a:solidFill>
                            <a:latin typeface="Cambria Math" panose="02040503050406030204" pitchFamily="18" charset="0"/>
                          </a:rPr>
                          <m:t>𝑐</m:t>
                        </m:r>
                      </m:sup>
                    </m:sSubSup>
                  </m:oMath>
                </a14:m>
                <a:r>
                  <a:rPr lang="en-US" sz="1400" dirty="0">
                    <a:solidFill>
                      <a:schemeClr val="accent6">
                        <a:lumMod val="75000"/>
                      </a:schemeClr>
                    </a:solidFill>
                  </a:rPr>
                  <a:t> and </a:t>
                </a:r>
                <a14:m>
                  <m:oMath xmlns:m="http://schemas.openxmlformats.org/officeDocument/2006/math">
                    <m:sSubSup>
                      <m:sSubSupPr>
                        <m:ctrlPr>
                          <a:rPr lang="en-CA" sz="1400" i="1">
                            <a:solidFill>
                              <a:schemeClr val="accent6">
                                <a:lumMod val="75000"/>
                              </a:schemeClr>
                            </a:solidFill>
                            <a:latin typeface="Cambria Math" panose="02040503050406030204" pitchFamily="18" charset="0"/>
                          </a:rPr>
                        </m:ctrlPr>
                      </m:sSubSupPr>
                      <m:e>
                        <m:r>
                          <a:rPr lang="en-CA" sz="1400" i="1">
                            <a:solidFill>
                              <a:schemeClr val="accent6">
                                <a:lumMod val="75000"/>
                              </a:schemeClr>
                            </a:solidFill>
                            <a:latin typeface="Cambria Math" panose="02040503050406030204" pitchFamily="18" charset="0"/>
                          </a:rPr>
                          <m:t>𝑒</m:t>
                        </m:r>
                      </m:e>
                      <m:sub>
                        <m:r>
                          <a:rPr lang="en-CA" sz="1400" i="1">
                            <a:solidFill>
                              <a:schemeClr val="accent6">
                                <a:lumMod val="75000"/>
                              </a:schemeClr>
                            </a:solidFill>
                            <a:latin typeface="Cambria Math" panose="02040503050406030204" pitchFamily="18" charset="0"/>
                          </a:rPr>
                          <m:t>𝑖</m:t>
                        </m:r>
                      </m:sub>
                      <m:sup>
                        <m:r>
                          <a:rPr lang="en-CA" sz="1400" i="1">
                            <a:solidFill>
                              <a:schemeClr val="accent6">
                                <a:lumMod val="75000"/>
                              </a:schemeClr>
                            </a:solidFill>
                            <a:latin typeface="Cambria Math" panose="02040503050406030204" pitchFamily="18" charset="0"/>
                          </a:rPr>
                          <m:t>𝑐</m:t>
                        </m:r>
                      </m:sup>
                    </m:sSubSup>
                  </m:oMath>
                </a14:m>
                <a:r>
                  <a:rPr lang="en-US" sz="1400" dirty="0">
                    <a:solidFill>
                      <a:schemeClr val="accent6">
                        <a:lumMod val="75000"/>
                      </a:schemeClr>
                    </a:solidFill>
                  </a:rPr>
                  <a:t> = </a:t>
                </a:r>
                <a:r>
                  <a:rPr lang="en-US" altLang="en-US" sz="1400" dirty="0">
                    <a:solidFill>
                      <a:schemeClr val="accent6">
                        <a:lumMod val="75000"/>
                      </a:schemeClr>
                    </a:solidFill>
                  </a:rPr>
                  <a:t>the community uptake and export rates, respectively </a:t>
                </a:r>
                <a:r>
                  <a:rPr lang="en-US" sz="1400" dirty="0">
                    <a:solidFill>
                      <a:schemeClr val="accent6">
                        <a:lumMod val="75000"/>
                      </a:schemeClr>
                    </a:solidFill>
                  </a:rPr>
                  <a:t>(mmol/</a:t>
                </a:r>
                <a:r>
                  <a:rPr lang="en-US" sz="1400" dirty="0" err="1">
                    <a:solidFill>
                      <a:schemeClr val="accent6">
                        <a:lumMod val="75000"/>
                      </a:schemeClr>
                    </a:solidFill>
                  </a:rPr>
                  <a:t>hr</a:t>
                </a:r>
                <a:r>
                  <a:rPr lang="en-US" sz="1400" dirty="0">
                    <a:solidFill>
                      <a:schemeClr val="accent6">
                        <a:lumMod val="75000"/>
                      </a:schemeClr>
                    </a:solidFill>
                  </a:rPr>
                  <a:t>/g of fecal matter)</a:t>
                </a:r>
                <a:endParaRPr lang="en-CA" sz="1400" i="1" dirty="0">
                  <a:solidFill>
                    <a:schemeClr val="accent6">
                      <a:lumMod val="75000"/>
                    </a:schemeClr>
                  </a:solidFill>
                  <a:latin typeface="Cambria Math" panose="02040503050406030204" pitchFamily="18" charset="0"/>
                </a:endParaRPr>
              </a:p>
              <a:p>
                <a:endParaRPr lang="en-US" altLang="en-US" sz="1400" dirty="0">
                  <a:solidFill>
                    <a:schemeClr val="accent6">
                      <a:lumMod val="75000"/>
                    </a:schemeClr>
                  </a:solidFill>
                </a:endParaRPr>
              </a:p>
              <a:p>
                <a:endParaRPr lang="en-US" sz="1400" dirty="0">
                  <a:solidFill>
                    <a:schemeClr val="accent6">
                      <a:lumMod val="75000"/>
                    </a:schemeClr>
                  </a:solidFill>
                </a:endParaRPr>
              </a:p>
            </p:txBody>
          </p:sp>
        </mc:Choice>
        <mc:Fallback xmlns="">
          <p:sp>
            <p:nvSpPr>
              <p:cNvPr id="5" name="TextBox 4">
                <a:extLst>
                  <a:ext uri="{FF2B5EF4-FFF2-40B4-BE49-F238E27FC236}">
                    <a16:creationId xmlns:a16="http://schemas.microsoft.com/office/drawing/2014/main" id="{75FD083A-725C-EFBB-8731-9420803B6B1F}"/>
                  </a:ext>
                </a:extLst>
              </p:cNvPr>
              <p:cNvSpPr txBox="1">
                <a:spLocks noRot="1" noChangeAspect="1" noMove="1" noResize="1" noEditPoints="1" noAdjustHandles="1" noChangeArrowheads="1" noChangeShapeType="1" noTextEdit="1"/>
              </p:cNvSpPr>
              <p:nvPr/>
            </p:nvSpPr>
            <p:spPr>
              <a:xfrm>
                <a:off x="898645" y="4834728"/>
                <a:ext cx="4939511" cy="2079095"/>
              </a:xfrm>
              <a:prstGeom prst="rect">
                <a:avLst/>
              </a:prstGeom>
              <a:blipFill>
                <a:blip r:embed="rId3"/>
                <a:stretch>
                  <a:fillRect l="-256" t="-6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9936342-7E18-446F-B8E1-11FB151F5ECD}"/>
                  </a:ext>
                </a:extLst>
              </p:cNvPr>
              <p:cNvSpPr txBox="1"/>
              <p:nvPr/>
            </p:nvSpPr>
            <p:spPr>
              <a:xfrm>
                <a:off x="6528262" y="4848558"/>
                <a:ext cx="4722055" cy="1978106"/>
              </a:xfrm>
              <a:prstGeom prst="rect">
                <a:avLst/>
              </a:prstGeom>
              <a:noFill/>
            </p:spPr>
            <p:txBody>
              <a:bodyPr wrap="square">
                <a:spAutoFit/>
              </a:bodyPr>
              <a:lstStyle/>
              <a:p>
                <a:pPr marL="0" indent="0">
                  <a:buNone/>
                </a:pPr>
                <a:r>
                  <a:rPr lang="en-US" sz="1400" dirty="0">
                    <a:solidFill>
                      <a:srgbClr val="0070C0"/>
                    </a:solidFill>
                  </a:rPr>
                  <a:t>where,</a:t>
                </a:r>
              </a:p>
              <a:p>
                <a14:m>
                  <m:oMath xmlns:m="http://schemas.openxmlformats.org/officeDocument/2006/math">
                    <m:sSub>
                      <m:sSubPr>
                        <m:ctrlPr>
                          <a:rPr lang="en-US" sz="1400" i="1" smtClean="0">
                            <a:solidFill>
                              <a:srgbClr val="0070C0"/>
                            </a:solidFill>
                            <a:latin typeface="Cambria Math" panose="02040503050406030204" pitchFamily="18" charset="0"/>
                          </a:rPr>
                        </m:ctrlPr>
                      </m:sSubPr>
                      <m:e>
                        <m:r>
                          <a:rPr lang="en-US" sz="1400" b="0" i="1" smtClean="0">
                            <a:solidFill>
                              <a:srgbClr val="0070C0"/>
                            </a:solidFill>
                            <a:latin typeface="Cambria Math" panose="02040503050406030204" pitchFamily="18" charset="0"/>
                          </a:rPr>
                          <m:t>𝑞</m:t>
                        </m:r>
                      </m:e>
                      <m:sub>
                        <m:sSub>
                          <m:sSubPr>
                            <m:ctrlPr>
                              <a:rPr lang="en-US" sz="1400" i="1" smtClean="0">
                                <a:solidFill>
                                  <a:srgbClr val="0070C0"/>
                                </a:solidFill>
                                <a:latin typeface="Cambria Math" panose="02040503050406030204" pitchFamily="18" charset="0"/>
                              </a:rPr>
                            </m:ctrlPr>
                          </m:sSubPr>
                          <m:e>
                            <m:r>
                              <a:rPr lang="en-US" sz="1400" b="0" i="1" smtClean="0">
                                <a:solidFill>
                                  <a:srgbClr val="0070C0"/>
                                </a:solidFill>
                                <a:latin typeface="Cambria Math" panose="02040503050406030204" pitchFamily="18" charset="0"/>
                              </a:rPr>
                              <m:t>𝑠</m:t>
                            </m:r>
                          </m:e>
                          <m:sub>
                            <m:r>
                              <a:rPr lang="en-US" sz="1400" b="0" i="1" smtClean="0">
                                <a:solidFill>
                                  <a:srgbClr val="0070C0"/>
                                </a:solidFill>
                                <a:latin typeface="Cambria Math" panose="02040503050406030204" pitchFamily="18" charset="0"/>
                              </a:rPr>
                              <m:t>𝑖</m:t>
                            </m:r>
                            <m:r>
                              <a:rPr lang="en-US" sz="1400" b="0" i="1" smtClean="0">
                                <a:solidFill>
                                  <a:srgbClr val="0070C0"/>
                                </a:solidFill>
                                <a:latin typeface="Cambria Math" panose="02040503050406030204" pitchFamily="18" charset="0"/>
                              </a:rPr>
                              <m:t>,</m:t>
                            </m:r>
                            <m:r>
                              <a:rPr lang="en-US" sz="1400" b="0" i="1" smtClean="0">
                                <a:solidFill>
                                  <a:srgbClr val="0070C0"/>
                                </a:solidFill>
                                <a:latin typeface="Cambria Math" panose="02040503050406030204" pitchFamily="18" charset="0"/>
                              </a:rPr>
                              <m:t>𝑗</m:t>
                            </m:r>
                          </m:sub>
                        </m:sSub>
                      </m:sub>
                    </m:sSub>
                    <m:sSub>
                      <m:sSubPr>
                        <m:ctrlPr>
                          <a:rPr lang="en-US" sz="1400" i="1" smtClean="0">
                            <a:solidFill>
                              <a:srgbClr val="0070C0"/>
                            </a:solidFill>
                            <a:latin typeface="Cambria Math" panose="02040503050406030204" pitchFamily="18" charset="0"/>
                          </a:rPr>
                        </m:ctrlPr>
                      </m:sSubPr>
                      <m:e>
                        <m:r>
                          <a:rPr lang="en-US" sz="1400" b="0" i="1" smtClean="0">
                            <a:solidFill>
                              <a:srgbClr val="0070C0"/>
                            </a:solidFill>
                            <a:latin typeface="Cambria Math" panose="02040503050406030204" pitchFamily="18" charset="0"/>
                          </a:rPr>
                          <m:t>𝑥</m:t>
                        </m:r>
                      </m:e>
                      <m:sub>
                        <m:r>
                          <a:rPr lang="en-US" sz="1400" b="0" i="1" smtClean="0">
                            <a:solidFill>
                              <a:srgbClr val="0070C0"/>
                            </a:solidFill>
                            <a:latin typeface="Cambria Math" panose="02040503050406030204" pitchFamily="18" charset="0"/>
                          </a:rPr>
                          <m:t>𝑗</m:t>
                        </m:r>
                      </m:sub>
                    </m:sSub>
                  </m:oMath>
                </a14:m>
                <a:r>
                  <a:rPr lang="en-US" sz="1400" dirty="0">
                    <a:solidFill>
                      <a:srgbClr val="0070C0"/>
                    </a:solidFill>
                  </a:rPr>
                  <a:t> = flux in mmol per </a:t>
                </a:r>
                <a:r>
                  <a:rPr lang="en-US" sz="1400" dirty="0" err="1">
                    <a:solidFill>
                      <a:srgbClr val="0070C0"/>
                    </a:solidFill>
                  </a:rPr>
                  <a:t>hr</a:t>
                </a:r>
                <a:r>
                  <a:rPr lang="en-US" sz="1400" dirty="0">
                    <a:solidFill>
                      <a:srgbClr val="0070C0"/>
                    </a:solidFill>
                  </a:rPr>
                  <a:t> per g of fecal matter</a:t>
                </a:r>
              </a:p>
              <a:p>
                <a:pPr marL="0" indent="0">
                  <a:buNone/>
                </a:pPr>
                <a14:m>
                  <m:oMath xmlns:m="http://schemas.openxmlformats.org/officeDocument/2006/math">
                    <m:sSub>
                      <m:sSubPr>
                        <m:ctrlPr>
                          <a:rPr lang="en-US" sz="1400" i="1" smtClean="0">
                            <a:solidFill>
                              <a:srgbClr val="0070C0"/>
                            </a:solidFill>
                            <a:latin typeface="Cambria Math" panose="02040503050406030204" pitchFamily="18" charset="0"/>
                          </a:rPr>
                        </m:ctrlPr>
                      </m:sSubPr>
                      <m:e>
                        <m:r>
                          <a:rPr lang="en-US" sz="1400" b="0" i="1" smtClean="0">
                            <a:solidFill>
                              <a:srgbClr val="0070C0"/>
                            </a:solidFill>
                            <a:latin typeface="Cambria Math" panose="02040503050406030204" pitchFamily="18" charset="0"/>
                          </a:rPr>
                          <m:t>𝑞</m:t>
                        </m:r>
                      </m:e>
                      <m:sub>
                        <m:sSub>
                          <m:sSubPr>
                            <m:ctrlPr>
                              <a:rPr lang="en-US" sz="1400" i="1" smtClean="0">
                                <a:solidFill>
                                  <a:srgbClr val="0070C0"/>
                                </a:solidFill>
                                <a:latin typeface="Cambria Math" panose="02040503050406030204" pitchFamily="18" charset="0"/>
                              </a:rPr>
                            </m:ctrlPr>
                          </m:sSubPr>
                          <m:e>
                            <m:r>
                              <a:rPr lang="en-US" sz="1400" b="0" i="1" smtClean="0">
                                <a:solidFill>
                                  <a:srgbClr val="0070C0"/>
                                </a:solidFill>
                                <a:latin typeface="Cambria Math" panose="02040503050406030204" pitchFamily="18" charset="0"/>
                              </a:rPr>
                              <m:t>𝑠</m:t>
                            </m:r>
                          </m:e>
                          <m:sub>
                            <m:r>
                              <a:rPr lang="en-US" sz="1400" b="0" i="1" smtClean="0">
                                <a:solidFill>
                                  <a:srgbClr val="0070C0"/>
                                </a:solidFill>
                                <a:latin typeface="Cambria Math" panose="02040503050406030204" pitchFamily="18" charset="0"/>
                              </a:rPr>
                              <m:t>𝑖</m:t>
                            </m:r>
                            <m:r>
                              <a:rPr lang="en-US" sz="1400" b="0" i="1" smtClean="0">
                                <a:solidFill>
                                  <a:srgbClr val="0070C0"/>
                                </a:solidFill>
                                <a:latin typeface="Cambria Math" panose="02040503050406030204" pitchFamily="18" charset="0"/>
                              </a:rPr>
                              <m:t>,</m:t>
                            </m:r>
                            <m:r>
                              <a:rPr lang="en-US" sz="1400" b="0" i="1" smtClean="0">
                                <a:solidFill>
                                  <a:srgbClr val="0070C0"/>
                                </a:solidFill>
                                <a:latin typeface="Cambria Math" panose="02040503050406030204" pitchFamily="18" charset="0"/>
                              </a:rPr>
                              <m:t>𝑗</m:t>
                            </m:r>
                          </m:sub>
                        </m:sSub>
                      </m:sub>
                    </m:sSub>
                  </m:oMath>
                </a14:m>
                <a:r>
                  <a:rPr lang="en-US" sz="1400" dirty="0">
                    <a:solidFill>
                      <a:srgbClr val="0070C0"/>
                    </a:solidFill>
                  </a:rPr>
                  <a:t> = flux (mmol per </a:t>
                </a:r>
                <a:r>
                  <a:rPr lang="en-US" sz="1400" dirty="0" err="1">
                    <a:solidFill>
                      <a:srgbClr val="0070C0"/>
                    </a:solidFill>
                  </a:rPr>
                  <a:t>gDW</a:t>
                </a:r>
                <a:r>
                  <a:rPr lang="en-US" sz="1400" dirty="0">
                    <a:solidFill>
                      <a:srgbClr val="0070C0"/>
                    </a:solidFill>
                  </a:rPr>
                  <a:t> per </a:t>
                </a:r>
                <a:r>
                  <a:rPr lang="en-US" sz="1400" dirty="0" err="1">
                    <a:solidFill>
                      <a:srgbClr val="0070C0"/>
                    </a:solidFill>
                  </a:rPr>
                  <a:t>hr</a:t>
                </a:r>
                <a:r>
                  <a:rPr lang="en-US" sz="1400" dirty="0">
                    <a:solidFill>
                      <a:srgbClr val="0070C0"/>
                    </a:solidFill>
                  </a:rPr>
                  <a:t>) of metabolite </a:t>
                </a:r>
                <a:r>
                  <a:rPr lang="en-US" sz="1400" dirty="0" err="1">
                    <a:solidFill>
                      <a:srgbClr val="0070C0"/>
                    </a:solidFill>
                  </a:rPr>
                  <a:t>i</a:t>
                </a:r>
                <a:r>
                  <a:rPr lang="en-US" sz="1400" dirty="0">
                    <a:solidFill>
                      <a:srgbClr val="0070C0"/>
                    </a:solidFill>
                  </a:rPr>
                  <a:t> for bacteria j</a:t>
                </a:r>
              </a:p>
              <a:p>
                <a:pPr marL="0" indent="0">
                  <a:buNone/>
                </a:pPr>
                <a14:m>
                  <m:oMath xmlns:m="http://schemas.openxmlformats.org/officeDocument/2006/math">
                    <m:sSub>
                      <m:sSubPr>
                        <m:ctrlPr>
                          <a:rPr lang="en-US" sz="1400" i="1" smtClean="0">
                            <a:solidFill>
                              <a:srgbClr val="0070C0"/>
                            </a:solidFill>
                            <a:latin typeface="Cambria Math" panose="02040503050406030204" pitchFamily="18" charset="0"/>
                          </a:rPr>
                        </m:ctrlPr>
                      </m:sSubPr>
                      <m:e>
                        <m:r>
                          <a:rPr lang="en-US" sz="1400" b="0" i="1" smtClean="0">
                            <a:solidFill>
                              <a:srgbClr val="0070C0"/>
                            </a:solidFill>
                            <a:latin typeface="Cambria Math" panose="02040503050406030204" pitchFamily="18" charset="0"/>
                          </a:rPr>
                          <m:t>𝑥</m:t>
                        </m:r>
                      </m:e>
                      <m:sub>
                        <m:r>
                          <a:rPr lang="en-US" sz="1400" b="0" i="1" smtClean="0">
                            <a:solidFill>
                              <a:srgbClr val="0070C0"/>
                            </a:solidFill>
                            <a:latin typeface="Cambria Math" panose="02040503050406030204" pitchFamily="18" charset="0"/>
                          </a:rPr>
                          <m:t>𝑗</m:t>
                        </m:r>
                      </m:sub>
                    </m:sSub>
                  </m:oMath>
                </a14:m>
                <a:r>
                  <a:rPr lang="en-US" sz="1400" dirty="0">
                    <a:solidFill>
                      <a:srgbClr val="0070C0"/>
                    </a:solidFill>
                  </a:rPr>
                  <a:t> = abundance of bacteria j (</a:t>
                </a:r>
                <a:r>
                  <a:rPr lang="en-US" sz="1400" dirty="0" err="1">
                    <a:solidFill>
                      <a:srgbClr val="0070C0"/>
                    </a:solidFill>
                  </a:rPr>
                  <a:t>gdW</a:t>
                </a:r>
                <a:r>
                  <a:rPr lang="en-US" sz="1400" dirty="0">
                    <a:solidFill>
                      <a:srgbClr val="0070C0"/>
                    </a:solidFill>
                  </a:rPr>
                  <a:t> per g of fecal matter)</a:t>
                </a:r>
              </a:p>
              <a:p>
                <a:pPr marL="0" indent="0">
                  <a:buNone/>
                </a:pPr>
                <a14:m>
                  <m:oMath xmlns:m="http://schemas.openxmlformats.org/officeDocument/2006/math">
                    <m:r>
                      <a:rPr lang="en-US" sz="1400" b="0" i="1" smtClean="0">
                        <a:solidFill>
                          <a:srgbClr val="0070C0"/>
                        </a:solidFill>
                        <a:latin typeface="Cambria Math" panose="02040503050406030204" pitchFamily="18" charset="0"/>
                        <a:ea typeface="Cambria Math" panose="02040503050406030204" pitchFamily="18" charset="0"/>
                      </a:rPr>
                      <m:t>𝜇</m:t>
                    </m:r>
                  </m:oMath>
                </a14:m>
                <a:r>
                  <a:rPr lang="en-US" sz="1400" dirty="0">
                    <a:solidFill>
                      <a:srgbClr val="0070C0"/>
                    </a:solidFill>
                  </a:rPr>
                  <a:t> = rate of peristalsis in mouse colon (1/</a:t>
                </a:r>
                <a:r>
                  <a:rPr lang="en-US" sz="1400" dirty="0" err="1">
                    <a:solidFill>
                      <a:srgbClr val="0070C0"/>
                    </a:solidFill>
                  </a:rPr>
                  <a:t>hr</a:t>
                </a:r>
                <a:r>
                  <a:rPr lang="en-US" sz="1400" dirty="0">
                    <a:solidFill>
                      <a:srgbClr val="0070C0"/>
                    </a:solidFill>
                  </a:rPr>
                  <a:t>)</a:t>
                </a:r>
              </a:p>
              <a:p>
                <a14:m>
                  <m:oMath xmlns:m="http://schemas.openxmlformats.org/officeDocument/2006/math">
                    <m:sSubSup>
                      <m:sSubSupPr>
                        <m:ctrlPr>
                          <a:rPr lang="en-US" sz="1400" b="0" i="1" smtClean="0">
                            <a:solidFill>
                              <a:srgbClr val="0070C0"/>
                            </a:solidFill>
                            <a:latin typeface="Cambria Math" panose="02040503050406030204" pitchFamily="18" charset="0"/>
                            <a:ea typeface="Cambria Math" panose="02040503050406030204" pitchFamily="18" charset="0"/>
                          </a:rPr>
                        </m:ctrlPr>
                      </m:sSubSupPr>
                      <m:e>
                        <m:r>
                          <a:rPr lang="en-US" sz="1400" b="0" i="1" smtClean="0">
                            <a:solidFill>
                              <a:srgbClr val="0070C0"/>
                            </a:solidFill>
                            <a:latin typeface="Cambria Math" panose="02040503050406030204" pitchFamily="18" charset="0"/>
                            <a:ea typeface="Cambria Math" panose="02040503050406030204" pitchFamily="18" charset="0"/>
                          </a:rPr>
                          <m:t>𝑠</m:t>
                        </m:r>
                      </m:e>
                      <m:sub>
                        <m:r>
                          <a:rPr lang="en-US" sz="1400" b="0" i="1" smtClean="0">
                            <a:solidFill>
                              <a:srgbClr val="0070C0"/>
                            </a:solidFill>
                            <a:latin typeface="Cambria Math" panose="02040503050406030204" pitchFamily="18" charset="0"/>
                            <a:ea typeface="Cambria Math" panose="02040503050406030204" pitchFamily="18" charset="0"/>
                          </a:rPr>
                          <m:t>𝐻𝐷𝐶</m:t>
                        </m:r>
                        <m:r>
                          <a:rPr lang="en-US" sz="1400" b="0" i="1" smtClean="0">
                            <a:solidFill>
                              <a:srgbClr val="0070C0"/>
                            </a:solidFill>
                            <a:latin typeface="Cambria Math" panose="02040503050406030204" pitchFamily="18" charset="0"/>
                            <a:ea typeface="Cambria Math" panose="02040503050406030204" pitchFamily="18" charset="0"/>
                          </a:rPr>
                          <m:t>1</m:t>
                        </m:r>
                      </m:sub>
                      <m:sup>
                        <m:r>
                          <a:rPr lang="en-US" sz="1400" b="0" i="1" smtClean="0">
                            <a:solidFill>
                              <a:srgbClr val="0070C0"/>
                            </a:solidFill>
                            <a:latin typeface="Cambria Math" panose="02040503050406030204" pitchFamily="18" charset="0"/>
                            <a:ea typeface="Cambria Math" panose="02040503050406030204" pitchFamily="18" charset="0"/>
                          </a:rPr>
                          <m:t>𝑖</m:t>
                        </m:r>
                      </m:sup>
                    </m:sSubSup>
                  </m:oMath>
                </a14:m>
                <a:r>
                  <a:rPr lang="en-US" sz="1400" dirty="0">
                    <a:solidFill>
                      <a:srgbClr val="0070C0"/>
                    </a:solidFill>
                  </a:rPr>
                  <a:t> = amount of metabolite </a:t>
                </a:r>
                <a:r>
                  <a:rPr lang="en-US" sz="1400" dirty="0" err="1">
                    <a:solidFill>
                      <a:srgbClr val="0070C0"/>
                    </a:solidFill>
                  </a:rPr>
                  <a:t>i</a:t>
                </a:r>
                <a:r>
                  <a:rPr lang="en-US" sz="1400" dirty="0">
                    <a:solidFill>
                      <a:srgbClr val="0070C0"/>
                    </a:solidFill>
                  </a:rPr>
                  <a:t> in HDC1 poop (in mmol per g)</a:t>
                </a:r>
              </a:p>
              <a:p>
                <a14:m>
                  <m:oMath xmlns:m="http://schemas.openxmlformats.org/officeDocument/2006/math">
                    <m:sSubSup>
                      <m:sSubSupPr>
                        <m:ctrlPr>
                          <a:rPr lang="en-US" sz="1400" b="0" i="1" smtClean="0">
                            <a:solidFill>
                              <a:srgbClr val="0070C0"/>
                            </a:solidFill>
                            <a:latin typeface="Cambria Math" panose="02040503050406030204" pitchFamily="18" charset="0"/>
                            <a:ea typeface="Cambria Math" panose="02040503050406030204" pitchFamily="18" charset="0"/>
                          </a:rPr>
                        </m:ctrlPr>
                      </m:sSubSupPr>
                      <m:e>
                        <m:r>
                          <a:rPr lang="en-US" sz="1400" b="0" i="1" smtClean="0">
                            <a:solidFill>
                              <a:srgbClr val="0070C0"/>
                            </a:solidFill>
                            <a:latin typeface="Cambria Math" panose="02040503050406030204" pitchFamily="18" charset="0"/>
                            <a:ea typeface="Cambria Math" panose="02040503050406030204" pitchFamily="18" charset="0"/>
                          </a:rPr>
                          <m:t>𝑠</m:t>
                        </m:r>
                      </m:e>
                      <m:sub>
                        <m:r>
                          <a:rPr lang="en-US" sz="1400" b="0" i="1" smtClean="0">
                            <a:solidFill>
                              <a:srgbClr val="0070C0"/>
                            </a:solidFill>
                            <a:latin typeface="Cambria Math" panose="02040503050406030204" pitchFamily="18" charset="0"/>
                            <a:ea typeface="Cambria Math" panose="02040503050406030204" pitchFamily="18" charset="0"/>
                          </a:rPr>
                          <m:t>𝐺𝐹</m:t>
                        </m:r>
                      </m:sub>
                      <m:sup>
                        <m:r>
                          <a:rPr lang="en-US" sz="1400" b="0" i="1" smtClean="0">
                            <a:solidFill>
                              <a:srgbClr val="0070C0"/>
                            </a:solidFill>
                            <a:latin typeface="Cambria Math" panose="02040503050406030204" pitchFamily="18" charset="0"/>
                            <a:ea typeface="Cambria Math" panose="02040503050406030204" pitchFamily="18" charset="0"/>
                          </a:rPr>
                          <m:t>𝑖</m:t>
                        </m:r>
                      </m:sup>
                    </m:sSubSup>
                  </m:oMath>
                </a14:m>
                <a:r>
                  <a:rPr lang="en-US" sz="1400" dirty="0">
                    <a:solidFill>
                      <a:srgbClr val="0070C0"/>
                    </a:solidFill>
                  </a:rPr>
                  <a:t> = amount of metabolite </a:t>
                </a:r>
                <a:r>
                  <a:rPr lang="en-US" sz="1400" dirty="0" err="1">
                    <a:solidFill>
                      <a:srgbClr val="0070C0"/>
                    </a:solidFill>
                  </a:rPr>
                  <a:t>i</a:t>
                </a:r>
                <a:r>
                  <a:rPr lang="en-US" sz="1400" dirty="0">
                    <a:solidFill>
                      <a:srgbClr val="0070C0"/>
                    </a:solidFill>
                  </a:rPr>
                  <a:t> in GF poop (in mmol per g)</a:t>
                </a:r>
              </a:p>
              <a:p>
                <a:pPr marL="0" indent="0">
                  <a:buNone/>
                </a:pPr>
                <a:endParaRPr lang="en-US" sz="1600" dirty="0">
                  <a:solidFill>
                    <a:srgbClr val="0070C0"/>
                  </a:solidFill>
                </a:endParaRPr>
              </a:p>
            </p:txBody>
          </p:sp>
        </mc:Choice>
        <mc:Fallback xmlns="">
          <p:sp>
            <p:nvSpPr>
              <p:cNvPr id="6" name="TextBox 5">
                <a:extLst>
                  <a:ext uri="{FF2B5EF4-FFF2-40B4-BE49-F238E27FC236}">
                    <a16:creationId xmlns:a16="http://schemas.microsoft.com/office/drawing/2014/main" id="{49936342-7E18-446F-B8E1-11FB151F5ECD}"/>
                  </a:ext>
                </a:extLst>
              </p:cNvPr>
              <p:cNvSpPr txBox="1">
                <a:spLocks noRot="1" noChangeAspect="1" noMove="1" noResize="1" noEditPoints="1" noAdjustHandles="1" noChangeArrowheads="1" noChangeShapeType="1" noTextEdit="1"/>
              </p:cNvSpPr>
              <p:nvPr/>
            </p:nvSpPr>
            <p:spPr>
              <a:xfrm>
                <a:off x="6528262" y="4848558"/>
                <a:ext cx="4722055" cy="1978106"/>
              </a:xfrm>
              <a:prstGeom prst="rect">
                <a:avLst/>
              </a:prstGeom>
              <a:blipFill>
                <a:blip r:embed="rId4"/>
                <a:stretch>
                  <a:fillRect l="-5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D130A2C-3461-A3CE-DF59-58A297F5DF9B}"/>
                  </a:ext>
                </a:extLst>
              </p:cNvPr>
              <p:cNvSpPr txBox="1"/>
              <p:nvPr/>
            </p:nvSpPr>
            <p:spPr>
              <a:xfrm>
                <a:off x="3435830" y="4312721"/>
                <a:ext cx="6184864" cy="484620"/>
              </a:xfrm>
              <a:prstGeom prst="rect">
                <a:avLst/>
              </a:prstGeom>
              <a:noFill/>
              <a:ln w="28575">
                <a:solidFill>
                  <a:schemeClr val="tx1"/>
                </a:solidFill>
              </a:ln>
            </p:spPr>
            <p:txBody>
              <a:bodyPr wrap="square">
                <a:spAutoFit/>
              </a:bodyPr>
              <a:lstStyle/>
              <a:p>
                <a:pPr algn="ctr"/>
                <a14:m>
                  <m:oMath xmlns:m="http://schemas.openxmlformats.org/officeDocument/2006/math">
                    <m:nary>
                      <m:naryPr>
                        <m:chr m:val="∑"/>
                        <m:supHide m:val="on"/>
                        <m:ctrlPr>
                          <a:rPr lang="en-CA" sz="2000" b="1" i="1" smtClean="0">
                            <a:solidFill>
                              <a:schemeClr val="accent6">
                                <a:lumMod val="75000"/>
                              </a:schemeClr>
                            </a:solidFill>
                            <a:latin typeface="Cambria Math" panose="02040503050406030204" pitchFamily="18" charset="0"/>
                          </a:rPr>
                        </m:ctrlPr>
                      </m:naryPr>
                      <m:sub>
                        <m:r>
                          <m:rPr>
                            <m:brk m:alnAt="7"/>
                          </m:rPr>
                          <a:rPr lang="en-CA" sz="2000" b="1" i="1" smtClean="0">
                            <a:solidFill>
                              <a:schemeClr val="accent6">
                                <a:lumMod val="75000"/>
                              </a:schemeClr>
                            </a:solidFill>
                            <a:latin typeface="Cambria Math" panose="02040503050406030204" pitchFamily="18" charset="0"/>
                          </a:rPr>
                          <m:t>𝒌</m:t>
                        </m:r>
                        <m:r>
                          <a:rPr lang="en-CA" sz="2000" b="1" i="1" smtClean="0">
                            <a:solidFill>
                              <a:schemeClr val="accent6">
                                <a:lumMod val="75000"/>
                              </a:schemeClr>
                            </a:solidFill>
                            <a:latin typeface="Cambria Math" panose="02040503050406030204" pitchFamily="18" charset="0"/>
                            <a:ea typeface="Cambria Math" panose="02040503050406030204" pitchFamily="18" charset="0"/>
                          </a:rPr>
                          <m:t>∈</m:t>
                        </m:r>
                        <m:r>
                          <a:rPr lang="en-CA" sz="2000" b="1" i="1" smtClean="0">
                            <a:solidFill>
                              <a:schemeClr val="accent6">
                                <a:lumMod val="75000"/>
                              </a:schemeClr>
                            </a:solidFill>
                            <a:latin typeface="Cambria Math" panose="02040503050406030204" pitchFamily="18" charset="0"/>
                            <a:ea typeface="Cambria Math" panose="02040503050406030204" pitchFamily="18" charset="0"/>
                          </a:rPr>
                          <m:t>𝑲</m:t>
                        </m:r>
                      </m:sub>
                      <m:sup/>
                      <m:e>
                        <m:sSubSup>
                          <m:sSubSupPr>
                            <m:ctrlPr>
                              <a:rPr lang="en-CA" sz="2000" b="1" i="1" smtClean="0">
                                <a:solidFill>
                                  <a:schemeClr val="accent6">
                                    <a:lumMod val="75000"/>
                                  </a:schemeClr>
                                </a:solidFill>
                                <a:latin typeface="Cambria Math" panose="02040503050406030204" pitchFamily="18" charset="0"/>
                              </a:rPr>
                            </m:ctrlPr>
                          </m:sSubSupPr>
                          <m:e>
                            <m:r>
                              <a:rPr lang="en-CA" sz="2000" b="1" i="1" smtClean="0">
                                <a:solidFill>
                                  <a:schemeClr val="accent6">
                                    <a:lumMod val="75000"/>
                                  </a:schemeClr>
                                </a:solidFill>
                                <a:latin typeface="Cambria Math" panose="02040503050406030204" pitchFamily="18" charset="0"/>
                              </a:rPr>
                              <m:t>𝑽</m:t>
                            </m:r>
                          </m:e>
                          <m:sub>
                            <m:r>
                              <a:rPr lang="en-CA" sz="2000" b="1" i="1" smtClean="0">
                                <a:solidFill>
                                  <a:schemeClr val="accent6">
                                    <a:lumMod val="75000"/>
                                  </a:schemeClr>
                                </a:solidFill>
                                <a:latin typeface="Cambria Math" panose="02040503050406030204" pitchFamily="18" charset="0"/>
                              </a:rPr>
                              <m:t>𝒆𝒙</m:t>
                            </m:r>
                            <m:r>
                              <a:rPr lang="en-CA" sz="2000" b="1" i="1" smtClean="0">
                                <a:solidFill>
                                  <a:schemeClr val="accent6">
                                    <a:lumMod val="75000"/>
                                  </a:schemeClr>
                                </a:solidFill>
                                <a:latin typeface="Cambria Math" panose="02040503050406030204" pitchFamily="18" charset="0"/>
                              </a:rPr>
                              <m:t>(</m:t>
                            </m:r>
                            <m:r>
                              <a:rPr lang="en-CA" sz="2000" b="1" i="1" smtClean="0">
                                <a:solidFill>
                                  <a:schemeClr val="accent6">
                                    <a:lumMod val="75000"/>
                                  </a:schemeClr>
                                </a:solidFill>
                                <a:latin typeface="Cambria Math" panose="02040503050406030204" pitchFamily="18" charset="0"/>
                              </a:rPr>
                              <m:t>𝒊</m:t>
                            </m:r>
                            <m:r>
                              <a:rPr lang="en-CA" sz="2000" b="1" i="1" smtClean="0">
                                <a:solidFill>
                                  <a:schemeClr val="accent6">
                                    <a:lumMod val="75000"/>
                                  </a:schemeClr>
                                </a:solidFill>
                                <a:latin typeface="Cambria Math" panose="02040503050406030204" pitchFamily="18" charset="0"/>
                              </a:rPr>
                              <m:t>)</m:t>
                            </m:r>
                          </m:sub>
                          <m:sup>
                            <m:r>
                              <a:rPr lang="en-CA" sz="2000" b="1" i="1" smtClean="0">
                                <a:solidFill>
                                  <a:schemeClr val="accent6">
                                    <a:lumMod val="75000"/>
                                  </a:schemeClr>
                                </a:solidFill>
                                <a:latin typeface="Cambria Math" panose="02040503050406030204" pitchFamily="18" charset="0"/>
                              </a:rPr>
                              <m:t>𝒌</m:t>
                            </m:r>
                          </m:sup>
                        </m:sSubSup>
                        <m:r>
                          <a:rPr lang="en-CA" sz="2000" b="1" i="1" smtClean="0">
                            <a:solidFill>
                              <a:schemeClr val="accent6">
                                <a:lumMod val="75000"/>
                              </a:schemeClr>
                            </a:solidFill>
                            <a:latin typeface="Cambria Math" panose="02040503050406030204" pitchFamily="18" charset="0"/>
                          </a:rPr>
                          <m:t>= </m:t>
                        </m:r>
                        <m:sSubSup>
                          <m:sSubSupPr>
                            <m:ctrlPr>
                              <a:rPr lang="en-CA"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𝒆</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r>
                          <a:rPr lang="en-CA" sz="2000" b="1" i="1" smtClean="0">
                            <a:solidFill>
                              <a:schemeClr val="accent6">
                                <a:lumMod val="75000"/>
                              </a:schemeClr>
                            </a:solidFill>
                            <a:latin typeface="Cambria Math" panose="02040503050406030204" pitchFamily="18" charset="0"/>
                          </a:rPr>
                          <m:t>−</m:t>
                        </m:r>
                        <m:sSubSup>
                          <m:sSubSupPr>
                            <m:ctrlPr>
                              <a:rPr lang="en-US"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𝒖</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e>
                    </m:nary>
                  </m:oMath>
                </a14:m>
                <a:r>
                  <a:rPr lang="en-US" sz="2000" b="1" dirty="0"/>
                  <a:t> = </a:t>
                </a:r>
                <a14:m>
                  <m:oMath xmlns:m="http://schemas.openxmlformats.org/officeDocument/2006/math">
                    <m:nary>
                      <m:naryPr>
                        <m:chr m:val="∑"/>
                        <m:supHide m:val="on"/>
                        <m:ctrlPr>
                          <a:rPr lang="en-US" sz="2000" b="1" i="1" smtClean="0">
                            <a:solidFill>
                              <a:srgbClr val="0070C0"/>
                            </a:solidFill>
                            <a:latin typeface="Cambria Math" panose="02040503050406030204" pitchFamily="18" charset="0"/>
                          </a:rPr>
                        </m:ctrlPr>
                      </m:naryPr>
                      <m:sub>
                        <m:r>
                          <m:rPr>
                            <m:brk m:alnAt="7"/>
                          </m:rPr>
                          <a:rPr lang="en-US" sz="2000" b="1" i="1">
                            <a:solidFill>
                              <a:srgbClr val="0070C0"/>
                            </a:solidFill>
                            <a:latin typeface="Cambria Math" panose="02040503050406030204" pitchFamily="18" charset="0"/>
                          </a:rPr>
                          <m:t>𝒋</m:t>
                        </m:r>
                      </m:sub>
                      <m:sup/>
                      <m:e>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𝒒</m:t>
                            </m:r>
                          </m:e>
                          <m: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𝒔</m:t>
                                </m:r>
                              </m:e>
                              <m:sub>
                                <m:r>
                                  <a:rPr lang="en-US" sz="2000" b="1" i="1">
                                    <a:solidFill>
                                      <a:srgbClr val="0070C0"/>
                                    </a:solidFill>
                                    <a:latin typeface="Cambria Math" panose="02040503050406030204" pitchFamily="18" charset="0"/>
                                  </a:rPr>
                                  <m:t>𝒊</m:t>
                                </m:r>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rPr>
                                  <m:t>𝒋</m:t>
                                </m:r>
                              </m:sub>
                            </m:sSub>
                          </m:sub>
                        </m:s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𝒙</m:t>
                            </m:r>
                          </m:e>
                          <m:sub>
                            <m:r>
                              <a:rPr lang="en-US" sz="2000" b="1" i="1">
                                <a:solidFill>
                                  <a:srgbClr val="0070C0"/>
                                </a:solidFill>
                                <a:latin typeface="Cambria Math" panose="02040503050406030204" pitchFamily="18" charset="0"/>
                              </a:rPr>
                              <m:t>𝒋</m:t>
                            </m:r>
                          </m:sub>
                        </m:sSub>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ea typeface="Cambria Math" panose="02040503050406030204" pitchFamily="18" charset="0"/>
                          </a:rPr>
                          <m:t>𝝁</m:t>
                        </m:r>
                        <m:d>
                          <m:dPr>
                            <m:begChr m:val="["/>
                            <m:endChr m:val="]"/>
                            <m:ctrlPr>
                              <a:rPr lang="en-US" sz="2000" b="1" i="1">
                                <a:solidFill>
                                  <a:srgbClr val="0070C0"/>
                                </a:solidFill>
                                <a:latin typeface="Cambria Math" panose="02040503050406030204" pitchFamily="18" charset="0"/>
                                <a:ea typeface="Cambria Math" panose="02040503050406030204" pitchFamily="18" charset="0"/>
                              </a:rPr>
                            </m:ctrlPr>
                          </m:dPr>
                          <m:e>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𝑯𝑫𝑪</m:t>
                                </m:r>
                                <m:r>
                                  <a:rPr lang="en-US" sz="2000" b="1" i="1">
                                    <a:solidFill>
                                      <a:srgbClr val="0070C0"/>
                                    </a:solidFill>
                                    <a:latin typeface="Cambria Math" panose="02040503050406030204" pitchFamily="18" charset="0"/>
                                    <a:ea typeface="Cambria Math" panose="02040503050406030204" pitchFamily="18" charset="0"/>
                                  </a:rPr>
                                  <m:t>𝟏</m:t>
                                </m:r>
                              </m:sub>
                              <m:sup>
                                <m:r>
                                  <a:rPr lang="en-US" sz="2000" b="1" i="1">
                                    <a:solidFill>
                                      <a:srgbClr val="0070C0"/>
                                    </a:solidFill>
                                    <a:latin typeface="Cambria Math" panose="02040503050406030204" pitchFamily="18" charset="0"/>
                                    <a:ea typeface="Cambria Math" panose="02040503050406030204" pitchFamily="18" charset="0"/>
                                  </a:rPr>
                                  <m:t>𝒊</m:t>
                                </m:r>
                              </m:sup>
                            </m:sSubSup>
                            <m:r>
                              <a:rPr lang="en-US" sz="2000" b="1" i="1">
                                <a:solidFill>
                                  <a:srgbClr val="0070C0"/>
                                </a:solidFill>
                                <a:latin typeface="Cambria Math" panose="02040503050406030204" pitchFamily="18" charset="0"/>
                                <a:ea typeface="Cambria Math" panose="02040503050406030204" pitchFamily="18" charset="0"/>
                              </a:rPr>
                              <m:t>−</m:t>
                            </m:r>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𝑮𝑭</m:t>
                                </m:r>
                              </m:sub>
                              <m:sup>
                                <m:r>
                                  <a:rPr lang="en-US" sz="2000" b="1" i="1">
                                    <a:solidFill>
                                      <a:srgbClr val="0070C0"/>
                                    </a:solidFill>
                                    <a:latin typeface="Cambria Math" panose="02040503050406030204" pitchFamily="18" charset="0"/>
                                    <a:ea typeface="Cambria Math" panose="02040503050406030204" pitchFamily="18" charset="0"/>
                                  </a:rPr>
                                  <m:t>𝒊</m:t>
                                </m:r>
                              </m:sup>
                            </m:sSubSup>
                          </m:e>
                        </m:d>
                      </m:e>
                    </m:nary>
                  </m:oMath>
                </a14:m>
                <a:r>
                  <a:rPr lang="en-US" sz="2000" b="1" dirty="0"/>
                  <a:t> </a:t>
                </a:r>
              </a:p>
            </p:txBody>
          </p:sp>
        </mc:Choice>
        <mc:Fallback xmlns="">
          <p:sp>
            <p:nvSpPr>
              <p:cNvPr id="8" name="TextBox 7">
                <a:extLst>
                  <a:ext uri="{FF2B5EF4-FFF2-40B4-BE49-F238E27FC236}">
                    <a16:creationId xmlns:a16="http://schemas.microsoft.com/office/drawing/2014/main" id="{DD130A2C-3461-A3CE-DF59-58A297F5DF9B}"/>
                  </a:ext>
                </a:extLst>
              </p:cNvPr>
              <p:cNvSpPr txBox="1">
                <a:spLocks noRot="1" noChangeAspect="1" noMove="1" noResize="1" noEditPoints="1" noAdjustHandles="1" noChangeArrowheads="1" noChangeShapeType="1" noTextEdit="1"/>
              </p:cNvSpPr>
              <p:nvPr/>
            </p:nvSpPr>
            <p:spPr>
              <a:xfrm>
                <a:off x="3435830" y="4312721"/>
                <a:ext cx="6184864" cy="484620"/>
              </a:xfrm>
              <a:prstGeom prst="rect">
                <a:avLst/>
              </a:prstGeom>
              <a:blipFill>
                <a:blip r:embed="rId5"/>
                <a:stretch>
                  <a:fillRect l="-2449" t="-80952" b="-121429"/>
                </a:stretch>
              </a:blipFill>
              <a:ln w="28575">
                <a:solidFill>
                  <a:schemeClr val="tx1"/>
                </a:solidFill>
              </a:ln>
            </p:spPr>
            <p:txBody>
              <a:bodyPr/>
              <a:lstStyle/>
              <a:p>
                <a:r>
                  <a:rPr lang="en-US">
                    <a:noFill/>
                  </a:rPr>
                  <a:t> </a:t>
                </a:r>
              </a:p>
            </p:txBody>
          </p:sp>
        </mc:Fallback>
      </mc:AlternateContent>
      <p:pic>
        <p:nvPicPr>
          <p:cNvPr id="14" name="Picture 13" descr="A diagram of a computer&#10;&#10;Description automatically generated">
            <a:extLst>
              <a:ext uri="{FF2B5EF4-FFF2-40B4-BE49-F238E27FC236}">
                <a16:creationId xmlns:a16="http://schemas.microsoft.com/office/drawing/2014/main" id="{AD6E7A75-5F66-ACF0-531B-BAE1E6BA23B3}"/>
              </a:ext>
            </a:extLst>
          </p:cNvPr>
          <p:cNvPicPr>
            <a:picLocks noChangeAspect="1"/>
          </p:cNvPicPr>
          <p:nvPr/>
        </p:nvPicPr>
        <p:blipFill rotWithShape="1">
          <a:blip r:embed="rId6">
            <a:extLst>
              <a:ext uri="{28A0092B-C50C-407E-A947-70E740481C1C}">
                <a14:useLocalDpi xmlns:a14="http://schemas.microsoft.com/office/drawing/2010/main" val="0"/>
              </a:ext>
            </a:extLst>
          </a:blip>
          <a:srcRect l="25239" t="16663" b="26736"/>
          <a:stretch/>
        </p:blipFill>
        <p:spPr>
          <a:xfrm>
            <a:off x="3889008" y="1545111"/>
            <a:ext cx="5278508" cy="2797425"/>
          </a:xfrm>
          <a:prstGeom prst="rect">
            <a:avLst/>
          </a:prstGeom>
        </p:spPr>
      </p:pic>
      <p:sp>
        <p:nvSpPr>
          <p:cNvPr id="15" name="TextBox 14">
            <a:extLst>
              <a:ext uri="{FF2B5EF4-FFF2-40B4-BE49-F238E27FC236}">
                <a16:creationId xmlns:a16="http://schemas.microsoft.com/office/drawing/2014/main" id="{26607C79-9F7D-2708-2018-D249483B99FF}"/>
              </a:ext>
            </a:extLst>
          </p:cNvPr>
          <p:cNvSpPr txBox="1"/>
          <p:nvPr/>
        </p:nvSpPr>
        <p:spPr>
          <a:xfrm>
            <a:off x="842020" y="3840872"/>
            <a:ext cx="3046988" cy="276999"/>
          </a:xfrm>
          <a:prstGeom prst="rect">
            <a:avLst/>
          </a:prstGeom>
          <a:noFill/>
        </p:spPr>
        <p:txBody>
          <a:bodyPr wrap="square" rtlCol="0">
            <a:spAutoFit/>
          </a:bodyPr>
          <a:lstStyle/>
          <a:p>
            <a:r>
              <a:rPr lang="en-US" sz="1200" i="1" dirty="0"/>
              <a:t>Created with </a:t>
            </a:r>
            <a:r>
              <a:rPr lang="en-US" sz="1200" i="1" dirty="0" err="1"/>
              <a:t>BioRender</a:t>
            </a:r>
            <a:endParaRPr lang="en-US" sz="1200" i="1" dirty="0"/>
          </a:p>
        </p:txBody>
      </p:sp>
      <p:sp>
        <p:nvSpPr>
          <p:cNvPr id="11" name="Title 31">
            <a:extLst>
              <a:ext uri="{FF2B5EF4-FFF2-40B4-BE49-F238E27FC236}">
                <a16:creationId xmlns:a16="http://schemas.microsoft.com/office/drawing/2014/main" id="{1C53DF95-0616-3C31-7DA0-977011137CC6}"/>
              </a:ext>
            </a:extLst>
          </p:cNvPr>
          <p:cNvSpPr>
            <a:spLocks noGrp="1"/>
          </p:cNvSpPr>
          <p:nvPr>
            <p:ph type="title"/>
          </p:nvPr>
        </p:nvSpPr>
        <p:spPr>
          <a:xfrm>
            <a:off x="238195" y="365125"/>
            <a:ext cx="11115605" cy="1127631"/>
          </a:xfrm>
        </p:spPr>
        <p:txBody>
          <a:bodyPr>
            <a:noAutofit/>
          </a:bodyPr>
          <a:lstStyle/>
          <a:p>
            <a:r>
              <a:rPr lang="en-US" sz="3600" b="1" dirty="0"/>
              <a:t>Community Metabolic Modelling and Validation Framework</a:t>
            </a:r>
            <a:endParaRPr lang="en-US" sz="3600" dirty="0"/>
          </a:p>
        </p:txBody>
      </p:sp>
    </p:spTree>
    <p:extLst>
      <p:ext uri="{BB962C8B-B14F-4D97-AF65-F5344CB8AC3E}">
        <p14:creationId xmlns:p14="http://schemas.microsoft.com/office/powerpoint/2010/main" val="2732447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D130A2C-3461-A3CE-DF59-58A297F5DF9B}"/>
                  </a:ext>
                </a:extLst>
              </p:cNvPr>
              <p:cNvSpPr txBox="1"/>
              <p:nvPr/>
            </p:nvSpPr>
            <p:spPr>
              <a:xfrm>
                <a:off x="5559767" y="2052114"/>
                <a:ext cx="6184864" cy="484620"/>
              </a:xfrm>
              <a:prstGeom prst="rect">
                <a:avLst/>
              </a:prstGeom>
              <a:noFill/>
              <a:ln w="28575">
                <a:solidFill>
                  <a:schemeClr val="tx1"/>
                </a:solidFill>
              </a:ln>
            </p:spPr>
            <p:txBody>
              <a:bodyPr wrap="square">
                <a:spAutoFit/>
              </a:bodyPr>
              <a:lstStyle/>
              <a:p>
                <a:pPr algn="ctr"/>
                <a14:m>
                  <m:oMath xmlns:m="http://schemas.openxmlformats.org/officeDocument/2006/math">
                    <m:nary>
                      <m:naryPr>
                        <m:chr m:val="∑"/>
                        <m:supHide m:val="on"/>
                        <m:ctrlPr>
                          <a:rPr lang="en-CA" sz="2000" b="1" i="1" smtClean="0">
                            <a:solidFill>
                              <a:schemeClr val="accent6">
                                <a:lumMod val="75000"/>
                              </a:schemeClr>
                            </a:solidFill>
                            <a:latin typeface="Cambria Math" panose="02040503050406030204" pitchFamily="18" charset="0"/>
                          </a:rPr>
                        </m:ctrlPr>
                      </m:naryPr>
                      <m:sub>
                        <m:r>
                          <m:rPr>
                            <m:brk m:alnAt="7"/>
                          </m:rPr>
                          <a:rPr lang="en-CA" sz="2000" b="1" i="1" smtClean="0">
                            <a:solidFill>
                              <a:schemeClr val="accent6">
                                <a:lumMod val="75000"/>
                              </a:schemeClr>
                            </a:solidFill>
                            <a:latin typeface="Cambria Math" panose="02040503050406030204" pitchFamily="18" charset="0"/>
                          </a:rPr>
                          <m:t>𝒌</m:t>
                        </m:r>
                        <m:r>
                          <a:rPr lang="en-CA" sz="2000" b="1" i="1" smtClean="0">
                            <a:solidFill>
                              <a:schemeClr val="accent6">
                                <a:lumMod val="75000"/>
                              </a:schemeClr>
                            </a:solidFill>
                            <a:latin typeface="Cambria Math" panose="02040503050406030204" pitchFamily="18" charset="0"/>
                            <a:ea typeface="Cambria Math" panose="02040503050406030204" pitchFamily="18" charset="0"/>
                          </a:rPr>
                          <m:t>∈</m:t>
                        </m:r>
                        <m:r>
                          <a:rPr lang="en-CA" sz="2000" b="1" i="1" smtClean="0">
                            <a:solidFill>
                              <a:schemeClr val="accent6">
                                <a:lumMod val="75000"/>
                              </a:schemeClr>
                            </a:solidFill>
                            <a:latin typeface="Cambria Math" panose="02040503050406030204" pitchFamily="18" charset="0"/>
                            <a:ea typeface="Cambria Math" panose="02040503050406030204" pitchFamily="18" charset="0"/>
                          </a:rPr>
                          <m:t>𝑲</m:t>
                        </m:r>
                      </m:sub>
                      <m:sup/>
                      <m:e>
                        <m:sSubSup>
                          <m:sSubSupPr>
                            <m:ctrlPr>
                              <a:rPr lang="en-CA" sz="2000" b="1" i="1" smtClean="0">
                                <a:solidFill>
                                  <a:schemeClr val="accent6">
                                    <a:lumMod val="75000"/>
                                  </a:schemeClr>
                                </a:solidFill>
                                <a:latin typeface="Cambria Math" panose="02040503050406030204" pitchFamily="18" charset="0"/>
                              </a:rPr>
                            </m:ctrlPr>
                          </m:sSubSupPr>
                          <m:e>
                            <m:r>
                              <a:rPr lang="en-CA" sz="2000" b="1" i="1" smtClean="0">
                                <a:solidFill>
                                  <a:schemeClr val="accent6">
                                    <a:lumMod val="75000"/>
                                  </a:schemeClr>
                                </a:solidFill>
                                <a:latin typeface="Cambria Math" panose="02040503050406030204" pitchFamily="18" charset="0"/>
                              </a:rPr>
                              <m:t>𝑽</m:t>
                            </m:r>
                          </m:e>
                          <m:sub>
                            <m:r>
                              <a:rPr lang="en-CA" sz="2000" b="1" i="1" smtClean="0">
                                <a:solidFill>
                                  <a:schemeClr val="accent6">
                                    <a:lumMod val="75000"/>
                                  </a:schemeClr>
                                </a:solidFill>
                                <a:latin typeface="Cambria Math" panose="02040503050406030204" pitchFamily="18" charset="0"/>
                              </a:rPr>
                              <m:t>𝒆𝒙</m:t>
                            </m:r>
                            <m:r>
                              <a:rPr lang="en-CA" sz="2000" b="1" i="1" smtClean="0">
                                <a:solidFill>
                                  <a:schemeClr val="accent6">
                                    <a:lumMod val="75000"/>
                                  </a:schemeClr>
                                </a:solidFill>
                                <a:latin typeface="Cambria Math" panose="02040503050406030204" pitchFamily="18" charset="0"/>
                              </a:rPr>
                              <m:t>(</m:t>
                            </m:r>
                            <m:r>
                              <a:rPr lang="en-CA" sz="2000" b="1" i="1" smtClean="0">
                                <a:solidFill>
                                  <a:schemeClr val="accent6">
                                    <a:lumMod val="75000"/>
                                  </a:schemeClr>
                                </a:solidFill>
                                <a:latin typeface="Cambria Math" panose="02040503050406030204" pitchFamily="18" charset="0"/>
                              </a:rPr>
                              <m:t>𝒊</m:t>
                            </m:r>
                            <m:r>
                              <a:rPr lang="en-CA" sz="2000" b="1" i="1" smtClean="0">
                                <a:solidFill>
                                  <a:schemeClr val="accent6">
                                    <a:lumMod val="75000"/>
                                  </a:schemeClr>
                                </a:solidFill>
                                <a:latin typeface="Cambria Math" panose="02040503050406030204" pitchFamily="18" charset="0"/>
                              </a:rPr>
                              <m:t>)</m:t>
                            </m:r>
                          </m:sub>
                          <m:sup>
                            <m:r>
                              <a:rPr lang="en-CA" sz="2000" b="1" i="1" smtClean="0">
                                <a:solidFill>
                                  <a:schemeClr val="accent6">
                                    <a:lumMod val="75000"/>
                                  </a:schemeClr>
                                </a:solidFill>
                                <a:latin typeface="Cambria Math" panose="02040503050406030204" pitchFamily="18" charset="0"/>
                              </a:rPr>
                              <m:t>𝒌</m:t>
                            </m:r>
                          </m:sup>
                        </m:sSubSup>
                        <m:r>
                          <a:rPr lang="en-CA" sz="2000" b="1" i="1" smtClean="0">
                            <a:solidFill>
                              <a:schemeClr val="accent6">
                                <a:lumMod val="75000"/>
                              </a:schemeClr>
                            </a:solidFill>
                            <a:latin typeface="Cambria Math" panose="02040503050406030204" pitchFamily="18" charset="0"/>
                          </a:rPr>
                          <m:t>= </m:t>
                        </m:r>
                        <m:sSubSup>
                          <m:sSubSupPr>
                            <m:ctrlPr>
                              <a:rPr lang="en-CA"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𝒆</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r>
                          <a:rPr lang="en-CA" sz="2000" b="1" i="1" smtClean="0">
                            <a:solidFill>
                              <a:schemeClr val="accent6">
                                <a:lumMod val="75000"/>
                              </a:schemeClr>
                            </a:solidFill>
                            <a:latin typeface="Cambria Math" panose="02040503050406030204" pitchFamily="18" charset="0"/>
                          </a:rPr>
                          <m:t>−</m:t>
                        </m:r>
                        <m:sSubSup>
                          <m:sSubSupPr>
                            <m:ctrlPr>
                              <a:rPr lang="en-US"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𝒖</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e>
                    </m:nary>
                  </m:oMath>
                </a14:m>
                <a:r>
                  <a:rPr lang="en-US" sz="2000" b="1" dirty="0">
                    <a:solidFill>
                      <a:schemeClr val="tx1"/>
                    </a:solidFill>
                  </a:rPr>
                  <a:t> = </a:t>
                </a:r>
                <a14:m>
                  <m:oMath xmlns:m="http://schemas.openxmlformats.org/officeDocument/2006/math">
                    <m:nary>
                      <m:naryPr>
                        <m:chr m:val="∑"/>
                        <m:supHide m:val="on"/>
                        <m:ctrlPr>
                          <a:rPr lang="en-US" sz="2000" b="1" i="1" smtClean="0">
                            <a:solidFill>
                              <a:srgbClr val="0070C0"/>
                            </a:solidFill>
                            <a:latin typeface="Cambria Math" panose="02040503050406030204" pitchFamily="18" charset="0"/>
                          </a:rPr>
                        </m:ctrlPr>
                      </m:naryPr>
                      <m:sub>
                        <m:r>
                          <m:rPr>
                            <m:brk m:alnAt="7"/>
                          </m:rPr>
                          <a:rPr lang="en-US" sz="2000" b="1" i="1">
                            <a:solidFill>
                              <a:srgbClr val="0070C0"/>
                            </a:solidFill>
                            <a:latin typeface="Cambria Math" panose="02040503050406030204" pitchFamily="18" charset="0"/>
                          </a:rPr>
                          <m:t>𝒋</m:t>
                        </m:r>
                      </m:sub>
                      <m:sup/>
                      <m:e>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𝒒</m:t>
                            </m:r>
                          </m:e>
                          <m: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𝒔</m:t>
                                </m:r>
                              </m:e>
                              <m:sub>
                                <m:r>
                                  <a:rPr lang="en-US" sz="2000" b="1" i="1">
                                    <a:solidFill>
                                      <a:srgbClr val="0070C0"/>
                                    </a:solidFill>
                                    <a:latin typeface="Cambria Math" panose="02040503050406030204" pitchFamily="18" charset="0"/>
                                  </a:rPr>
                                  <m:t>𝒊</m:t>
                                </m:r>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rPr>
                                  <m:t>𝒋</m:t>
                                </m:r>
                              </m:sub>
                            </m:sSub>
                          </m:sub>
                        </m:s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𝒙</m:t>
                            </m:r>
                          </m:e>
                          <m:sub>
                            <m:r>
                              <a:rPr lang="en-US" sz="2000" b="1" i="1">
                                <a:solidFill>
                                  <a:srgbClr val="0070C0"/>
                                </a:solidFill>
                                <a:latin typeface="Cambria Math" panose="02040503050406030204" pitchFamily="18" charset="0"/>
                              </a:rPr>
                              <m:t>𝒋</m:t>
                            </m:r>
                          </m:sub>
                        </m:sSub>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ea typeface="Cambria Math" panose="02040503050406030204" pitchFamily="18" charset="0"/>
                          </a:rPr>
                          <m:t>𝝁</m:t>
                        </m:r>
                        <m:d>
                          <m:dPr>
                            <m:begChr m:val="["/>
                            <m:endChr m:val="]"/>
                            <m:ctrlPr>
                              <a:rPr lang="en-US" sz="2000" b="1" i="1">
                                <a:solidFill>
                                  <a:srgbClr val="0070C0"/>
                                </a:solidFill>
                                <a:latin typeface="Cambria Math" panose="02040503050406030204" pitchFamily="18" charset="0"/>
                                <a:ea typeface="Cambria Math" panose="02040503050406030204" pitchFamily="18" charset="0"/>
                              </a:rPr>
                            </m:ctrlPr>
                          </m:dPr>
                          <m:e>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𝑯𝑫𝑪</m:t>
                                </m:r>
                                <m:r>
                                  <a:rPr lang="en-US" sz="2000" b="1" i="1">
                                    <a:solidFill>
                                      <a:srgbClr val="0070C0"/>
                                    </a:solidFill>
                                    <a:latin typeface="Cambria Math" panose="02040503050406030204" pitchFamily="18" charset="0"/>
                                    <a:ea typeface="Cambria Math" panose="02040503050406030204" pitchFamily="18" charset="0"/>
                                  </a:rPr>
                                  <m:t>𝟏</m:t>
                                </m:r>
                              </m:sub>
                              <m:sup>
                                <m:r>
                                  <a:rPr lang="en-US" sz="2000" b="1" i="1">
                                    <a:solidFill>
                                      <a:srgbClr val="0070C0"/>
                                    </a:solidFill>
                                    <a:latin typeface="Cambria Math" panose="02040503050406030204" pitchFamily="18" charset="0"/>
                                    <a:ea typeface="Cambria Math" panose="02040503050406030204" pitchFamily="18" charset="0"/>
                                  </a:rPr>
                                  <m:t>𝒊</m:t>
                                </m:r>
                              </m:sup>
                            </m:sSubSup>
                            <m:r>
                              <a:rPr lang="en-US" sz="2000" b="1" i="1">
                                <a:solidFill>
                                  <a:srgbClr val="0070C0"/>
                                </a:solidFill>
                                <a:latin typeface="Cambria Math" panose="02040503050406030204" pitchFamily="18" charset="0"/>
                                <a:ea typeface="Cambria Math" panose="02040503050406030204" pitchFamily="18" charset="0"/>
                              </a:rPr>
                              <m:t>−</m:t>
                            </m:r>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𝑮𝑭</m:t>
                                </m:r>
                              </m:sub>
                              <m:sup>
                                <m:r>
                                  <a:rPr lang="en-US" sz="2000" b="1" i="1">
                                    <a:solidFill>
                                      <a:srgbClr val="0070C0"/>
                                    </a:solidFill>
                                    <a:latin typeface="Cambria Math" panose="02040503050406030204" pitchFamily="18" charset="0"/>
                                    <a:ea typeface="Cambria Math" panose="02040503050406030204" pitchFamily="18" charset="0"/>
                                  </a:rPr>
                                  <m:t>𝒊</m:t>
                                </m:r>
                              </m:sup>
                            </m:sSubSup>
                          </m:e>
                        </m:d>
                      </m:e>
                    </m:nary>
                  </m:oMath>
                </a14:m>
                <a:r>
                  <a:rPr lang="en-US" sz="2000" b="1" dirty="0">
                    <a:solidFill>
                      <a:schemeClr val="tx1"/>
                    </a:solidFill>
                  </a:rPr>
                  <a:t> </a:t>
                </a:r>
              </a:p>
            </p:txBody>
          </p:sp>
        </mc:Choice>
        <mc:Fallback xmlns="">
          <p:sp>
            <p:nvSpPr>
              <p:cNvPr id="8" name="TextBox 7">
                <a:extLst>
                  <a:ext uri="{FF2B5EF4-FFF2-40B4-BE49-F238E27FC236}">
                    <a16:creationId xmlns:a16="http://schemas.microsoft.com/office/drawing/2014/main" id="{DD130A2C-3461-A3CE-DF59-58A297F5DF9B}"/>
                  </a:ext>
                </a:extLst>
              </p:cNvPr>
              <p:cNvSpPr txBox="1">
                <a:spLocks noRot="1" noChangeAspect="1" noMove="1" noResize="1" noEditPoints="1" noAdjustHandles="1" noChangeArrowheads="1" noChangeShapeType="1" noTextEdit="1"/>
              </p:cNvSpPr>
              <p:nvPr/>
            </p:nvSpPr>
            <p:spPr>
              <a:xfrm>
                <a:off x="5559767" y="2052114"/>
                <a:ext cx="6184864" cy="484620"/>
              </a:xfrm>
              <a:prstGeom prst="rect">
                <a:avLst/>
              </a:prstGeom>
              <a:blipFill>
                <a:blip r:embed="rId2"/>
                <a:stretch>
                  <a:fillRect l="-2240" t="-80952" b="-121429"/>
                </a:stretch>
              </a:blipFill>
              <a:ln w="28575">
                <a:solidFill>
                  <a:schemeClr val="tx1"/>
                </a:solidFill>
              </a:ln>
            </p:spPr>
            <p:txBody>
              <a:bodyPr/>
              <a:lstStyle/>
              <a:p>
                <a:r>
                  <a:rPr lang="en-US">
                    <a:noFill/>
                  </a:rPr>
                  <a:t> </a:t>
                </a:r>
              </a:p>
            </p:txBody>
          </p:sp>
        </mc:Fallback>
      </mc:AlternateContent>
      <p:pic>
        <p:nvPicPr>
          <p:cNvPr id="14" name="Picture 13" descr="A diagram of a computer&#10;&#10;Description automatically generated">
            <a:extLst>
              <a:ext uri="{FF2B5EF4-FFF2-40B4-BE49-F238E27FC236}">
                <a16:creationId xmlns:a16="http://schemas.microsoft.com/office/drawing/2014/main" id="{AD6E7A75-5F66-ACF0-531B-BAE1E6BA23B3}"/>
              </a:ext>
            </a:extLst>
          </p:cNvPr>
          <p:cNvPicPr>
            <a:picLocks noChangeAspect="1"/>
          </p:cNvPicPr>
          <p:nvPr/>
        </p:nvPicPr>
        <p:blipFill rotWithShape="1">
          <a:blip r:embed="rId3">
            <a:extLst>
              <a:ext uri="{28A0092B-C50C-407E-A947-70E740481C1C}">
                <a14:useLocalDpi xmlns:a14="http://schemas.microsoft.com/office/drawing/2010/main" val="0"/>
              </a:ext>
            </a:extLst>
          </a:blip>
          <a:srcRect l="63578" t="46648" r="2959" b="29700"/>
          <a:stretch/>
        </p:blipFill>
        <p:spPr>
          <a:xfrm>
            <a:off x="7203488" y="4225528"/>
            <a:ext cx="4541144" cy="2246889"/>
          </a:xfrm>
          <a:prstGeom prst="rect">
            <a:avLst/>
          </a:prstGeom>
        </p:spPr>
      </p:pic>
      <p:sp>
        <p:nvSpPr>
          <p:cNvPr id="4" name="TextBox 3">
            <a:extLst>
              <a:ext uri="{FF2B5EF4-FFF2-40B4-BE49-F238E27FC236}">
                <a16:creationId xmlns:a16="http://schemas.microsoft.com/office/drawing/2014/main" id="{D35C2060-8690-DA05-FAA0-AFBDD4AA6DF6}"/>
              </a:ext>
            </a:extLst>
          </p:cNvPr>
          <p:cNvSpPr txBox="1"/>
          <p:nvPr/>
        </p:nvSpPr>
        <p:spPr>
          <a:xfrm>
            <a:off x="6379389" y="3531762"/>
            <a:ext cx="2931828" cy="400110"/>
          </a:xfrm>
          <a:prstGeom prst="rect">
            <a:avLst/>
          </a:prstGeom>
          <a:noFill/>
        </p:spPr>
        <p:txBody>
          <a:bodyPr wrap="none" rtlCol="0">
            <a:spAutoFit/>
          </a:bodyPr>
          <a:lstStyle/>
          <a:p>
            <a:r>
              <a:rPr lang="en-CA" sz="2000" dirty="0" err="1"/>
              <a:t>μ</a:t>
            </a:r>
            <a:r>
              <a:rPr lang="en-CA" sz="2000" dirty="0"/>
              <a:t> = rate of peristalsis (1/h)</a:t>
            </a:r>
            <a:endParaRPr lang="en-US" sz="2000" dirty="0"/>
          </a:p>
        </p:txBody>
      </p:sp>
      <p:grpSp>
        <p:nvGrpSpPr>
          <p:cNvPr id="7" name="Group 6">
            <a:extLst>
              <a:ext uri="{FF2B5EF4-FFF2-40B4-BE49-F238E27FC236}">
                <a16:creationId xmlns:a16="http://schemas.microsoft.com/office/drawing/2014/main" id="{597B396D-DD23-2B01-7F84-EA7366D8C846}"/>
              </a:ext>
            </a:extLst>
          </p:cNvPr>
          <p:cNvGrpSpPr/>
          <p:nvPr/>
        </p:nvGrpSpPr>
        <p:grpSpPr>
          <a:xfrm>
            <a:off x="34937" y="1352171"/>
            <a:ext cx="5689970" cy="5428023"/>
            <a:chOff x="321072" y="972840"/>
            <a:chExt cx="5689970" cy="5428023"/>
          </a:xfrm>
        </p:grpSpPr>
        <p:grpSp>
          <p:nvGrpSpPr>
            <p:cNvPr id="9" name="Group 8">
              <a:extLst>
                <a:ext uri="{FF2B5EF4-FFF2-40B4-BE49-F238E27FC236}">
                  <a16:creationId xmlns:a16="http://schemas.microsoft.com/office/drawing/2014/main" id="{BDD3D67F-4AF4-5DD2-EEA2-55748249C754}"/>
                </a:ext>
              </a:extLst>
            </p:cNvPr>
            <p:cNvGrpSpPr/>
            <p:nvPr/>
          </p:nvGrpSpPr>
          <p:grpSpPr>
            <a:xfrm>
              <a:off x="321072" y="972840"/>
              <a:ext cx="5689970" cy="5428023"/>
              <a:chOff x="257490" y="466979"/>
              <a:chExt cx="5689970" cy="5428023"/>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983B65B-FF9C-EE77-244C-A2D38DFD289E}"/>
                      </a:ext>
                    </a:extLst>
                  </p:cNvPr>
                  <p:cNvSpPr txBox="1"/>
                  <p:nvPr/>
                </p:nvSpPr>
                <p:spPr>
                  <a:xfrm>
                    <a:off x="2062312" y="1746719"/>
                    <a:ext cx="1259767" cy="6592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1400" i="1" smtClean="0">
                                  <a:latin typeface="Cambria Math" panose="02040503050406030204" pitchFamily="18" charset="0"/>
                                </a:rPr>
                              </m:ctrlPr>
                            </m:naryPr>
                            <m:sub>
                              <m:r>
                                <m:rPr>
                                  <m:brk m:alnAt="7"/>
                                </m:rPr>
                                <a:rPr lang="en-CA" sz="1400" b="0" i="1" smtClean="0">
                                  <a:latin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𝜖</m:t>
                              </m:r>
                              <m:sSup>
                                <m:sSupPr>
                                  <m:ctrlPr>
                                    <a:rPr lang="en-CA" sz="1400" i="1" smtClean="0">
                                      <a:latin typeface="Cambria Math" panose="02040503050406030204" pitchFamily="18" charset="0"/>
                                      <a:ea typeface="Cambria Math" panose="02040503050406030204" pitchFamily="18" charset="0"/>
                                    </a:rPr>
                                  </m:ctrlPr>
                                </m:sSupPr>
                                <m:e>
                                  <m:r>
                                    <m:rPr>
                                      <m:sty m:val="p"/>
                                    </m:rPr>
                                    <a:rPr lang="en-CA" sz="1400" b="0" i="0" smtClean="0">
                                      <a:latin typeface="Cambria Math" panose="02040503050406030204" pitchFamily="18" charset="0"/>
                                      <a:ea typeface="Cambria Math" panose="02040503050406030204" pitchFamily="18" charset="0"/>
                                    </a:rPr>
                                    <m:t>J</m:t>
                                  </m:r>
                                </m:e>
                                <m:sup>
                                  <m:r>
                                    <m:rPr>
                                      <m:sty m:val="p"/>
                                    </m:rPr>
                                    <a:rPr lang="en-CA" sz="1400" b="0" i="0" smtClean="0">
                                      <a:latin typeface="Cambria Math" panose="02040503050406030204" pitchFamily="18" charset="0"/>
                                      <a:ea typeface="Cambria Math" panose="02040503050406030204" pitchFamily="18" charset="0"/>
                                    </a:rPr>
                                    <m:t>k</m:t>
                                  </m:r>
                                </m:sup>
                              </m:sSup>
                            </m:sub>
                            <m:sup/>
                            <m:e>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𝑆</m:t>
                                  </m:r>
                                </m:e>
                                <m:sub>
                                  <m:r>
                                    <a:rPr lang="en-CA" sz="1400" b="0" i="1" smtClean="0">
                                      <a:latin typeface="Cambria Math" panose="02040503050406030204" pitchFamily="18" charset="0"/>
                                    </a:rPr>
                                    <m:t>𝑖𝑗</m:t>
                                  </m:r>
                                </m:sub>
                                <m:sup>
                                  <m:r>
                                    <a:rPr lang="en-CA" sz="1400" b="0" i="1" smtClean="0">
                                      <a:latin typeface="Cambria Math" panose="02040503050406030204" pitchFamily="18" charset="0"/>
                                    </a:rPr>
                                    <m:t>𝑘</m:t>
                                  </m:r>
                                </m:sup>
                              </m:sSubSup>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𝑗</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=0</m:t>
                              </m:r>
                            </m:e>
                          </m:nary>
                        </m:oMath>
                      </m:oMathPara>
                    </a14:m>
                    <a:endParaRPr lang="en-US" sz="1400" dirty="0"/>
                  </a:p>
                </p:txBody>
              </p:sp>
            </mc:Choice>
            <mc:Fallback xmlns="">
              <p:sp>
                <p:nvSpPr>
                  <p:cNvPr id="4" name="TextBox 3">
                    <a:extLst>
                      <a:ext uri="{FF2B5EF4-FFF2-40B4-BE49-F238E27FC236}">
                        <a16:creationId xmlns:a16="http://schemas.microsoft.com/office/drawing/2014/main" id="{D81935BA-F004-4C0F-C563-4B1413797EDE}"/>
                      </a:ext>
                    </a:extLst>
                  </p:cNvPr>
                  <p:cNvSpPr txBox="1">
                    <a:spLocks noRot="1" noChangeAspect="1" noMove="1" noResize="1" noEditPoints="1" noAdjustHandles="1" noChangeArrowheads="1" noChangeShapeType="1" noTextEdit="1"/>
                  </p:cNvSpPr>
                  <p:nvPr/>
                </p:nvSpPr>
                <p:spPr>
                  <a:xfrm>
                    <a:off x="2062312" y="1746719"/>
                    <a:ext cx="1259767" cy="659283"/>
                  </a:xfrm>
                  <a:prstGeom prst="rect">
                    <a:avLst/>
                  </a:prstGeom>
                  <a:blipFill>
                    <a:blip r:embed="rId4"/>
                    <a:stretch>
                      <a:fillRect l="-44000" t="-109434" b="-1509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3BFE405-60E4-99B0-C8C3-00E887E8CD3A}"/>
                      </a:ext>
                    </a:extLst>
                  </p:cNvPr>
                  <p:cNvSpPr txBox="1"/>
                  <p:nvPr/>
                </p:nvSpPr>
                <p:spPr>
                  <a:xfrm>
                    <a:off x="4179169" y="1841489"/>
                    <a:ext cx="773610" cy="3115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𝑘</m:t>
                              </m:r>
                            </m:sup>
                          </m:sSup>
                        </m:oMath>
                      </m:oMathPara>
                    </a14:m>
                    <a:endParaRPr lang="en-US" sz="1400" dirty="0"/>
                  </a:p>
                </p:txBody>
              </p:sp>
            </mc:Choice>
            <mc:Fallback xmlns="">
              <p:sp>
                <p:nvSpPr>
                  <p:cNvPr id="5" name="TextBox 4">
                    <a:extLst>
                      <a:ext uri="{FF2B5EF4-FFF2-40B4-BE49-F238E27FC236}">
                        <a16:creationId xmlns:a16="http://schemas.microsoft.com/office/drawing/2014/main" id="{A7D62AD9-5B0A-61C2-9105-08BD2E202775}"/>
                      </a:ext>
                    </a:extLst>
                  </p:cNvPr>
                  <p:cNvSpPr txBox="1">
                    <a:spLocks noRot="1" noChangeAspect="1" noMove="1" noResize="1" noEditPoints="1" noAdjustHandles="1" noChangeArrowheads="1" noChangeShapeType="1" noTextEdit="1"/>
                  </p:cNvSpPr>
                  <p:nvPr/>
                </p:nvSpPr>
                <p:spPr>
                  <a:xfrm>
                    <a:off x="4179169" y="1841489"/>
                    <a:ext cx="773610" cy="31156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099DCAF-CBB7-3E07-1DB1-7F827EFF3F79}"/>
                      </a:ext>
                    </a:extLst>
                  </p:cNvPr>
                  <p:cNvSpPr txBox="1"/>
                  <p:nvPr/>
                </p:nvSpPr>
                <p:spPr>
                  <a:xfrm>
                    <a:off x="1800722" y="2570010"/>
                    <a:ext cx="1982594" cy="349391"/>
                  </a:xfrm>
                  <a:prstGeom prst="rect">
                    <a:avLst/>
                  </a:prstGeom>
                  <a:noFill/>
                </p:spPr>
                <p:txBody>
                  <a:bodyPr wrap="none" rtlCol="0">
                    <a:spAutoFit/>
                  </a:bodyPr>
                  <a:lstStyle/>
                  <a:p>
                    <a14:m>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𝐿𝐵</m:t>
                            </m:r>
                          </m:e>
                          <m:sub>
                            <m:r>
                              <a:rPr lang="en-CA" sz="1400" b="0" i="1" smtClean="0">
                                <a:latin typeface="Cambria Math" panose="02040503050406030204" pitchFamily="18" charset="0"/>
                              </a:rPr>
                              <m:t>𝑗</m:t>
                            </m:r>
                          </m:sub>
                          <m:sup>
                            <m:r>
                              <a:rPr lang="en-CA" sz="1400" b="0" i="1" smtClean="0">
                                <a:latin typeface="Cambria Math" panose="02040503050406030204" pitchFamily="18" charset="0"/>
                              </a:rPr>
                              <m:t>𝑘</m:t>
                            </m:r>
                          </m:sup>
                        </m:sSubSup>
                        <m:sSup>
                          <m:sSupPr>
                            <m:ctrlPr>
                              <a:rPr lang="en-US" sz="140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US" sz="1400" i="1" smtClean="0">
                            <a:latin typeface="Cambria Math" panose="02040503050406030204" pitchFamily="18" charset="0"/>
                            <a:ea typeface="Cambria Math" panose="02040503050406030204" pitchFamily="18" charset="0"/>
                          </a:rPr>
                          <m:t>≤</m:t>
                        </m:r>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𝑉</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r>
                          <a:rPr lang="en-US" sz="1400" i="1" smtClean="0">
                            <a:latin typeface="Cambria Math" panose="02040503050406030204" pitchFamily="18" charset="0"/>
                            <a:ea typeface="Cambria Math" panose="02040503050406030204" pitchFamily="18" charset="0"/>
                          </a:rPr>
                          <m:t>≤</m:t>
                        </m:r>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𝑈𝐵</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sSup>
                          <m:sSupPr>
                            <m:ctrlPr>
                              <a:rPr lang="en-US" sz="140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𝑋</m:t>
                            </m:r>
                          </m:e>
                          <m:sup>
                            <m:r>
                              <a:rPr lang="en-CA" sz="1400" b="0" i="1" smtClean="0">
                                <a:latin typeface="Cambria Math" panose="02040503050406030204" pitchFamily="18" charset="0"/>
                                <a:ea typeface="Cambria Math" panose="02040503050406030204" pitchFamily="18" charset="0"/>
                              </a:rPr>
                              <m:t>𝑘</m:t>
                            </m:r>
                          </m:sup>
                        </m:sSup>
                      </m:oMath>
                    </a14:m>
                    <a:r>
                      <a:rPr lang="en-US" sz="1400" dirty="0"/>
                      <a:t>,</a:t>
                    </a:r>
                  </a:p>
                </p:txBody>
              </p:sp>
            </mc:Choice>
            <mc:Fallback xmlns="">
              <p:sp>
                <p:nvSpPr>
                  <p:cNvPr id="3" name="TextBox 2">
                    <a:extLst>
                      <a:ext uri="{FF2B5EF4-FFF2-40B4-BE49-F238E27FC236}">
                        <a16:creationId xmlns:a16="http://schemas.microsoft.com/office/drawing/2014/main" id="{EF45E541-CF29-8515-4AC5-1DEAA563AD59}"/>
                      </a:ext>
                    </a:extLst>
                  </p:cNvPr>
                  <p:cNvSpPr txBox="1">
                    <a:spLocks noRot="1" noChangeAspect="1" noMove="1" noResize="1" noEditPoints="1" noAdjustHandles="1" noChangeArrowheads="1" noChangeShapeType="1" noTextEdit="1"/>
                  </p:cNvSpPr>
                  <p:nvPr/>
                </p:nvSpPr>
                <p:spPr>
                  <a:xfrm>
                    <a:off x="1800722" y="2570010"/>
                    <a:ext cx="1982594" cy="349391"/>
                  </a:xfrm>
                  <a:prstGeom prst="rect">
                    <a:avLst/>
                  </a:prstGeom>
                  <a:blipFill>
                    <a:blip r:embed="rId6"/>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6AE05C6-27F0-CE61-3476-8D08BC34D7F0}"/>
                      </a:ext>
                    </a:extLst>
                  </p:cNvPr>
                  <p:cNvSpPr txBox="1"/>
                  <p:nvPr/>
                </p:nvSpPr>
                <p:spPr>
                  <a:xfrm>
                    <a:off x="4174361" y="2544233"/>
                    <a:ext cx="778418" cy="3115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𝐽</m:t>
                              </m:r>
                            </m:e>
                            <m:sup>
                              <m:r>
                                <a:rPr lang="en-CA" sz="1400" b="0" i="1" smtClean="0">
                                  <a:latin typeface="Cambria Math" panose="02040503050406030204" pitchFamily="18" charset="0"/>
                                  <a:ea typeface="Cambria Math" panose="02040503050406030204" pitchFamily="18" charset="0"/>
                                </a:rPr>
                                <m:t>𝑘</m:t>
                              </m:r>
                            </m:sup>
                          </m:sSup>
                        </m:oMath>
                      </m:oMathPara>
                    </a14:m>
                    <a:endParaRPr lang="en-US" sz="1400" dirty="0"/>
                  </a:p>
                </p:txBody>
              </p:sp>
            </mc:Choice>
            <mc:Fallback xmlns="">
              <p:sp>
                <p:nvSpPr>
                  <p:cNvPr id="6" name="TextBox 5">
                    <a:extLst>
                      <a:ext uri="{FF2B5EF4-FFF2-40B4-BE49-F238E27FC236}">
                        <a16:creationId xmlns:a16="http://schemas.microsoft.com/office/drawing/2014/main" id="{CF9B08F7-CFB1-9D82-11F3-DD87259BDF8A}"/>
                      </a:ext>
                    </a:extLst>
                  </p:cNvPr>
                  <p:cNvSpPr txBox="1">
                    <a:spLocks noRot="1" noChangeAspect="1" noMove="1" noResize="1" noEditPoints="1" noAdjustHandles="1" noChangeArrowheads="1" noChangeShapeType="1" noTextEdit="1"/>
                  </p:cNvSpPr>
                  <p:nvPr/>
                </p:nvSpPr>
                <p:spPr>
                  <a:xfrm>
                    <a:off x="4174361" y="2544233"/>
                    <a:ext cx="778418" cy="311560"/>
                  </a:xfrm>
                  <a:prstGeom prst="rect">
                    <a:avLst/>
                  </a:prstGeom>
                  <a:blipFill>
                    <a:blip r:embed="rId7"/>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0E7499D-04FD-1E3A-1DE6-D57C59B67E2D}"/>
                      </a:ext>
                    </a:extLst>
                  </p:cNvPr>
                  <p:cNvSpPr txBox="1"/>
                  <p:nvPr/>
                </p:nvSpPr>
                <p:spPr>
                  <a:xfrm>
                    <a:off x="1928741" y="3098019"/>
                    <a:ext cx="1407885" cy="3250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𝑏𝑖𝑜𝑚𝑎𝑠𝑠</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m:t>
                          </m:r>
                          <m:sSup>
                            <m:sSupPr>
                              <m:ctrlPr>
                                <a:rPr lang="en-CA" sz="1400" b="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CA" sz="1400" b="0" i="1" smtClean="0">
                              <a:latin typeface="Cambria Math" panose="02040503050406030204" pitchFamily="18" charset="0"/>
                              <a:ea typeface="Cambria Math" panose="02040503050406030204" pitchFamily="18" charset="0"/>
                            </a:rPr>
                            <m:t>𝜇</m:t>
                          </m:r>
                        </m:oMath>
                      </m:oMathPara>
                    </a14:m>
                    <a:endParaRPr lang="en-US" sz="1400" dirty="0"/>
                  </a:p>
                </p:txBody>
              </p:sp>
            </mc:Choice>
            <mc:Fallback xmlns="">
              <p:sp>
                <p:nvSpPr>
                  <p:cNvPr id="7" name="TextBox 6">
                    <a:extLst>
                      <a:ext uri="{FF2B5EF4-FFF2-40B4-BE49-F238E27FC236}">
                        <a16:creationId xmlns:a16="http://schemas.microsoft.com/office/drawing/2014/main" id="{48C7C5EA-078E-A729-EA3E-F97A633542E8}"/>
                      </a:ext>
                    </a:extLst>
                  </p:cNvPr>
                  <p:cNvSpPr txBox="1">
                    <a:spLocks noRot="1" noChangeAspect="1" noMove="1" noResize="1" noEditPoints="1" noAdjustHandles="1" noChangeArrowheads="1" noChangeShapeType="1" noTextEdit="1"/>
                  </p:cNvSpPr>
                  <p:nvPr/>
                </p:nvSpPr>
                <p:spPr>
                  <a:xfrm>
                    <a:off x="1928741" y="3098019"/>
                    <a:ext cx="1407885" cy="32502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AEB131E-0C39-ABA6-4ABB-E741B52D8413}"/>
                      </a:ext>
                    </a:extLst>
                  </p:cNvPr>
                  <p:cNvSpPr txBox="1"/>
                  <p:nvPr/>
                </p:nvSpPr>
                <p:spPr>
                  <a:xfrm>
                    <a:off x="2116897" y="3601662"/>
                    <a:ext cx="1031571" cy="3115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40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0</m:t>
                          </m:r>
                        </m:oMath>
                      </m:oMathPara>
                    </a14:m>
                    <a:endParaRPr lang="en-US" sz="1400" dirty="0"/>
                  </a:p>
                </p:txBody>
              </p:sp>
            </mc:Choice>
            <mc:Fallback xmlns="">
              <p:sp>
                <p:nvSpPr>
                  <p:cNvPr id="8" name="TextBox 7">
                    <a:extLst>
                      <a:ext uri="{FF2B5EF4-FFF2-40B4-BE49-F238E27FC236}">
                        <a16:creationId xmlns:a16="http://schemas.microsoft.com/office/drawing/2014/main" id="{DFD53736-C1F2-CA87-2D6B-04B5B8C4F5D6}"/>
                      </a:ext>
                    </a:extLst>
                  </p:cNvPr>
                  <p:cNvSpPr txBox="1">
                    <a:spLocks noRot="1" noChangeAspect="1" noMove="1" noResize="1" noEditPoints="1" noAdjustHandles="1" noChangeArrowheads="1" noChangeShapeType="1" noTextEdit="1"/>
                  </p:cNvSpPr>
                  <p:nvPr/>
                </p:nvSpPr>
                <p:spPr>
                  <a:xfrm>
                    <a:off x="2116897" y="3601662"/>
                    <a:ext cx="1031571" cy="31156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9F88712-8D12-159E-F3EA-A43721444143}"/>
                      </a:ext>
                    </a:extLst>
                  </p:cNvPr>
                  <p:cNvSpPr txBox="1"/>
                  <p:nvPr/>
                </p:nvSpPr>
                <p:spPr>
                  <a:xfrm>
                    <a:off x="5163399" y="2381244"/>
                    <a:ext cx="78406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oMath>
                      </m:oMathPara>
                    </a14:m>
                    <a:endParaRPr lang="en-US" sz="1400" dirty="0"/>
                  </a:p>
                </p:txBody>
              </p:sp>
            </mc:Choice>
            <mc:Fallback xmlns="">
              <p:sp>
                <p:nvSpPr>
                  <p:cNvPr id="9" name="TextBox 8">
                    <a:extLst>
                      <a:ext uri="{FF2B5EF4-FFF2-40B4-BE49-F238E27FC236}">
                        <a16:creationId xmlns:a16="http://schemas.microsoft.com/office/drawing/2014/main" id="{1AB149D9-5EFA-775D-943D-E91493264173}"/>
                      </a:ext>
                    </a:extLst>
                  </p:cNvPr>
                  <p:cNvSpPr txBox="1">
                    <a:spLocks noRot="1" noChangeAspect="1" noMove="1" noResize="1" noEditPoints="1" noAdjustHandles="1" noChangeArrowheads="1" noChangeShapeType="1" noTextEdit="1"/>
                  </p:cNvSpPr>
                  <p:nvPr/>
                </p:nvSpPr>
                <p:spPr>
                  <a:xfrm>
                    <a:off x="5163399" y="2381244"/>
                    <a:ext cx="784061" cy="30777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842291D-C42F-F167-F67D-93AA20517668}"/>
                      </a:ext>
                    </a:extLst>
                  </p:cNvPr>
                  <p:cNvSpPr txBox="1"/>
                  <p:nvPr/>
                </p:nvSpPr>
                <p:spPr>
                  <a:xfrm>
                    <a:off x="1832597" y="4146204"/>
                    <a:ext cx="2084930" cy="6151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𝑢</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CA" sz="1400" b="0" i="1" smtClean="0">
                              <a:latin typeface="Cambria Math" panose="02040503050406030204" pitchFamily="18" charset="0"/>
                            </a:rPr>
                            <m:t>−</m:t>
                          </m:r>
                          <m:sSubSup>
                            <m:sSubSupPr>
                              <m:ctrlPr>
                                <a:rPr lang="en-CA" sz="1400" b="0" i="1" smtClean="0">
                                  <a:latin typeface="Cambria Math" panose="02040503050406030204" pitchFamily="18" charset="0"/>
                                </a:rPr>
                              </m:ctrlPr>
                            </m:sSubSupPr>
                            <m:e>
                              <m:r>
                                <a:rPr lang="en-CA" sz="1400" b="0" i="1" smtClean="0">
                                  <a:latin typeface="Cambria Math" panose="02040503050406030204" pitchFamily="18" charset="0"/>
                                </a:rPr>
                                <m:t>𝑒</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CA" sz="1400" b="0" i="1" smtClean="0">
                              <a:latin typeface="Cambria Math" panose="02040503050406030204" pitchFamily="18" charset="0"/>
                            </a:rPr>
                            <m:t>+</m:t>
                          </m:r>
                          <m:nary>
                            <m:naryPr>
                              <m:chr m:val="∑"/>
                              <m:supHide m:val="on"/>
                              <m:ctrlPr>
                                <a:rPr lang="en-CA" sz="1400" b="0" i="1" smtClean="0">
                                  <a:latin typeface="Cambria Math" panose="02040503050406030204" pitchFamily="18" charset="0"/>
                                </a:rPr>
                              </m:ctrlPr>
                            </m:naryPr>
                            <m:sub>
                              <m:r>
                                <m:rPr>
                                  <m:brk m:alnAt="7"/>
                                </m:rPr>
                                <a:rPr lang="en-CA" sz="1400" b="0" i="1" smtClean="0">
                                  <a:latin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sub>
                            <m:sup/>
                            <m:e>
                              <m:sSubSup>
                                <m:sSubSupPr>
                                  <m:ctrlPr>
                                    <a:rPr lang="en-CA" sz="1400" b="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𝑒𝑥</m:t>
                                  </m:r>
                                  <m:r>
                                    <a:rPr lang="en-CA" sz="1400" b="0" i="1" smtClean="0">
                                      <a:latin typeface="Cambria Math" panose="02040503050406030204" pitchFamily="18" charset="0"/>
                                    </a:rPr>
                                    <m:t>(</m:t>
                                  </m:r>
                                  <m:r>
                                    <a:rPr lang="en-CA" sz="1400" b="0" i="1" smtClean="0">
                                      <a:latin typeface="Cambria Math" panose="02040503050406030204" pitchFamily="18" charset="0"/>
                                    </a:rPr>
                                    <m:t>𝑖</m:t>
                                  </m:r>
                                  <m:r>
                                    <a:rPr lang="en-CA" sz="1400" b="0" i="1" smtClean="0">
                                      <a:latin typeface="Cambria Math" panose="02040503050406030204" pitchFamily="18" charset="0"/>
                                    </a:rPr>
                                    <m:t>)</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=0,</m:t>
                              </m:r>
                            </m:e>
                          </m:nary>
                        </m:oMath>
                      </m:oMathPara>
                    </a14:m>
                    <a:endParaRPr lang="en-US" sz="1400" dirty="0"/>
                  </a:p>
                </p:txBody>
              </p:sp>
            </mc:Choice>
            <mc:Fallback xmlns="">
              <p:sp>
                <p:nvSpPr>
                  <p:cNvPr id="10" name="TextBox 9">
                    <a:extLst>
                      <a:ext uri="{FF2B5EF4-FFF2-40B4-BE49-F238E27FC236}">
                        <a16:creationId xmlns:a16="http://schemas.microsoft.com/office/drawing/2014/main" id="{D782835D-EEF7-9EC5-9A74-D452DA6DF8C8}"/>
                      </a:ext>
                    </a:extLst>
                  </p:cNvPr>
                  <p:cNvSpPr txBox="1">
                    <a:spLocks noRot="1" noChangeAspect="1" noMove="1" noResize="1" noEditPoints="1" noAdjustHandles="1" noChangeArrowheads="1" noChangeShapeType="1" noTextEdit="1"/>
                  </p:cNvSpPr>
                  <p:nvPr/>
                </p:nvSpPr>
                <p:spPr>
                  <a:xfrm>
                    <a:off x="1832597" y="4146204"/>
                    <a:ext cx="2084930" cy="615168"/>
                  </a:xfrm>
                  <a:prstGeom prst="rect">
                    <a:avLst/>
                  </a:prstGeom>
                  <a:blipFill>
                    <a:blip r:embed="rId11"/>
                    <a:stretch>
                      <a:fillRect t="-118367" b="-17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764D59A-5273-53F0-C12A-B23B9CA6C23B}"/>
                      </a:ext>
                    </a:extLst>
                  </p:cNvPr>
                  <p:cNvSpPr txBox="1"/>
                  <p:nvPr/>
                </p:nvSpPr>
                <p:spPr>
                  <a:xfrm>
                    <a:off x="4240912" y="4226900"/>
                    <a:ext cx="95795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𝑐𝑜𝑚</m:t>
                              </m:r>
                            </m:sup>
                          </m:sSup>
                        </m:oMath>
                      </m:oMathPara>
                    </a14:m>
                    <a:endParaRPr lang="en-US" sz="1400" dirty="0"/>
                  </a:p>
                </p:txBody>
              </p:sp>
            </mc:Choice>
            <mc:Fallback xmlns="">
              <p:sp>
                <p:nvSpPr>
                  <p:cNvPr id="11" name="TextBox 10">
                    <a:extLst>
                      <a:ext uri="{FF2B5EF4-FFF2-40B4-BE49-F238E27FC236}">
                        <a16:creationId xmlns:a16="http://schemas.microsoft.com/office/drawing/2014/main" id="{346CA0AC-D45E-7F50-7B81-90EB96BF2849}"/>
                      </a:ext>
                    </a:extLst>
                  </p:cNvPr>
                  <p:cNvSpPr txBox="1">
                    <a:spLocks noRot="1" noChangeAspect="1" noMove="1" noResize="1" noEditPoints="1" noAdjustHandles="1" noChangeArrowheads="1" noChangeShapeType="1" noTextEdit="1"/>
                  </p:cNvSpPr>
                  <p:nvPr/>
                </p:nvSpPr>
                <p:spPr>
                  <a:xfrm>
                    <a:off x="4240912" y="4226900"/>
                    <a:ext cx="957955" cy="30777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B0B5B1C-64F0-9E34-4755-42D3678A480E}"/>
                      </a:ext>
                    </a:extLst>
                  </p:cNvPr>
                  <p:cNvSpPr txBox="1"/>
                  <p:nvPr/>
                </p:nvSpPr>
                <p:spPr>
                  <a:xfrm>
                    <a:off x="1877156" y="4832441"/>
                    <a:ext cx="1155957" cy="6151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CA" sz="1400" b="0" i="1" smtClean="0">
                                  <a:latin typeface="Cambria Math" panose="02040503050406030204" pitchFamily="18" charset="0"/>
                                </a:rPr>
                              </m:ctrlPr>
                            </m:naryPr>
                            <m:sub>
                              <m:r>
                                <m:rPr>
                                  <m:brk m:alnAt="7"/>
                                </m:rPr>
                                <a:rPr lang="en-CA" sz="1400" b="0" i="1" smtClean="0">
                                  <a:latin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sub>
                            <m:sup/>
                            <m:e>
                              <m:sSup>
                                <m:sSupPr>
                                  <m:ctrlPr>
                                    <a:rPr lang="en-CA" sz="1400" b="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CA" sz="1400" b="0" i="1" smtClean="0">
                                  <a:latin typeface="Cambria Math" panose="02040503050406030204" pitchFamily="18" charset="0"/>
                                </a:rPr>
                                <m:t>=</m:t>
                              </m:r>
                              <m:sSub>
                                <m:sSubPr>
                                  <m:ctrlPr>
                                    <a:rPr lang="en-CA" sz="1400" b="0" i="1" smtClean="0">
                                      <a:latin typeface="Cambria Math" panose="02040503050406030204" pitchFamily="18" charset="0"/>
                                    </a:rPr>
                                  </m:ctrlPr>
                                </m:sSubPr>
                                <m:e>
                                  <m:r>
                                    <a:rPr lang="en-CA" sz="1400" b="0" i="1" smtClean="0">
                                      <a:latin typeface="Cambria Math" panose="02040503050406030204" pitchFamily="18" charset="0"/>
                                    </a:rPr>
                                    <m:t>𝑋</m:t>
                                  </m:r>
                                </m:e>
                                <m:sub>
                                  <m:r>
                                    <a:rPr lang="en-CA" sz="1400" b="0" i="1" smtClean="0">
                                      <a:latin typeface="Cambria Math" panose="02040503050406030204" pitchFamily="18" charset="0"/>
                                    </a:rPr>
                                    <m:t>0</m:t>
                                  </m:r>
                                </m:sub>
                              </m:sSub>
                            </m:e>
                          </m:nary>
                        </m:oMath>
                      </m:oMathPara>
                    </a14:m>
                    <a:endParaRPr lang="en-US" sz="1400" dirty="0"/>
                  </a:p>
                </p:txBody>
              </p:sp>
            </mc:Choice>
            <mc:Fallback xmlns="">
              <p:sp>
                <p:nvSpPr>
                  <p:cNvPr id="12" name="TextBox 11">
                    <a:extLst>
                      <a:ext uri="{FF2B5EF4-FFF2-40B4-BE49-F238E27FC236}">
                        <a16:creationId xmlns:a16="http://schemas.microsoft.com/office/drawing/2014/main" id="{F90B1BA6-5C46-D52F-EB50-F38F803EF518}"/>
                      </a:ext>
                    </a:extLst>
                  </p:cNvPr>
                  <p:cNvSpPr txBox="1">
                    <a:spLocks noRot="1" noChangeAspect="1" noMove="1" noResize="1" noEditPoints="1" noAdjustHandles="1" noChangeArrowheads="1" noChangeShapeType="1" noTextEdit="1"/>
                  </p:cNvSpPr>
                  <p:nvPr/>
                </p:nvSpPr>
                <p:spPr>
                  <a:xfrm>
                    <a:off x="1877156" y="4832441"/>
                    <a:ext cx="1155957" cy="615168"/>
                  </a:xfrm>
                  <a:prstGeom prst="rect">
                    <a:avLst/>
                  </a:prstGeom>
                  <a:blipFill>
                    <a:blip r:embed="rId13"/>
                    <a:stretch>
                      <a:fillRect l="-47312" t="-114000" b="-16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77752F0-F8AE-1954-ECCF-B389F096372B}"/>
                      </a:ext>
                    </a:extLst>
                  </p:cNvPr>
                  <p:cNvSpPr txBox="1"/>
                  <p:nvPr/>
                </p:nvSpPr>
                <p:spPr>
                  <a:xfrm>
                    <a:off x="1914422" y="5526401"/>
                    <a:ext cx="32733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𝜇</m:t>
                          </m:r>
                        </m:oMath>
                      </m:oMathPara>
                    </a14:m>
                    <a:endParaRPr lang="en-US" sz="1400" dirty="0"/>
                  </a:p>
                </p:txBody>
              </p:sp>
            </mc:Choice>
            <mc:Fallback xmlns="">
              <p:sp>
                <p:nvSpPr>
                  <p:cNvPr id="13" name="TextBox 12">
                    <a:extLst>
                      <a:ext uri="{FF2B5EF4-FFF2-40B4-BE49-F238E27FC236}">
                        <a16:creationId xmlns:a16="http://schemas.microsoft.com/office/drawing/2014/main" id="{4D645FE8-E159-1794-7126-BFFF592A2580}"/>
                      </a:ext>
                    </a:extLst>
                  </p:cNvPr>
                  <p:cNvSpPr txBox="1">
                    <a:spLocks noRot="1" noChangeAspect="1" noMove="1" noResize="1" noEditPoints="1" noAdjustHandles="1" noChangeArrowheads="1" noChangeShapeType="1" noTextEdit="1"/>
                  </p:cNvSpPr>
                  <p:nvPr/>
                </p:nvSpPr>
                <p:spPr>
                  <a:xfrm>
                    <a:off x="1914422" y="5526401"/>
                    <a:ext cx="327334" cy="307777"/>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721AD5F-AE7F-4D5E-1AD1-A69040FB70C0}"/>
                      </a:ext>
                    </a:extLst>
                  </p:cNvPr>
                  <p:cNvSpPr txBox="1"/>
                  <p:nvPr/>
                </p:nvSpPr>
                <p:spPr>
                  <a:xfrm>
                    <a:off x="2815748" y="5546528"/>
                    <a:ext cx="735330" cy="3085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𝑒</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0</m:t>
                          </m:r>
                        </m:oMath>
                      </m:oMathPara>
                    </a14:m>
                    <a:endParaRPr lang="en-US" sz="1400" dirty="0"/>
                  </a:p>
                </p:txBody>
              </p:sp>
            </mc:Choice>
            <mc:Fallback xmlns="">
              <p:sp>
                <p:nvSpPr>
                  <p:cNvPr id="14" name="TextBox 13">
                    <a:extLst>
                      <a:ext uri="{FF2B5EF4-FFF2-40B4-BE49-F238E27FC236}">
                        <a16:creationId xmlns:a16="http://schemas.microsoft.com/office/drawing/2014/main" id="{A83FF2DF-DA44-00B3-BAF1-28854F6B2A30}"/>
                      </a:ext>
                    </a:extLst>
                  </p:cNvPr>
                  <p:cNvSpPr txBox="1">
                    <a:spLocks noRot="1" noChangeAspect="1" noMove="1" noResize="1" noEditPoints="1" noAdjustHandles="1" noChangeArrowheads="1" noChangeShapeType="1" noTextEdit="1"/>
                  </p:cNvSpPr>
                  <p:nvPr/>
                </p:nvSpPr>
                <p:spPr>
                  <a:xfrm>
                    <a:off x="2815748" y="5546528"/>
                    <a:ext cx="735330" cy="30854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C53255D-7ED3-D90C-23BA-19035F163788}"/>
                      </a:ext>
                    </a:extLst>
                  </p:cNvPr>
                  <p:cNvSpPr txBox="1"/>
                  <p:nvPr/>
                </p:nvSpPr>
                <p:spPr>
                  <a:xfrm>
                    <a:off x="3912630" y="5546528"/>
                    <a:ext cx="95795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𝑐𝑜𝑚</m:t>
                              </m:r>
                            </m:sup>
                          </m:sSup>
                        </m:oMath>
                      </m:oMathPara>
                    </a14:m>
                    <a:endParaRPr lang="en-US" sz="1400" dirty="0"/>
                  </a:p>
                </p:txBody>
              </p:sp>
            </mc:Choice>
            <mc:Fallback xmlns="">
              <p:sp>
                <p:nvSpPr>
                  <p:cNvPr id="15" name="TextBox 14">
                    <a:extLst>
                      <a:ext uri="{FF2B5EF4-FFF2-40B4-BE49-F238E27FC236}">
                        <a16:creationId xmlns:a16="http://schemas.microsoft.com/office/drawing/2014/main" id="{A2FBC4D0-A4BF-FF5A-15BF-E035C57424FD}"/>
                      </a:ext>
                    </a:extLst>
                  </p:cNvPr>
                  <p:cNvSpPr txBox="1">
                    <a:spLocks noRot="1" noChangeAspect="1" noMove="1" noResize="1" noEditPoints="1" noAdjustHandles="1" noChangeArrowheads="1" noChangeShapeType="1" noTextEdit="1"/>
                  </p:cNvSpPr>
                  <p:nvPr/>
                </p:nvSpPr>
                <p:spPr>
                  <a:xfrm>
                    <a:off x="3912630" y="5546528"/>
                    <a:ext cx="957955" cy="307777"/>
                  </a:xfrm>
                  <a:prstGeom prst="rect">
                    <a:avLst/>
                  </a:prstGeom>
                  <a:blipFill>
                    <a:blip r:embed="rId16"/>
                    <a:stretch>
                      <a:fillRect/>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44CADDA8-A112-5078-81B0-B04DFD885E33}"/>
                  </a:ext>
                </a:extLst>
              </p:cNvPr>
              <p:cNvSpPr txBox="1"/>
              <p:nvPr/>
            </p:nvSpPr>
            <p:spPr>
              <a:xfrm>
                <a:off x="3617079" y="5587225"/>
                <a:ext cx="229550" cy="307777"/>
              </a:xfrm>
              <a:prstGeom prst="rect">
                <a:avLst/>
              </a:prstGeom>
              <a:noFill/>
            </p:spPr>
            <p:txBody>
              <a:bodyPr wrap="none" rtlCol="0">
                <a:spAutoFit/>
              </a:bodyPr>
              <a:lstStyle/>
              <a:p>
                <a:r>
                  <a:rPr lang="en-US" sz="1400" dirty="0"/>
                  <a:t>,</a:t>
                </a:r>
              </a:p>
            </p:txBody>
          </p:sp>
          <p:sp>
            <p:nvSpPr>
              <p:cNvPr id="27" name="TextBox 26">
                <a:extLst>
                  <a:ext uri="{FF2B5EF4-FFF2-40B4-BE49-F238E27FC236}">
                    <a16:creationId xmlns:a16="http://schemas.microsoft.com/office/drawing/2014/main" id="{6448E70D-CCDF-0BC0-958A-C460B661567C}"/>
                  </a:ext>
                </a:extLst>
              </p:cNvPr>
              <p:cNvSpPr txBox="1"/>
              <p:nvPr/>
            </p:nvSpPr>
            <p:spPr>
              <a:xfrm>
                <a:off x="2438423" y="5587225"/>
                <a:ext cx="229550" cy="307777"/>
              </a:xfrm>
              <a:prstGeom prst="rect">
                <a:avLst/>
              </a:prstGeom>
              <a:noFill/>
            </p:spPr>
            <p:txBody>
              <a:bodyPr wrap="none" rtlCol="0">
                <a:spAutoFit/>
              </a:bodyPr>
              <a:lstStyle/>
              <a:p>
                <a:r>
                  <a:rPr lang="en-US" sz="1400" dirty="0"/>
                  <a:t>,</a:t>
                </a:r>
              </a:p>
            </p:txBody>
          </p:sp>
          <p:sp>
            <p:nvSpPr>
              <p:cNvPr id="28" name="Left Bracket 27">
                <a:extLst>
                  <a:ext uri="{FF2B5EF4-FFF2-40B4-BE49-F238E27FC236}">
                    <a16:creationId xmlns:a16="http://schemas.microsoft.com/office/drawing/2014/main" id="{081422EC-1D7D-83FC-34A0-BF35018FA5DF}"/>
                  </a:ext>
                </a:extLst>
              </p:cNvPr>
              <p:cNvSpPr/>
              <p:nvPr/>
            </p:nvSpPr>
            <p:spPr>
              <a:xfrm rot="10800000">
                <a:off x="5004548" y="1057446"/>
                <a:ext cx="100580" cy="2878984"/>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25A383A-A705-9543-7528-E77BF9DA7045}"/>
                      </a:ext>
                    </a:extLst>
                  </p:cNvPr>
                  <p:cNvSpPr txBox="1"/>
                  <p:nvPr/>
                </p:nvSpPr>
                <p:spPr>
                  <a:xfrm>
                    <a:off x="257490" y="466979"/>
                    <a:ext cx="2296719" cy="704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𝑚𝑖𝑛</m:t>
                              </m:r>
                            </m:e>
                            <m:sub>
                              <m:sSup>
                                <m:sSupPr>
                                  <m:ctrlPr>
                                    <a:rPr lang="en-US" i="1" smtClean="0">
                                      <a:latin typeface="Cambria Math" panose="02040503050406030204" pitchFamily="18" charset="0"/>
                                    </a:rPr>
                                  </m:ctrlPr>
                                </m:sSupPr>
                                <m:e>
                                  <m:r>
                                    <a:rPr lang="en-CA" b="0" i="1" smtClean="0">
                                      <a:latin typeface="Cambria Math" panose="02040503050406030204" pitchFamily="18" charset="0"/>
                                    </a:rPr>
                                    <m:t>𝑋</m:t>
                                  </m:r>
                                </m:e>
                                <m:sup>
                                  <m:r>
                                    <a:rPr lang="en-CA" b="0" i="1" smtClean="0">
                                      <a:latin typeface="Cambria Math" panose="02040503050406030204" pitchFamily="18" charset="0"/>
                                    </a:rPr>
                                    <m:t>𝑘</m:t>
                                  </m:r>
                                </m:sup>
                              </m:sSup>
                              <m:r>
                                <a:rPr lang="en-CA" b="0" i="1" smtClean="0">
                                  <a:latin typeface="Cambria Math" panose="02040503050406030204" pitchFamily="18" charset="0"/>
                                </a:rPr>
                                <m:t> </m:t>
                              </m:r>
                            </m:sub>
                          </m:sSub>
                          <m:d>
                            <m:dPr>
                              <m:begChr m:val="|"/>
                              <m:endChr m:val="|"/>
                              <m:ctrlPr>
                                <a:rPr lang="en-US" i="1" smtClean="0">
                                  <a:latin typeface="Cambria Math" panose="02040503050406030204" pitchFamily="18" charset="0"/>
                                </a:rPr>
                              </m:ctrlPr>
                            </m:dPr>
                            <m:e>
                              <m:sSup>
                                <m:sSupPr>
                                  <m:ctrlPr>
                                    <a:rPr lang="en-US" i="1" smtClean="0">
                                      <a:latin typeface="Cambria Math" panose="02040503050406030204" pitchFamily="18" charset="0"/>
                                    </a:rPr>
                                  </m:ctrlPr>
                                </m:sSupPr>
                                <m:e>
                                  <m:r>
                                    <a:rPr lang="en-CA" b="0" i="1" smtClean="0">
                                      <a:latin typeface="Cambria Math" panose="02040503050406030204" pitchFamily="18" charset="0"/>
                                    </a:rPr>
                                    <m:t>𝑋</m:t>
                                  </m:r>
                                </m:e>
                                <m:sup>
                                  <m:r>
                                    <a:rPr lang="en-CA" b="0" i="1" smtClean="0">
                                      <a:latin typeface="Cambria Math" panose="02040503050406030204" pitchFamily="18" charset="0"/>
                                    </a:rPr>
                                    <m:t>𝑘</m:t>
                                  </m:r>
                                </m:sup>
                              </m:sSup>
                              <m:r>
                                <a:rPr lang="en-CA" b="0" i="1" smtClean="0">
                                  <a:latin typeface="Cambria Math" panose="02040503050406030204" pitchFamily="18" charset="0"/>
                                </a:rPr>
                                <m:t>−</m:t>
                              </m:r>
                              <m:sSubSup>
                                <m:sSubSupPr>
                                  <m:ctrlPr>
                                    <a:rPr lang="en-CA" b="0" i="1" smtClean="0">
                                      <a:latin typeface="Cambria Math" panose="02040503050406030204" pitchFamily="18" charset="0"/>
                                    </a:rPr>
                                  </m:ctrlPr>
                                </m:sSubSupPr>
                                <m:e>
                                  <m:r>
                                    <a:rPr lang="en-CA" b="0" i="1" smtClean="0">
                                      <a:latin typeface="Cambria Math" panose="02040503050406030204" pitchFamily="18" charset="0"/>
                                    </a:rPr>
                                    <m:t>𝑋</m:t>
                                  </m:r>
                                </m:e>
                                <m:sub>
                                  <m:r>
                                    <a:rPr lang="en-CA" b="0" i="1" smtClean="0">
                                      <a:latin typeface="Cambria Math" panose="02040503050406030204" pitchFamily="18" charset="0"/>
                                    </a:rPr>
                                    <m:t>𝑒𝑥𝑝</m:t>
                                  </m:r>
                                </m:sub>
                                <m:sup>
                                  <m:r>
                                    <a:rPr lang="en-CA" b="0" i="1" smtClean="0">
                                      <a:latin typeface="Cambria Math" panose="02040503050406030204" pitchFamily="18" charset="0"/>
                                    </a:rPr>
                                    <m:t>𝑘</m:t>
                                  </m:r>
                                </m:sup>
                              </m:sSubSup>
                            </m:e>
                          </m:d>
                        </m:oMath>
                      </m:oMathPara>
                    </a14:m>
                    <a:endParaRPr lang="en-US" dirty="0"/>
                  </a:p>
                  <a:p>
                    <a:r>
                      <a:rPr lang="en-US" dirty="0"/>
                      <a:t>subject to</a:t>
                    </a:r>
                  </a:p>
                </p:txBody>
              </p:sp>
            </mc:Choice>
            <mc:Fallback xmlns="">
              <p:sp>
                <p:nvSpPr>
                  <p:cNvPr id="29" name="TextBox 28">
                    <a:extLst>
                      <a:ext uri="{FF2B5EF4-FFF2-40B4-BE49-F238E27FC236}">
                        <a16:creationId xmlns:a16="http://schemas.microsoft.com/office/drawing/2014/main" id="{E25A383A-A705-9543-7528-E77BF9DA7045}"/>
                      </a:ext>
                    </a:extLst>
                  </p:cNvPr>
                  <p:cNvSpPr txBox="1">
                    <a:spLocks noRot="1" noChangeAspect="1" noMove="1" noResize="1" noEditPoints="1" noAdjustHandles="1" noChangeArrowheads="1" noChangeShapeType="1" noTextEdit="1"/>
                  </p:cNvSpPr>
                  <p:nvPr/>
                </p:nvSpPr>
                <p:spPr>
                  <a:xfrm>
                    <a:off x="257490" y="466979"/>
                    <a:ext cx="2296719" cy="704488"/>
                  </a:xfrm>
                  <a:prstGeom prst="rect">
                    <a:avLst/>
                  </a:prstGeom>
                  <a:blipFill>
                    <a:blip r:embed="rId17"/>
                    <a:stretch>
                      <a:fillRect l="-2198" b="-12500"/>
                    </a:stretch>
                  </a:blipFill>
                </p:spPr>
                <p:txBody>
                  <a:bodyPr/>
                  <a:lstStyle/>
                  <a:p>
                    <a:r>
                      <a:rPr lang="en-US">
                        <a:noFill/>
                      </a:rPr>
                      <a:t> </a:t>
                    </a:r>
                  </a:p>
                </p:txBody>
              </p:sp>
            </mc:Fallback>
          </mc:AlternateContent>
          <p:sp>
            <p:nvSpPr>
              <p:cNvPr id="30" name="Left Bracket 29">
                <a:extLst>
                  <a:ext uri="{FF2B5EF4-FFF2-40B4-BE49-F238E27FC236}">
                    <a16:creationId xmlns:a16="http://schemas.microsoft.com/office/drawing/2014/main" id="{417C066B-52F3-5167-F89E-05E91038FF94}"/>
                  </a:ext>
                </a:extLst>
              </p:cNvPr>
              <p:cNvSpPr/>
              <p:nvPr/>
            </p:nvSpPr>
            <p:spPr>
              <a:xfrm>
                <a:off x="1788038" y="1057733"/>
                <a:ext cx="126384" cy="2944818"/>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400"/>
              </a:p>
            </p:txBody>
          </p:sp>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4959B1C-122B-7A8F-46AC-315D00FB6F42}"/>
                    </a:ext>
                  </a:extLst>
                </p:cNvPr>
                <p:cNvSpPr txBox="1"/>
                <p:nvPr/>
              </p:nvSpPr>
              <p:spPr>
                <a:xfrm>
                  <a:off x="2048004" y="1740398"/>
                  <a:ext cx="2959143" cy="349391"/>
                </a:xfrm>
                <a:prstGeom prst="rect">
                  <a:avLst/>
                </a:prstGeom>
                <a:noFill/>
              </p:spPr>
              <p:txBody>
                <a:bodyPr wrap="none" rtlCol="0">
                  <a:spAutoFit/>
                </a:bodyPr>
                <a:lstStyle/>
                <a:p>
                  <a14:m>
                    <m:oMath xmlns:m="http://schemas.openxmlformats.org/officeDocument/2006/math">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𝑉</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𝑋</m:t>
                          </m:r>
                        </m:e>
                        <m:sup>
                          <m:r>
                            <a:rPr lang="en-CA" sz="1400" b="0" i="1" smtClean="0">
                              <a:latin typeface="Cambria Math" panose="02040503050406030204" pitchFamily="18" charset="0"/>
                              <a:ea typeface="Cambria Math" panose="02040503050406030204" pitchFamily="18" charset="0"/>
                            </a:rPr>
                            <m:t>𝑘</m:t>
                          </m:r>
                        </m:sup>
                      </m:sSup>
                      <m:sSubSup>
                        <m:sSubSupPr>
                          <m:ctrlPr>
                            <a:rPr lang="en-CA" sz="1400" b="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𝑣</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oMath>
                  </a14:m>
                  <a:r>
                    <a:rPr lang="en-US" sz="1400" dirty="0">
                      <a:latin typeface="Cambria Math" panose="02040503050406030204" pitchFamily="18" charset="0"/>
                      <a:ea typeface="Cambria Math" panose="02040503050406030204" pitchFamily="18" charset="0"/>
                    </a:rPr>
                    <a:t>,  </a:t>
                  </a:r>
                  <a14:m>
                    <m:oMath xmlns:m="http://schemas.openxmlformats.org/officeDocument/2006/math">
                      <m:r>
                        <a:rPr lang="en-CA" sz="1400" b="0" i="0" smtClean="0">
                          <a:latin typeface="Cambria Math" panose="02040503050406030204" pitchFamily="18" charset="0"/>
                          <a:ea typeface="Cambria Math" panose="02040503050406030204" pitchFamily="18" charset="0"/>
                        </a:rPr>
                        <m:t>                  </m:t>
                      </m:r>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𝐽</m:t>
                          </m:r>
                        </m:e>
                        <m:sup>
                          <m:r>
                            <a:rPr lang="en-CA" sz="1400" b="0" i="1" smtClean="0">
                              <a:latin typeface="Cambria Math" panose="02040503050406030204" pitchFamily="18" charset="0"/>
                              <a:ea typeface="Cambria Math" panose="02040503050406030204" pitchFamily="18" charset="0"/>
                            </a:rPr>
                            <m:t>𝑘</m:t>
                          </m:r>
                        </m:sup>
                      </m:sSup>
                    </m:oMath>
                  </a14:m>
                  <a:r>
                    <a:rPr lang="en-US" sz="1400" dirty="0">
                      <a:latin typeface="Cambria Math" panose="02040503050406030204" pitchFamily="18" charset="0"/>
                      <a:ea typeface="Cambria Math" panose="02040503050406030204" pitchFamily="18" charset="0"/>
                    </a:rPr>
                    <a:t>, </a:t>
                  </a:r>
                  <a14:m>
                    <m:oMath xmlns:m="http://schemas.openxmlformats.org/officeDocument/2006/math">
                      <m:r>
                        <a:rPr lang="en-CA" sz="1400" b="0" i="1" smtClean="0">
                          <a:latin typeface="Cambria Math" panose="02040503050406030204" pitchFamily="18" charset="0"/>
                          <a:ea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oMath>
                  </a14:m>
                  <a:endParaRPr lang="en-US" sz="1400" dirty="0">
                    <a:latin typeface="Cambria Math" panose="02040503050406030204" pitchFamily="18" charset="0"/>
                    <a:ea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F27CEDD8-6CEC-CD4C-C926-2C03ACA6C1C6}"/>
                    </a:ext>
                  </a:extLst>
                </p:cNvPr>
                <p:cNvSpPr txBox="1">
                  <a:spLocks noRot="1" noChangeAspect="1" noMove="1" noResize="1" noEditPoints="1" noAdjustHandles="1" noChangeArrowheads="1" noChangeShapeType="1" noTextEdit="1"/>
                </p:cNvSpPr>
                <p:nvPr/>
              </p:nvSpPr>
              <p:spPr>
                <a:xfrm>
                  <a:off x="2048004" y="1740398"/>
                  <a:ext cx="2959143" cy="349391"/>
                </a:xfrm>
                <a:prstGeom prst="rect">
                  <a:avLst/>
                </a:prstGeom>
                <a:blipFill>
                  <a:blip r:embed="rId18"/>
                  <a:stretch>
                    <a:fillRect b="-13793"/>
                  </a:stretch>
                </a:blipFill>
              </p:spPr>
              <p:txBody>
                <a:bodyPr/>
                <a:lstStyle/>
                <a:p>
                  <a:r>
                    <a:rPr lang="en-US">
                      <a:noFill/>
                    </a:rPr>
                    <a:t> </a:t>
                  </a:r>
                </a:p>
              </p:txBody>
            </p:sp>
          </mc:Fallback>
        </mc:AlternateContent>
      </p:grpSp>
      <p:sp>
        <p:nvSpPr>
          <p:cNvPr id="32" name="Rectangle 31">
            <a:extLst>
              <a:ext uri="{FF2B5EF4-FFF2-40B4-BE49-F238E27FC236}">
                <a16:creationId xmlns:a16="http://schemas.microsoft.com/office/drawing/2014/main" id="{D7EF313C-8101-B00C-5742-4910F39B8AA1}"/>
              </a:ext>
            </a:extLst>
          </p:cNvPr>
          <p:cNvSpPr/>
          <p:nvPr/>
        </p:nvSpPr>
        <p:spPr>
          <a:xfrm>
            <a:off x="1510124" y="5077794"/>
            <a:ext cx="2284769" cy="580203"/>
          </a:xfrm>
          <a:prstGeom prst="rect">
            <a:avLst/>
          </a:prstGeom>
          <a:noFill/>
          <a:ln w="28575">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accent6">
                  <a:lumMod val="75000"/>
                </a:schemeClr>
              </a:solidFill>
            </a:endParaRPr>
          </a:p>
        </p:txBody>
      </p:sp>
      <p:cxnSp>
        <p:nvCxnSpPr>
          <p:cNvPr id="33" name="Straight Arrow Connector 32">
            <a:extLst>
              <a:ext uri="{FF2B5EF4-FFF2-40B4-BE49-F238E27FC236}">
                <a16:creationId xmlns:a16="http://schemas.microsoft.com/office/drawing/2014/main" id="{B23A0B0C-9CDE-2621-6E93-AFE7BDCCDFBA}"/>
              </a:ext>
            </a:extLst>
          </p:cNvPr>
          <p:cNvCxnSpPr>
            <a:cxnSpLocks/>
          </p:cNvCxnSpPr>
          <p:nvPr/>
        </p:nvCxnSpPr>
        <p:spPr>
          <a:xfrm flipH="1">
            <a:off x="3951808" y="2556074"/>
            <a:ext cx="2375813" cy="2556018"/>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1CA83C7-8848-7851-1287-8560116F3B2E}"/>
              </a:ext>
            </a:extLst>
          </p:cNvPr>
          <p:cNvCxnSpPr>
            <a:cxnSpLocks/>
          </p:cNvCxnSpPr>
          <p:nvPr/>
        </p:nvCxnSpPr>
        <p:spPr>
          <a:xfrm flipV="1">
            <a:off x="8587560" y="2620250"/>
            <a:ext cx="1148656" cy="953963"/>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B8EE031-BB10-28C3-C60D-CC3DCA2D1534}"/>
              </a:ext>
            </a:extLst>
          </p:cNvPr>
          <p:cNvCxnSpPr>
            <a:cxnSpLocks/>
          </p:cNvCxnSpPr>
          <p:nvPr/>
        </p:nvCxnSpPr>
        <p:spPr>
          <a:xfrm flipV="1">
            <a:off x="10062000" y="2702839"/>
            <a:ext cx="140584" cy="2727108"/>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0A508440-2F0C-10C4-8388-06E7BF86C9AE}"/>
              </a:ext>
            </a:extLst>
          </p:cNvPr>
          <p:cNvSpPr txBox="1"/>
          <p:nvPr/>
        </p:nvSpPr>
        <p:spPr>
          <a:xfrm rot="18822660">
            <a:off x="4387970" y="3330921"/>
            <a:ext cx="2799934" cy="338554"/>
          </a:xfrm>
          <a:prstGeom prst="rect">
            <a:avLst/>
          </a:prstGeom>
          <a:noFill/>
        </p:spPr>
        <p:txBody>
          <a:bodyPr wrap="none" rtlCol="0">
            <a:spAutoFit/>
          </a:bodyPr>
          <a:lstStyle/>
          <a:p>
            <a:r>
              <a:rPr lang="en-CA" sz="1600" b="1" dirty="0">
                <a:solidFill>
                  <a:schemeClr val="bg1">
                    <a:lumMod val="65000"/>
                  </a:schemeClr>
                </a:solidFill>
              </a:rPr>
              <a:t>Input experimental constraints</a:t>
            </a:r>
            <a:endParaRPr lang="en-US" sz="1600" b="1" dirty="0">
              <a:solidFill>
                <a:schemeClr val="bg1">
                  <a:lumMod val="65000"/>
                </a:schemeClr>
              </a:solidFill>
            </a:endParaRPr>
          </a:p>
        </p:txBody>
      </p:sp>
      <p:cxnSp>
        <p:nvCxnSpPr>
          <p:cNvPr id="50" name="Straight Arrow Connector 49">
            <a:extLst>
              <a:ext uri="{FF2B5EF4-FFF2-40B4-BE49-F238E27FC236}">
                <a16:creationId xmlns:a16="http://schemas.microsoft.com/office/drawing/2014/main" id="{FC5D225D-C50C-AEE8-3E0B-DEA8BCFF8938}"/>
              </a:ext>
            </a:extLst>
          </p:cNvPr>
          <p:cNvCxnSpPr>
            <a:cxnSpLocks/>
          </p:cNvCxnSpPr>
          <p:nvPr/>
        </p:nvCxnSpPr>
        <p:spPr>
          <a:xfrm flipV="1">
            <a:off x="8883077" y="2631911"/>
            <a:ext cx="2285791" cy="2786375"/>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92863219-D274-D3E4-C0C2-3C7E8890C788}"/>
              </a:ext>
            </a:extLst>
          </p:cNvPr>
          <p:cNvSpPr/>
          <p:nvPr/>
        </p:nvSpPr>
        <p:spPr>
          <a:xfrm>
            <a:off x="8282980" y="5418286"/>
            <a:ext cx="912778" cy="818612"/>
          </a:xfrm>
          <a:prstGeom prst="rect">
            <a:avLst/>
          </a:prstGeom>
          <a:noFill/>
          <a:ln w="28575">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accent6">
                  <a:lumMod val="75000"/>
                </a:schemeClr>
              </a:solidFill>
            </a:endParaRPr>
          </a:p>
        </p:txBody>
      </p:sp>
      <p:sp>
        <p:nvSpPr>
          <p:cNvPr id="59" name="Rectangle 58">
            <a:extLst>
              <a:ext uri="{FF2B5EF4-FFF2-40B4-BE49-F238E27FC236}">
                <a16:creationId xmlns:a16="http://schemas.microsoft.com/office/drawing/2014/main" id="{4D39054F-3E51-3D6C-9990-719CC1AD9F84}"/>
              </a:ext>
            </a:extLst>
          </p:cNvPr>
          <p:cNvSpPr/>
          <p:nvPr/>
        </p:nvSpPr>
        <p:spPr>
          <a:xfrm>
            <a:off x="9195757" y="5417355"/>
            <a:ext cx="1164567" cy="818612"/>
          </a:xfrm>
          <a:prstGeom prst="rect">
            <a:avLst/>
          </a:prstGeom>
          <a:noFill/>
          <a:ln w="28575">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accent6">
                  <a:lumMod val="75000"/>
                </a:schemeClr>
              </a:solidFill>
            </a:endParaRPr>
          </a:p>
        </p:txBody>
      </p:sp>
      <p:sp>
        <p:nvSpPr>
          <p:cNvPr id="34" name="Title 31">
            <a:extLst>
              <a:ext uri="{FF2B5EF4-FFF2-40B4-BE49-F238E27FC236}">
                <a16:creationId xmlns:a16="http://schemas.microsoft.com/office/drawing/2014/main" id="{53EFC313-7F30-AC53-3D9A-0E15B3B9D9A5}"/>
              </a:ext>
            </a:extLst>
          </p:cNvPr>
          <p:cNvSpPr>
            <a:spLocks noGrp="1"/>
          </p:cNvSpPr>
          <p:nvPr>
            <p:ph type="title"/>
          </p:nvPr>
        </p:nvSpPr>
        <p:spPr>
          <a:xfrm>
            <a:off x="238195" y="365125"/>
            <a:ext cx="11115605" cy="1127631"/>
          </a:xfrm>
        </p:spPr>
        <p:txBody>
          <a:bodyPr>
            <a:noAutofit/>
          </a:bodyPr>
          <a:lstStyle/>
          <a:p>
            <a:r>
              <a:rPr lang="en-US" sz="3600" b="1" dirty="0"/>
              <a:t>Community Metabolic Modelling and Validation Framework</a:t>
            </a:r>
            <a:endParaRPr lang="en-US" sz="3600" dirty="0"/>
          </a:p>
        </p:txBody>
      </p:sp>
    </p:spTree>
    <p:extLst>
      <p:ext uri="{BB962C8B-B14F-4D97-AF65-F5344CB8AC3E}">
        <p14:creationId xmlns:p14="http://schemas.microsoft.com/office/powerpoint/2010/main" val="2359316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D130A2C-3461-A3CE-DF59-58A297F5DF9B}"/>
                  </a:ext>
                </a:extLst>
              </p:cNvPr>
              <p:cNvSpPr txBox="1"/>
              <p:nvPr/>
            </p:nvSpPr>
            <p:spPr>
              <a:xfrm>
                <a:off x="5559767" y="2052114"/>
                <a:ext cx="6184864" cy="484620"/>
              </a:xfrm>
              <a:prstGeom prst="rect">
                <a:avLst/>
              </a:prstGeom>
              <a:noFill/>
              <a:ln w="28575">
                <a:solidFill>
                  <a:schemeClr val="tx1"/>
                </a:solidFill>
              </a:ln>
            </p:spPr>
            <p:txBody>
              <a:bodyPr wrap="square">
                <a:spAutoFit/>
              </a:bodyPr>
              <a:lstStyle/>
              <a:p>
                <a:pPr algn="ctr"/>
                <a14:m>
                  <m:oMath xmlns:m="http://schemas.openxmlformats.org/officeDocument/2006/math">
                    <m:nary>
                      <m:naryPr>
                        <m:chr m:val="∑"/>
                        <m:supHide m:val="on"/>
                        <m:ctrlPr>
                          <a:rPr lang="en-CA" sz="2000" b="1" i="1" smtClean="0">
                            <a:solidFill>
                              <a:schemeClr val="accent6">
                                <a:lumMod val="75000"/>
                              </a:schemeClr>
                            </a:solidFill>
                            <a:latin typeface="Cambria Math" panose="02040503050406030204" pitchFamily="18" charset="0"/>
                          </a:rPr>
                        </m:ctrlPr>
                      </m:naryPr>
                      <m:sub>
                        <m:r>
                          <m:rPr>
                            <m:brk m:alnAt="7"/>
                          </m:rPr>
                          <a:rPr lang="en-CA" sz="2000" b="1" i="1" smtClean="0">
                            <a:solidFill>
                              <a:schemeClr val="accent6">
                                <a:lumMod val="75000"/>
                              </a:schemeClr>
                            </a:solidFill>
                            <a:latin typeface="Cambria Math" panose="02040503050406030204" pitchFamily="18" charset="0"/>
                          </a:rPr>
                          <m:t>𝒌</m:t>
                        </m:r>
                        <m:r>
                          <a:rPr lang="en-CA" sz="2000" b="1" i="1" smtClean="0">
                            <a:solidFill>
                              <a:schemeClr val="accent6">
                                <a:lumMod val="75000"/>
                              </a:schemeClr>
                            </a:solidFill>
                            <a:latin typeface="Cambria Math" panose="02040503050406030204" pitchFamily="18" charset="0"/>
                            <a:ea typeface="Cambria Math" panose="02040503050406030204" pitchFamily="18" charset="0"/>
                          </a:rPr>
                          <m:t>∈</m:t>
                        </m:r>
                        <m:r>
                          <a:rPr lang="en-CA" sz="2000" b="1" i="1" smtClean="0">
                            <a:solidFill>
                              <a:schemeClr val="accent6">
                                <a:lumMod val="75000"/>
                              </a:schemeClr>
                            </a:solidFill>
                            <a:latin typeface="Cambria Math" panose="02040503050406030204" pitchFamily="18" charset="0"/>
                            <a:ea typeface="Cambria Math" panose="02040503050406030204" pitchFamily="18" charset="0"/>
                          </a:rPr>
                          <m:t>𝑲</m:t>
                        </m:r>
                      </m:sub>
                      <m:sup/>
                      <m:e>
                        <m:sSubSup>
                          <m:sSubSupPr>
                            <m:ctrlPr>
                              <a:rPr lang="en-CA" sz="2000" b="1" i="1" smtClean="0">
                                <a:solidFill>
                                  <a:schemeClr val="accent6">
                                    <a:lumMod val="75000"/>
                                  </a:schemeClr>
                                </a:solidFill>
                                <a:latin typeface="Cambria Math" panose="02040503050406030204" pitchFamily="18" charset="0"/>
                              </a:rPr>
                            </m:ctrlPr>
                          </m:sSubSupPr>
                          <m:e>
                            <m:r>
                              <a:rPr lang="en-CA" sz="2000" b="1" i="1" smtClean="0">
                                <a:solidFill>
                                  <a:schemeClr val="accent6">
                                    <a:lumMod val="75000"/>
                                  </a:schemeClr>
                                </a:solidFill>
                                <a:latin typeface="Cambria Math" panose="02040503050406030204" pitchFamily="18" charset="0"/>
                              </a:rPr>
                              <m:t>𝑽</m:t>
                            </m:r>
                          </m:e>
                          <m:sub>
                            <m:r>
                              <a:rPr lang="en-CA" sz="2000" b="1" i="1" smtClean="0">
                                <a:solidFill>
                                  <a:schemeClr val="accent6">
                                    <a:lumMod val="75000"/>
                                  </a:schemeClr>
                                </a:solidFill>
                                <a:latin typeface="Cambria Math" panose="02040503050406030204" pitchFamily="18" charset="0"/>
                              </a:rPr>
                              <m:t>𝒆𝒙</m:t>
                            </m:r>
                            <m:r>
                              <a:rPr lang="en-CA" sz="2000" b="1" i="1" smtClean="0">
                                <a:solidFill>
                                  <a:schemeClr val="accent6">
                                    <a:lumMod val="75000"/>
                                  </a:schemeClr>
                                </a:solidFill>
                                <a:latin typeface="Cambria Math" panose="02040503050406030204" pitchFamily="18" charset="0"/>
                              </a:rPr>
                              <m:t>(</m:t>
                            </m:r>
                            <m:r>
                              <a:rPr lang="en-CA" sz="2000" b="1" i="1" smtClean="0">
                                <a:solidFill>
                                  <a:schemeClr val="accent6">
                                    <a:lumMod val="75000"/>
                                  </a:schemeClr>
                                </a:solidFill>
                                <a:latin typeface="Cambria Math" panose="02040503050406030204" pitchFamily="18" charset="0"/>
                              </a:rPr>
                              <m:t>𝒊</m:t>
                            </m:r>
                            <m:r>
                              <a:rPr lang="en-CA" sz="2000" b="1" i="1" smtClean="0">
                                <a:solidFill>
                                  <a:schemeClr val="accent6">
                                    <a:lumMod val="75000"/>
                                  </a:schemeClr>
                                </a:solidFill>
                                <a:latin typeface="Cambria Math" panose="02040503050406030204" pitchFamily="18" charset="0"/>
                              </a:rPr>
                              <m:t>)</m:t>
                            </m:r>
                          </m:sub>
                          <m:sup>
                            <m:r>
                              <a:rPr lang="en-CA" sz="2000" b="1" i="1" smtClean="0">
                                <a:solidFill>
                                  <a:schemeClr val="accent6">
                                    <a:lumMod val="75000"/>
                                  </a:schemeClr>
                                </a:solidFill>
                                <a:latin typeface="Cambria Math" panose="02040503050406030204" pitchFamily="18" charset="0"/>
                              </a:rPr>
                              <m:t>𝒌</m:t>
                            </m:r>
                          </m:sup>
                        </m:sSubSup>
                        <m:r>
                          <a:rPr lang="en-CA" sz="2000" b="1" i="1" smtClean="0">
                            <a:solidFill>
                              <a:schemeClr val="accent6">
                                <a:lumMod val="75000"/>
                              </a:schemeClr>
                            </a:solidFill>
                            <a:latin typeface="Cambria Math" panose="02040503050406030204" pitchFamily="18" charset="0"/>
                          </a:rPr>
                          <m:t>= </m:t>
                        </m:r>
                        <m:sSubSup>
                          <m:sSubSupPr>
                            <m:ctrlPr>
                              <a:rPr lang="en-CA"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𝒆</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r>
                          <a:rPr lang="en-CA" sz="2000" b="1" i="1" smtClean="0">
                            <a:solidFill>
                              <a:schemeClr val="accent6">
                                <a:lumMod val="75000"/>
                              </a:schemeClr>
                            </a:solidFill>
                            <a:latin typeface="Cambria Math" panose="02040503050406030204" pitchFamily="18" charset="0"/>
                          </a:rPr>
                          <m:t>−</m:t>
                        </m:r>
                        <m:sSubSup>
                          <m:sSubSupPr>
                            <m:ctrlPr>
                              <a:rPr lang="en-US"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𝒖</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e>
                    </m:nary>
                  </m:oMath>
                </a14:m>
                <a:r>
                  <a:rPr lang="en-US" sz="2000" b="1" dirty="0"/>
                  <a:t> = </a:t>
                </a:r>
                <a14:m>
                  <m:oMath xmlns:m="http://schemas.openxmlformats.org/officeDocument/2006/math">
                    <m:nary>
                      <m:naryPr>
                        <m:chr m:val="∑"/>
                        <m:supHide m:val="on"/>
                        <m:ctrlPr>
                          <a:rPr lang="en-US" sz="2000" b="1" i="1" smtClean="0">
                            <a:solidFill>
                              <a:srgbClr val="0070C0"/>
                            </a:solidFill>
                            <a:latin typeface="Cambria Math" panose="02040503050406030204" pitchFamily="18" charset="0"/>
                          </a:rPr>
                        </m:ctrlPr>
                      </m:naryPr>
                      <m:sub>
                        <m:r>
                          <m:rPr>
                            <m:brk m:alnAt="7"/>
                          </m:rPr>
                          <a:rPr lang="en-US" sz="2000" b="1" i="1">
                            <a:solidFill>
                              <a:srgbClr val="0070C0"/>
                            </a:solidFill>
                            <a:latin typeface="Cambria Math" panose="02040503050406030204" pitchFamily="18" charset="0"/>
                          </a:rPr>
                          <m:t>𝒋</m:t>
                        </m:r>
                      </m:sub>
                      <m:sup/>
                      <m:e>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𝒒</m:t>
                            </m:r>
                          </m:e>
                          <m: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𝒔</m:t>
                                </m:r>
                              </m:e>
                              <m:sub>
                                <m:r>
                                  <a:rPr lang="en-US" sz="2000" b="1" i="1">
                                    <a:solidFill>
                                      <a:srgbClr val="0070C0"/>
                                    </a:solidFill>
                                    <a:latin typeface="Cambria Math" panose="02040503050406030204" pitchFamily="18" charset="0"/>
                                  </a:rPr>
                                  <m:t>𝒊</m:t>
                                </m:r>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rPr>
                                  <m:t>𝒋</m:t>
                                </m:r>
                              </m:sub>
                            </m:sSub>
                          </m:sub>
                        </m:s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𝒙</m:t>
                            </m:r>
                          </m:e>
                          <m:sub>
                            <m:r>
                              <a:rPr lang="en-US" sz="2000" b="1" i="1">
                                <a:solidFill>
                                  <a:srgbClr val="0070C0"/>
                                </a:solidFill>
                                <a:latin typeface="Cambria Math" panose="02040503050406030204" pitchFamily="18" charset="0"/>
                              </a:rPr>
                              <m:t>𝒋</m:t>
                            </m:r>
                          </m:sub>
                        </m:sSub>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ea typeface="Cambria Math" panose="02040503050406030204" pitchFamily="18" charset="0"/>
                          </a:rPr>
                          <m:t>𝝁</m:t>
                        </m:r>
                        <m:d>
                          <m:dPr>
                            <m:begChr m:val="["/>
                            <m:endChr m:val="]"/>
                            <m:ctrlPr>
                              <a:rPr lang="en-US" sz="2000" b="1" i="1">
                                <a:solidFill>
                                  <a:srgbClr val="0070C0"/>
                                </a:solidFill>
                                <a:latin typeface="Cambria Math" panose="02040503050406030204" pitchFamily="18" charset="0"/>
                                <a:ea typeface="Cambria Math" panose="02040503050406030204" pitchFamily="18" charset="0"/>
                              </a:rPr>
                            </m:ctrlPr>
                          </m:dPr>
                          <m:e>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𝑯𝑫𝑪</m:t>
                                </m:r>
                                <m:r>
                                  <a:rPr lang="en-US" sz="2000" b="1" i="1">
                                    <a:solidFill>
                                      <a:srgbClr val="0070C0"/>
                                    </a:solidFill>
                                    <a:latin typeface="Cambria Math" panose="02040503050406030204" pitchFamily="18" charset="0"/>
                                    <a:ea typeface="Cambria Math" panose="02040503050406030204" pitchFamily="18" charset="0"/>
                                  </a:rPr>
                                  <m:t>𝟏</m:t>
                                </m:r>
                              </m:sub>
                              <m:sup>
                                <m:r>
                                  <a:rPr lang="en-US" sz="2000" b="1" i="1">
                                    <a:solidFill>
                                      <a:srgbClr val="0070C0"/>
                                    </a:solidFill>
                                    <a:latin typeface="Cambria Math" panose="02040503050406030204" pitchFamily="18" charset="0"/>
                                    <a:ea typeface="Cambria Math" panose="02040503050406030204" pitchFamily="18" charset="0"/>
                                  </a:rPr>
                                  <m:t>𝒊</m:t>
                                </m:r>
                              </m:sup>
                            </m:sSubSup>
                            <m:r>
                              <a:rPr lang="en-US" sz="2000" b="1" i="1">
                                <a:solidFill>
                                  <a:srgbClr val="0070C0"/>
                                </a:solidFill>
                                <a:latin typeface="Cambria Math" panose="02040503050406030204" pitchFamily="18" charset="0"/>
                                <a:ea typeface="Cambria Math" panose="02040503050406030204" pitchFamily="18" charset="0"/>
                              </a:rPr>
                              <m:t>−</m:t>
                            </m:r>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𝑮𝑭</m:t>
                                </m:r>
                              </m:sub>
                              <m:sup>
                                <m:r>
                                  <a:rPr lang="en-US" sz="2000" b="1" i="1">
                                    <a:solidFill>
                                      <a:srgbClr val="0070C0"/>
                                    </a:solidFill>
                                    <a:latin typeface="Cambria Math" panose="02040503050406030204" pitchFamily="18" charset="0"/>
                                    <a:ea typeface="Cambria Math" panose="02040503050406030204" pitchFamily="18" charset="0"/>
                                  </a:rPr>
                                  <m:t>𝒊</m:t>
                                </m:r>
                              </m:sup>
                            </m:sSubSup>
                          </m:e>
                        </m:d>
                      </m:e>
                    </m:nary>
                  </m:oMath>
                </a14:m>
                <a:r>
                  <a:rPr lang="en-US" sz="2000" b="1" dirty="0"/>
                  <a:t> </a:t>
                </a:r>
              </a:p>
            </p:txBody>
          </p:sp>
        </mc:Choice>
        <mc:Fallback xmlns="">
          <p:sp>
            <p:nvSpPr>
              <p:cNvPr id="8" name="TextBox 7">
                <a:extLst>
                  <a:ext uri="{FF2B5EF4-FFF2-40B4-BE49-F238E27FC236}">
                    <a16:creationId xmlns:a16="http://schemas.microsoft.com/office/drawing/2014/main" id="{DD130A2C-3461-A3CE-DF59-58A297F5DF9B}"/>
                  </a:ext>
                </a:extLst>
              </p:cNvPr>
              <p:cNvSpPr txBox="1">
                <a:spLocks noRot="1" noChangeAspect="1" noMove="1" noResize="1" noEditPoints="1" noAdjustHandles="1" noChangeArrowheads="1" noChangeShapeType="1" noTextEdit="1"/>
              </p:cNvSpPr>
              <p:nvPr/>
            </p:nvSpPr>
            <p:spPr>
              <a:xfrm>
                <a:off x="5559767" y="2052114"/>
                <a:ext cx="6184864" cy="484620"/>
              </a:xfrm>
              <a:prstGeom prst="rect">
                <a:avLst/>
              </a:prstGeom>
              <a:blipFill>
                <a:blip r:embed="rId2"/>
                <a:stretch>
                  <a:fillRect l="-2240" t="-80952" b="-121429"/>
                </a:stretch>
              </a:blipFill>
              <a:ln w="28575">
                <a:solidFill>
                  <a:schemeClr val="tx1"/>
                </a:solidFill>
              </a:ln>
            </p:spPr>
            <p:txBody>
              <a:bodyPr/>
              <a:lstStyle/>
              <a:p>
                <a:r>
                  <a:rPr lang="en-US">
                    <a:noFill/>
                  </a:rPr>
                  <a:t> </a:t>
                </a:r>
              </a:p>
            </p:txBody>
          </p:sp>
        </mc:Fallback>
      </mc:AlternateContent>
      <p:sp>
        <p:nvSpPr>
          <p:cNvPr id="4" name="TextBox 3">
            <a:extLst>
              <a:ext uri="{FF2B5EF4-FFF2-40B4-BE49-F238E27FC236}">
                <a16:creationId xmlns:a16="http://schemas.microsoft.com/office/drawing/2014/main" id="{D35C2060-8690-DA05-FAA0-AFBDD4AA6DF6}"/>
              </a:ext>
            </a:extLst>
          </p:cNvPr>
          <p:cNvSpPr txBox="1"/>
          <p:nvPr/>
        </p:nvSpPr>
        <p:spPr>
          <a:xfrm>
            <a:off x="6379389" y="3531762"/>
            <a:ext cx="2931828" cy="400110"/>
          </a:xfrm>
          <a:prstGeom prst="rect">
            <a:avLst/>
          </a:prstGeom>
          <a:noFill/>
        </p:spPr>
        <p:txBody>
          <a:bodyPr wrap="none" rtlCol="0">
            <a:spAutoFit/>
          </a:bodyPr>
          <a:lstStyle/>
          <a:p>
            <a:r>
              <a:rPr lang="en-CA" sz="2000" dirty="0" err="1"/>
              <a:t>μ</a:t>
            </a:r>
            <a:r>
              <a:rPr lang="en-CA" sz="2000" dirty="0"/>
              <a:t> = rate of peristalsis (1/h)</a:t>
            </a:r>
            <a:endParaRPr lang="en-US" sz="2000" dirty="0"/>
          </a:p>
        </p:txBody>
      </p:sp>
      <p:grpSp>
        <p:nvGrpSpPr>
          <p:cNvPr id="7" name="Group 6">
            <a:extLst>
              <a:ext uri="{FF2B5EF4-FFF2-40B4-BE49-F238E27FC236}">
                <a16:creationId xmlns:a16="http://schemas.microsoft.com/office/drawing/2014/main" id="{597B396D-DD23-2B01-7F84-EA7366D8C846}"/>
              </a:ext>
            </a:extLst>
          </p:cNvPr>
          <p:cNvGrpSpPr/>
          <p:nvPr/>
        </p:nvGrpSpPr>
        <p:grpSpPr>
          <a:xfrm>
            <a:off x="34937" y="1352171"/>
            <a:ext cx="5689970" cy="5428023"/>
            <a:chOff x="321072" y="972840"/>
            <a:chExt cx="5689970" cy="5428023"/>
          </a:xfrm>
        </p:grpSpPr>
        <p:grpSp>
          <p:nvGrpSpPr>
            <p:cNvPr id="9" name="Group 8">
              <a:extLst>
                <a:ext uri="{FF2B5EF4-FFF2-40B4-BE49-F238E27FC236}">
                  <a16:creationId xmlns:a16="http://schemas.microsoft.com/office/drawing/2014/main" id="{BDD3D67F-4AF4-5DD2-EEA2-55748249C754}"/>
                </a:ext>
              </a:extLst>
            </p:cNvPr>
            <p:cNvGrpSpPr/>
            <p:nvPr/>
          </p:nvGrpSpPr>
          <p:grpSpPr>
            <a:xfrm>
              <a:off x="321072" y="972840"/>
              <a:ext cx="5689970" cy="5428023"/>
              <a:chOff x="257490" y="466979"/>
              <a:chExt cx="5689970" cy="5428023"/>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983B65B-FF9C-EE77-244C-A2D38DFD289E}"/>
                      </a:ext>
                    </a:extLst>
                  </p:cNvPr>
                  <p:cNvSpPr txBox="1"/>
                  <p:nvPr/>
                </p:nvSpPr>
                <p:spPr>
                  <a:xfrm>
                    <a:off x="2062312" y="1746719"/>
                    <a:ext cx="1259767" cy="6592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1400" i="1" smtClean="0">
                                  <a:latin typeface="Cambria Math" panose="02040503050406030204" pitchFamily="18" charset="0"/>
                                </a:rPr>
                              </m:ctrlPr>
                            </m:naryPr>
                            <m:sub>
                              <m:r>
                                <m:rPr>
                                  <m:brk m:alnAt="7"/>
                                </m:rPr>
                                <a:rPr lang="en-CA" sz="1400" b="0" i="1" smtClean="0">
                                  <a:latin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𝜖</m:t>
                              </m:r>
                              <m:sSup>
                                <m:sSupPr>
                                  <m:ctrlPr>
                                    <a:rPr lang="en-CA" sz="1400" i="1" smtClean="0">
                                      <a:latin typeface="Cambria Math" panose="02040503050406030204" pitchFamily="18" charset="0"/>
                                      <a:ea typeface="Cambria Math" panose="02040503050406030204" pitchFamily="18" charset="0"/>
                                    </a:rPr>
                                  </m:ctrlPr>
                                </m:sSupPr>
                                <m:e>
                                  <m:r>
                                    <m:rPr>
                                      <m:sty m:val="p"/>
                                    </m:rPr>
                                    <a:rPr lang="en-CA" sz="1400" b="0" i="0" smtClean="0">
                                      <a:latin typeface="Cambria Math" panose="02040503050406030204" pitchFamily="18" charset="0"/>
                                      <a:ea typeface="Cambria Math" panose="02040503050406030204" pitchFamily="18" charset="0"/>
                                    </a:rPr>
                                    <m:t>J</m:t>
                                  </m:r>
                                </m:e>
                                <m:sup>
                                  <m:r>
                                    <m:rPr>
                                      <m:sty m:val="p"/>
                                    </m:rPr>
                                    <a:rPr lang="en-CA" sz="1400" b="0" i="0" smtClean="0">
                                      <a:latin typeface="Cambria Math" panose="02040503050406030204" pitchFamily="18" charset="0"/>
                                      <a:ea typeface="Cambria Math" panose="02040503050406030204" pitchFamily="18" charset="0"/>
                                    </a:rPr>
                                    <m:t>k</m:t>
                                  </m:r>
                                </m:sup>
                              </m:sSup>
                            </m:sub>
                            <m:sup/>
                            <m:e>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𝑆</m:t>
                                  </m:r>
                                </m:e>
                                <m:sub>
                                  <m:r>
                                    <a:rPr lang="en-CA" sz="1400" b="0" i="1" smtClean="0">
                                      <a:latin typeface="Cambria Math" panose="02040503050406030204" pitchFamily="18" charset="0"/>
                                    </a:rPr>
                                    <m:t>𝑖𝑗</m:t>
                                  </m:r>
                                </m:sub>
                                <m:sup>
                                  <m:r>
                                    <a:rPr lang="en-CA" sz="1400" b="0" i="1" smtClean="0">
                                      <a:latin typeface="Cambria Math" panose="02040503050406030204" pitchFamily="18" charset="0"/>
                                    </a:rPr>
                                    <m:t>𝑘</m:t>
                                  </m:r>
                                </m:sup>
                              </m:sSubSup>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𝑗</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=0</m:t>
                              </m:r>
                            </m:e>
                          </m:nary>
                        </m:oMath>
                      </m:oMathPara>
                    </a14:m>
                    <a:endParaRPr lang="en-US" sz="1400" dirty="0"/>
                  </a:p>
                </p:txBody>
              </p:sp>
            </mc:Choice>
            <mc:Fallback xmlns="">
              <p:sp>
                <p:nvSpPr>
                  <p:cNvPr id="4" name="TextBox 3">
                    <a:extLst>
                      <a:ext uri="{FF2B5EF4-FFF2-40B4-BE49-F238E27FC236}">
                        <a16:creationId xmlns:a16="http://schemas.microsoft.com/office/drawing/2014/main" id="{D81935BA-F004-4C0F-C563-4B1413797EDE}"/>
                      </a:ext>
                    </a:extLst>
                  </p:cNvPr>
                  <p:cNvSpPr txBox="1">
                    <a:spLocks noRot="1" noChangeAspect="1" noMove="1" noResize="1" noEditPoints="1" noAdjustHandles="1" noChangeArrowheads="1" noChangeShapeType="1" noTextEdit="1"/>
                  </p:cNvSpPr>
                  <p:nvPr/>
                </p:nvSpPr>
                <p:spPr>
                  <a:xfrm>
                    <a:off x="2062312" y="1746719"/>
                    <a:ext cx="1259767" cy="659283"/>
                  </a:xfrm>
                  <a:prstGeom prst="rect">
                    <a:avLst/>
                  </a:prstGeom>
                  <a:blipFill>
                    <a:blip r:embed="rId3"/>
                    <a:stretch>
                      <a:fillRect l="-44000" t="-109434" b="-1509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3BFE405-60E4-99B0-C8C3-00E887E8CD3A}"/>
                      </a:ext>
                    </a:extLst>
                  </p:cNvPr>
                  <p:cNvSpPr txBox="1"/>
                  <p:nvPr/>
                </p:nvSpPr>
                <p:spPr>
                  <a:xfrm>
                    <a:off x="4179169" y="1841489"/>
                    <a:ext cx="773610" cy="3115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𝑘</m:t>
                              </m:r>
                            </m:sup>
                          </m:sSup>
                        </m:oMath>
                      </m:oMathPara>
                    </a14:m>
                    <a:endParaRPr lang="en-US" sz="1400" dirty="0"/>
                  </a:p>
                </p:txBody>
              </p:sp>
            </mc:Choice>
            <mc:Fallback xmlns="">
              <p:sp>
                <p:nvSpPr>
                  <p:cNvPr id="5" name="TextBox 4">
                    <a:extLst>
                      <a:ext uri="{FF2B5EF4-FFF2-40B4-BE49-F238E27FC236}">
                        <a16:creationId xmlns:a16="http://schemas.microsoft.com/office/drawing/2014/main" id="{A7D62AD9-5B0A-61C2-9105-08BD2E202775}"/>
                      </a:ext>
                    </a:extLst>
                  </p:cNvPr>
                  <p:cNvSpPr txBox="1">
                    <a:spLocks noRot="1" noChangeAspect="1" noMove="1" noResize="1" noEditPoints="1" noAdjustHandles="1" noChangeArrowheads="1" noChangeShapeType="1" noTextEdit="1"/>
                  </p:cNvSpPr>
                  <p:nvPr/>
                </p:nvSpPr>
                <p:spPr>
                  <a:xfrm>
                    <a:off x="4179169" y="1841489"/>
                    <a:ext cx="773610" cy="31156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099DCAF-CBB7-3E07-1DB1-7F827EFF3F79}"/>
                      </a:ext>
                    </a:extLst>
                  </p:cNvPr>
                  <p:cNvSpPr txBox="1"/>
                  <p:nvPr/>
                </p:nvSpPr>
                <p:spPr>
                  <a:xfrm>
                    <a:off x="1800722" y="2570010"/>
                    <a:ext cx="1982594" cy="349391"/>
                  </a:xfrm>
                  <a:prstGeom prst="rect">
                    <a:avLst/>
                  </a:prstGeom>
                  <a:noFill/>
                </p:spPr>
                <p:txBody>
                  <a:bodyPr wrap="none" rtlCol="0">
                    <a:spAutoFit/>
                  </a:bodyPr>
                  <a:lstStyle/>
                  <a:p>
                    <a14:m>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𝐿𝐵</m:t>
                            </m:r>
                          </m:e>
                          <m:sub>
                            <m:r>
                              <a:rPr lang="en-CA" sz="1400" b="0" i="1" smtClean="0">
                                <a:latin typeface="Cambria Math" panose="02040503050406030204" pitchFamily="18" charset="0"/>
                              </a:rPr>
                              <m:t>𝑗</m:t>
                            </m:r>
                          </m:sub>
                          <m:sup>
                            <m:r>
                              <a:rPr lang="en-CA" sz="1400" b="0" i="1" smtClean="0">
                                <a:latin typeface="Cambria Math" panose="02040503050406030204" pitchFamily="18" charset="0"/>
                              </a:rPr>
                              <m:t>𝑘</m:t>
                            </m:r>
                          </m:sup>
                        </m:sSubSup>
                        <m:sSup>
                          <m:sSupPr>
                            <m:ctrlPr>
                              <a:rPr lang="en-US" sz="140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US" sz="1400" i="1" smtClean="0">
                            <a:latin typeface="Cambria Math" panose="02040503050406030204" pitchFamily="18" charset="0"/>
                            <a:ea typeface="Cambria Math" panose="02040503050406030204" pitchFamily="18" charset="0"/>
                          </a:rPr>
                          <m:t>≤</m:t>
                        </m:r>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𝑉</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r>
                          <a:rPr lang="en-US" sz="1400" i="1" smtClean="0">
                            <a:latin typeface="Cambria Math" panose="02040503050406030204" pitchFamily="18" charset="0"/>
                            <a:ea typeface="Cambria Math" panose="02040503050406030204" pitchFamily="18" charset="0"/>
                          </a:rPr>
                          <m:t>≤</m:t>
                        </m:r>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𝑈𝐵</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sSup>
                          <m:sSupPr>
                            <m:ctrlPr>
                              <a:rPr lang="en-US" sz="140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𝑋</m:t>
                            </m:r>
                          </m:e>
                          <m:sup>
                            <m:r>
                              <a:rPr lang="en-CA" sz="1400" b="0" i="1" smtClean="0">
                                <a:latin typeface="Cambria Math" panose="02040503050406030204" pitchFamily="18" charset="0"/>
                                <a:ea typeface="Cambria Math" panose="02040503050406030204" pitchFamily="18" charset="0"/>
                              </a:rPr>
                              <m:t>𝑘</m:t>
                            </m:r>
                          </m:sup>
                        </m:sSup>
                      </m:oMath>
                    </a14:m>
                    <a:r>
                      <a:rPr lang="en-US" sz="1400" dirty="0"/>
                      <a:t>,</a:t>
                    </a:r>
                  </a:p>
                </p:txBody>
              </p:sp>
            </mc:Choice>
            <mc:Fallback xmlns="">
              <p:sp>
                <p:nvSpPr>
                  <p:cNvPr id="3" name="TextBox 2">
                    <a:extLst>
                      <a:ext uri="{FF2B5EF4-FFF2-40B4-BE49-F238E27FC236}">
                        <a16:creationId xmlns:a16="http://schemas.microsoft.com/office/drawing/2014/main" id="{EF45E541-CF29-8515-4AC5-1DEAA563AD59}"/>
                      </a:ext>
                    </a:extLst>
                  </p:cNvPr>
                  <p:cNvSpPr txBox="1">
                    <a:spLocks noRot="1" noChangeAspect="1" noMove="1" noResize="1" noEditPoints="1" noAdjustHandles="1" noChangeArrowheads="1" noChangeShapeType="1" noTextEdit="1"/>
                  </p:cNvSpPr>
                  <p:nvPr/>
                </p:nvSpPr>
                <p:spPr>
                  <a:xfrm>
                    <a:off x="1800722" y="2570010"/>
                    <a:ext cx="1982594" cy="349391"/>
                  </a:xfrm>
                  <a:prstGeom prst="rect">
                    <a:avLst/>
                  </a:prstGeom>
                  <a:blipFill>
                    <a:blip r:embed="rId5"/>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6AE05C6-27F0-CE61-3476-8D08BC34D7F0}"/>
                      </a:ext>
                    </a:extLst>
                  </p:cNvPr>
                  <p:cNvSpPr txBox="1"/>
                  <p:nvPr/>
                </p:nvSpPr>
                <p:spPr>
                  <a:xfrm>
                    <a:off x="4174361" y="2544233"/>
                    <a:ext cx="778418" cy="3115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𝐽</m:t>
                              </m:r>
                            </m:e>
                            <m:sup>
                              <m:r>
                                <a:rPr lang="en-CA" sz="1400" b="0" i="1" smtClean="0">
                                  <a:latin typeface="Cambria Math" panose="02040503050406030204" pitchFamily="18" charset="0"/>
                                  <a:ea typeface="Cambria Math" panose="02040503050406030204" pitchFamily="18" charset="0"/>
                                </a:rPr>
                                <m:t>𝑘</m:t>
                              </m:r>
                            </m:sup>
                          </m:sSup>
                        </m:oMath>
                      </m:oMathPara>
                    </a14:m>
                    <a:endParaRPr lang="en-US" sz="1400" dirty="0"/>
                  </a:p>
                </p:txBody>
              </p:sp>
            </mc:Choice>
            <mc:Fallback xmlns="">
              <p:sp>
                <p:nvSpPr>
                  <p:cNvPr id="6" name="TextBox 5">
                    <a:extLst>
                      <a:ext uri="{FF2B5EF4-FFF2-40B4-BE49-F238E27FC236}">
                        <a16:creationId xmlns:a16="http://schemas.microsoft.com/office/drawing/2014/main" id="{CF9B08F7-CFB1-9D82-11F3-DD87259BDF8A}"/>
                      </a:ext>
                    </a:extLst>
                  </p:cNvPr>
                  <p:cNvSpPr txBox="1">
                    <a:spLocks noRot="1" noChangeAspect="1" noMove="1" noResize="1" noEditPoints="1" noAdjustHandles="1" noChangeArrowheads="1" noChangeShapeType="1" noTextEdit="1"/>
                  </p:cNvSpPr>
                  <p:nvPr/>
                </p:nvSpPr>
                <p:spPr>
                  <a:xfrm>
                    <a:off x="4174361" y="2544233"/>
                    <a:ext cx="778418" cy="311560"/>
                  </a:xfrm>
                  <a:prstGeom prst="rect">
                    <a:avLst/>
                  </a:prstGeom>
                  <a:blipFill>
                    <a:blip r:embed="rId6"/>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0E7499D-04FD-1E3A-1DE6-D57C59B67E2D}"/>
                      </a:ext>
                    </a:extLst>
                  </p:cNvPr>
                  <p:cNvSpPr txBox="1"/>
                  <p:nvPr/>
                </p:nvSpPr>
                <p:spPr>
                  <a:xfrm>
                    <a:off x="1928741" y="3098019"/>
                    <a:ext cx="1407885" cy="3250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𝑏𝑖𝑜𝑚𝑎𝑠𝑠</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m:t>
                          </m:r>
                          <m:sSup>
                            <m:sSupPr>
                              <m:ctrlPr>
                                <a:rPr lang="en-CA" sz="1400" b="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CA" sz="1400" b="0" i="1" smtClean="0">
                              <a:latin typeface="Cambria Math" panose="02040503050406030204" pitchFamily="18" charset="0"/>
                              <a:ea typeface="Cambria Math" panose="02040503050406030204" pitchFamily="18" charset="0"/>
                            </a:rPr>
                            <m:t>𝜇</m:t>
                          </m:r>
                        </m:oMath>
                      </m:oMathPara>
                    </a14:m>
                    <a:endParaRPr lang="en-US" sz="1400" dirty="0"/>
                  </a:p>
                </p:txBody>
              </p:sp>
            </mc:Choice>
            <mc:Fallback xmlns="">
              <p:sp>
                <p:nvSpPr>
                  <p:cNvPr id="7" name="TextBox 6">
                    <a:extLst>
                      <a:ext uri="{FF2B5EF4-FFF2-40B4-BE49-F238E27FC236}">
                        <a16:creationId xmlns:a16="http://schemas.microsoft.com/office/drawing/2014/main" id="{48C7C5EA-078E-A729-EA3E-F97A633542E8}"/>
                      </a:ext>
                    </a:extLst>
                  </p:cNvPr>
                  <p:cNvSpPr txBox="1">
                    <a:spLocks noRot="1" noChangeAspect="1" noMove="1" noResize="1" noEditPoints="1" noAdjustHandles="1" noChangeArrowheads="1" noChangeShapeType="1" noTextEdit="1"/>
                  </p:cNvSpPr>
                  <p:nvPr/>
                </p:nvSpPr>
                <p:spPr>
                  <a:xfrm>
                    <a:off x="1928741" y="3098019"/>
                    <a:ext cx="1407885" cy="32502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AEB131E-0C39-ABA6-4ABB-E741B52D8413}"/>
                      </a:ext>
                    </a:extLst>
                  </p:cNvPr>
                  <p:cNvSpPr txBox="1"/>
                  <p:nvPr/>
                </p:nvSpPr>
                <p:spPr>
                  <a:xfrm>
                    <a:off x="2116897" y="3601662"/>
                    <a:ext cx="1031571" cy="3115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40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0</m:t>
                          </m:r>
                        </m:oMath>
                      </m:oMathPara>
                    </a14:m>
                    <a:endParaRPr lang="en-US" sz="1400" dirty="0"/>
                  </a:p>
                </p:txBody>
              </p:sp>
            </mc:Choice>
            <mc:Fallback xmlns="">
              <p:sp>
                <p:nvSpPr>
                  <p:cNvPr id="8" name="TextBox 7">
                    <a:extLst>
                      <a:ext uri="{FF2B5EF4-FFF2-40B4-BE49-F238E27FC236}">
                        <a16:creationId xmlns:a16="http://schemas.microsoft.com/office/drawing/2014/main" id="{DFD53736-C1F2-CA87-2D6B-04B5B8C4F5D6}"/>
                      </a:ext>
                    </a:extLst>
                  </p:cNvPr>
                  <p:cNvSpPr txBox="1">
                    <a:spLocks noRot="1" noChangeAspect="1" noMove="1" noResize="1" noEditPoints="1" noAdjustHandles="1" noChangeArrowheads="1" noChangeShapeType="1" noTextEdit="1"/>
                  </p:cNvSpPr>
                  <p:nvPr/>
                </p:nvSpPr>
                <p:spPr>
                  <a:xfrm>
                    <a:off x="2116897" y="3601662"/>
                    <a:ext cx="1031571" cy="31156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9F88712-8D12-159E-F3EA-A43721444143}"/>
                      </a:ext>
                    </a:extLst>
                  </p:cNvPr>
                  <p:cNvSpPr txBox="1"/>
                  <p:nvPr/>
                </p:nvSpPr>
                <p:spPr>
                  <a:xfrm>
                    <a:off x="5163399" y="2381244"/>
                    <a:ext cx="78406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oMath>
                      </m:oMathPara>
                    </a14:m>
                    <a:endParaRPr lang="en-US" sz="1400" dirty="0"/>
                  </a:p>
                </p:txBody>
              </p:sp>
            </mc:Choice>
            <mc:Fallback xmlns="">
              <p:sp>
                <p:nvSpPr>
                  <p:cNvPr id="9" name="TextBox 8">
                    <a:extLst>
                      <a:ext uri="{FF2B5EF4-FFF2-40B4-BE49-F238E27FC236}">
                        <a16:creationId xmlns:a16="http://schemas.microsoft.com/office/drawing/2014/main" id="{1AB149D9-5EFA-775D-943D-E91493264173}"/>
                      </a:ext>
                    </a:extLst>
                  </p:cNvPr>
                  <p:cNvSpPr txBox="1">
                    <a:spLocks noRot="1" noChangeAspect="1" noMove="1" noResize="1" noEditPoints="1" noAdjustHandles="1" noChangeArrowheads="1" noChangeShapeType="1" noTextEdit="1"/>
                  </p:cNvSpPr>
                  <p:nvPr/>
                </p:nvSpPr>
                <p:spPr>
                  <a:xfrm>
                    <a:off x="5163399" y="2381244"/>
                    <a:ext cx="784061" cy="30777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842291D-C42F-F167-F67D-93AA20517668}"/>
                      </a:ext>
                    </a:extLst>
                  </p:cNvPr>
                  <p:cNvSpPr txBox="1"/>
                  <p:nvPr/>
                </p:nvSpPr>
                <p:spPr>
                  <a:xfrm>
                    <a:off x="1832597" y="4146204"/>
                    <a:ext cx="2084930" cy="6151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𝑢</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CA" sz="1400" b="0" i="1" smtClean="0">
                              <a:latin typeface="Cambria Math" panose="02040503050406030204" pitchFamily="18" charset="0"/>
                            </a:rPr>
                            <m:t>−</m:t>
                          </m:r>
                          <m:sSubSup>
                            <m:sSubSupPr>
                              <m:ctrlPr>
                                <a:rPr lang="en-CA" sz="1400" b="0" i="1" smtClean="0">
                                  <a:latin typeface="Cambria Math" panose="02040503050406030204" pitchFamily="18" charset="0"/>
                                </a:rPr>
                              </m:ctrlPr>
                            </m:sSubSupPr>
                            <m:e>
                              <m:r>
                                <a:rPr lang="en-CA" sz="1400" b="0" i="1" smtClean="0">
                                  <a:latin typeface="Cambria Math" panose="02040503050406030204" pitchFamily="18" charset="0"/>
                                </a:rPr>
                                <m:t>𝑒</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CA" sz="1400" b="0" i="1" smtClean="0">
                              <a:latin typeface="Cambria Math" panose="02040503050406030204" pitchFamily="18" charset="0"/>
                            </a:rPr>
                            <m:t>+</m:t>
                          </m:r>
                          <m:nary>
                            <m:naryPr>
                              <m:chr m:val="∑"/>
                              <m:supHide m:val="on"/>
                              <m:ctrlPr>
                                <a:rPr lang="en-CA" sz="1400" b="0" i="1" smtClean="0">
                                  <a:latin typeface="Cambria Math" panose="02040503050406030204" pitchFamily="18" charset="0"/>
                                </a:rPr>
                              </m:ctrlPr>
                            </m:naryPr>
                            <m:sub>
                              <m:r>
                                <m:rPr>
                                  <m:brk m:alnAt="7"/>
                                </m:rPr>
                                <a:rPr lang="en-CA" sz="1400" b="0" i="1" smtClean="0">
                                  <a:latin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sub>
                            <m:sup/>
                            <m:e>
                              <m:sSubSup>
                                <m:sSubSupPr>
                                  <m:ctrlPr>
                                    <a:rPr lang="en-CA" sz="1400" b="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𝑒𝑥</m:t>
                                  </m:r>
                                  <m:r>
                                    <a:rPr lang="en-CA" sz="1400" b="0" i="1" smtClean="0">
                                      <a:latin typeface="Cambria Math" panose="02040503050406030204" pitchFamily="18" charset="0"/>
                                    </a:rPr>
                                    <m:t>(</m:t>
                                  </m:r>
                                  <m:r>
                                    <a:rPr lang="en-CA" sz="1400" b="0" i="1" smtClean="0">
                                      <a:latin typeface="Cambria Math" panose="02040503050406030204" pitchFamily="18" charset="0"/>
                                    </a:rPr>
                                    <m:t>𝑖</m:t>
                                  </m:r>
                                  <m:r>
                                    <a:rPr lang="en-CA" sz="1400" b="0" i="1" smtClean="0">
                                      <a:latin typeface="Cambria Math" panose="02040503050406030204" pitchFamily="18" charset="0"/>
                                    </a:rPr>
                                    <m:t>)</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=0,</m:t>
                              </m:r>
                            </m:e>
                          </m:nary>
                        </m:oMath>
                      </m:oMathPara>
                    </a14:m>
                    <a:endParaRPr lang="en-US" sz="1400" dirty="0"/>
                  </a:p>
                </p:txBody>
              </p:sp>
            </mc:Choice>
            <mc:Fallback xmlns="">
              <p:sp>
                <p:nvSpPr>
                  <p:cNvPr id="10" name="TextBox 9">
                    <a:extLst>
                      <a:ext uri="{FF2B5EF4-FFF2-40B4-BE49-F238E27FC236}">
                        <a16:creationId xmlns:a16="http://schemas.microsoft.com/office/drawing/2014/main" id="{D782835D-EEF7-9EC5-9A74-D452DA6DF8C8}"/>
                      </a:ext>
                    </a:extLst>
                  </p:cNvPr>
                  <p:cNvSpPr txBox="1">
                    <a:spLocks noRot="1" noChangeAspect="1" noMove="1" noResize="1" noEditPoints="1" noAdjustHandles="1" noChangeArrowheads="1" noChangeShapeType="1" noTextEdit="1"/>
                  </p:cNvSpPr>
                  <p:nvPr/>
                </p:nvSpPr>
                <p:spPr>
                  <a:xfrm>
                    <a:off x="1832597" y="4146204"/>
                    <a:ext cx="2084930" cy="615168"/>
                  </a:xfrm>
                  <a:prstGeom prst="rect">
                    <a:avLst/>
                  </a:prstGeom>
                  <a:blipFill>
                    <a:blip r:embed="rId10"/>
                    <a:stretch>
                      <a:fillRect t="-118367" b="-17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764D59A-5273-53F0-C12A-B23B9CA6C23B}"/>
                      </a:ext>
                    </a:extLst>
                  </p:cNvPr>
                  <p:cNvSpPr txBox="1"/>
                  <p:nvPr/>
                </p:nvSpPr>
                <p:spPr>
                  <a:xfrm>
                    <a:off x="4240912" y="4226900"/>
                    <a:ext cx="95795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𝑐𝑜𝑚</m:t>
                              </m:r>
                            </m:sup>
                          </m:sSup>
                        </m:oMath>
                      </m:oMathPara>
                    </a14:m>
                    <a:endParaRPr lang="en-US" sz="1400" dirty="0"/>
                  </a:p>
                </p:txBody>
              </p:sp>
            </mc:Choice>
            <mc:Fallback xmlns="">
              <p:sp>
                <p:nvSpPr>
                  <p:cNvPr id="11" name="TextBox 10">
                    <a:extLst>
                      <a:ext uri="{FF2B5EF4-FFF2-40B4-BE49-F238E27FC236}">
                        <a16:creationId xmlns:a16="http://schemas.microsoft.com/office/drawing/2014/main" id="{346CA0AC-D45E-7F50-7B81-90EB96BF2849}"/>
                      </a:ext>
                    </a:extLst>
                  </p:cNvPr>
                  <p:cNvSpPr txBox="1">
                    <a:spLocks noRot="1" noChangeAspect="1" noMove="1" noResize="1" noEditPoints="1" noAdjustHandles="1" noChangeArrowheads="1" noChangeShapeType="1" noTextEdit="1"/>
                  </p:cNvSpPr>
                  <p:nvPr/>
                </p:nvSpPr>
                <p:spPr>
                  <a:xfrm>
                    <a:off x="4240912" y="4226900"/>
                    <a:ext cx="957955" cy="30777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B0B5B1C-64F0-9E34-4755-42D3678A480E}"/>
                      </a:ext>
                    </a:extLst>
                  </p:cNvPr>
                  <p:cNvSpPr txBox="1"/>
                  <p:nvPr/>
                </p:nvSpPr>
                <p:spPr>
                  <a:xfrm>
                    <a:off x="1877156" y="4832441"/>
                    <a:ext cx="1155957" cy="6151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CA" sz="1400" b="0" i="1" smtClean="0">
                                  <a:latin typeface="Cambria Math" panose="02040503050406030204" pitchFamily="18" charset="0"/>
                                </a:rPr>
                              </m:ctrlPr>
                            </m:naryPr>
                            <m:sub>
                              <m:r>
                                <m:rPr>
                                  <m:brk m:alnAt="7"/>
                                </m:rPr>
                                <a:rPr lang="en-CA" sz="1400" b="0" i="1" smtClean="0">
                                  <a:latin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sub>
                            <m:sup/>
                            <m:e>
                              <m:sSup>
                                <m:sSupPr>
                                  <m:ctrlPr>
                                    <a:rPr lang="en-CA" sz="1400" b="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CA" sz="1400" b="0" i="1" smtClean="0">
                                  <a:latin typeface="Cambria Math" panose="02040503050406030204" pitchFamily="18" charset="0"/>
                                </a:rPr>
                                <m:t>=</m:t>
                              </m:r>
                              <m:sSub>
                                <m:sSubPr>
                                  <m:ctrlPr>
                                    <a:rPr lang="en-CA" sz="1400" b="0" i="1" smtClean="0">
                                      <a:latin typeface="Cambria Math" panose="02040503050406030204" pitchFamily="18" charset="0"/>
                                    </a:rPr>
                                  </m:ctrlPr>
                                </m:sSubPr>
                                <m:e>
                                  <m:r>
                                    <a:rPr lang="en-CA" sz="1400" b="0" i="1" smtClean="0">
                                      <a:latin typeface="Cambria Math" panose="02040503050406030204" pitchFamily="18" charset="0"/>
                                    </a:rPr>
                                    <m:t>𝑋</m:t>
                                  </m:r>
                                </m:e>
                                <m:sub>
                                  <m:r>
                                    <a:rPr lang="en-CA" sz="1400" b="0" i="1" smtClean="0">
                                      <a:latin typeface="Cambria Math" panose="02040503050406030204" pitchFamily="18" charset="0"/>
                                    </a:rPr>
                                    <m:t>0</m:t>
                                  </m:r>
                                </m:sub>
                              </m:sSub>
                            </m:e>
                          </m:nary>
                        </m:oMath>
                      </m:oMathPara>
                    </a14:m>
                    <a:endParaRPr lang="en-US" sz="1400" dirty="0"/>
                  </a:p>
                </p:txBody>
              </p:sp>
            </mc:Choice>
            <mc:Fallback xmlns="">
              <p:sp>
                <p:nvSpPr>
                  <p:cNvPr id="12" name="TextBox 11">
                    <a:extLst>
                      <a:ext uri="{FF2B5EF4-FFF2-40B4-BE49-F238E27FC236}">
                        <a16:creationId xmlns:a16="http://schemas.microsoft.com/office/drawing/2014/main" id="{F90B1BA6-5C46-D52F-EB50-F38F803EF518}"/>
                      </a:ext>
                    </a:extLst>
                  </p:cNvPr>
                  <p:cNvSpPr txBox="1">
                    <a:spLocks noRot="1" noChangeAspect="1" noMove="1" noResize="1" noEditPoints="1" noAdjustHandles="1" noChangeArrowheads="1" noChangeShapeType="1" noTextEdit="1"/>
                  </p:cNvSpPr>
                  <p:nvPr/>
                </p:nvSpPr>
                <p:spPr>
                  <a:xfrm>
                    <a:off x="1877156" y="4832441"/>
                    <a:ext cx="1155957" cy="615168"/>
                  </a:xfrm>
                  <a:prstGeom prst="rect">
                    <a:avLst/>
                  </a:prstGeom>
                  <a:blipFill>
                    <a:blip r:embed="rId12"/>
                    <a:stretch>
                      <a:fillRect l="-47312" t="-114000" b="-16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77752F0-F8AE-1954-ECCF-B389F096372B}"/>
                      </a:ext>
                    </a:extLst>
                  </p:cNvPr>
                  <p:cNvSpPr txBox="1"/>
                  <p:nvPr/>
                </p:nvSpPr>
                <p:spPr>
                  <a:xfrm>
                    <a:off x="1914422" y="5526401"/>
                    <a:ext cx="32733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𝜇</m:t>
                          </m:r>
                        </m:oMath>
                      </m:oMathPara>
                    </a14:m>
                    <a:endParaRPr lang="en-US" sz="1400" dirty="0"/>
                  </a:p>
                </p:txBody>
              </p:sp>
            </mc:Choice>
            <mc:Fallback xmlns="">
              <p:sp>
                <p:nvSpPr>
                  <p:cNvPr id="13" name="TextBox 12">
                    <a:extLst>
                      <a:ext uri="{FF2B5EF4-FFF2-40B4-BE49-F238E27FC236}">
                        <a16:creationId xmlns:a16="http://schemas.microsoft.com/office/drawing/2014/main" id="{4D645FE8-E159-1794-7126-BFFF592A2580}"/>
                      </a:ext>
                    </a:extLst>
                  </p:cNvPr>
                  <p:cNvSpPr txBox="1">
                    <a:spLocks noRot="1" noChangeAspect="1" noMove="1" noResize="1" noEditPoints="1" noAdjustHandles="1" noChangeArrowheads="1" noChangeShapeType="1" noTextEdit="1"/>
                  </p:cNvSpPr>
                  <p:nvPr/>
                </p:nvSpPr>
                <p:spPr>
                  <a:xfrm>
                    <a:off x="1914422" y="5526401"/>
                    <a:ext cx="327334" cy="30777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721AD5F-AE7F-4D5E-1AD1-A69040FB70C0}"/>
                      </a:ext>
                    </a:extLst>
                  </p:cNvPr>
                  <p:cNvSpPr txBox="1"/>
                  <p:nvPr/>
                </p:nvSpPr>
                <p:spPr>
                  <a:xfrm>
                    <a:off x="2815748" y="5546528"/>
                    <a:ext cx="735330" cy="3085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𝑒</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0</m:t>
                          </m:r>
                        </m:oMath>
                      </m:oMathPara>
                    </a14:m>
                    <a:endParaRPr lang="en-US" sz="1400" dirty="0"/>
                  </a:p>
                </p:txBody>
              </p:sp>
            </mc:Choice>
            <mc:Fallback xmlns="">
              <p:sp>
                <p:nvSpPr>
                  <p:cNvPr id="14" name="TextBox 13">
                    <a:extLst>
                      <a:ext uri="{FF2B5EF4-FFF2-40B4-BE49-F238E27FC236}">
                        <a16:creationId xmlns:a16="http://schemas.microsoft.com/office/drawing/2014/main" id="{A83FF2DF-DA44-00B3-BAF1-28854F6B2A30}"/>
                      </a:ext>
                    </a:extLst>
                  </p:cNvPr>
                  <p:cNvSpPr txBox="1">
                    <a:spLocks noRot="1" noChangeAspect="1" noMove="1" noResize="1" noEditPoints="1" noAdjustHandles="1" noChangeArrowheads="1" noChangeShapeType="1" noTextEdit="1"/>
                  </p:cNvSpPr>
                  <p:nvPr/>
                </p:nvSpPr>
                <p:spPr>
                  <a:xfrm>
                    <a:off x="2815748" y="5546528"/>
                    <a:ext cx="735330" cy="30854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C53255D-7ED3-D90C-23BA-19035F163788}"/>
                      </a:ext>
                    </a:extLst>
                  </p:cNvPr>
                  <p:cNvSpPr txBox="1"/>
                  <p:nvPr/>
                </p:nvSpPr>
                <p:spPr>
                  <a:xfrm>
                    <a:off x="3912630" y="5546528"/>
                    <a:ext cx="95795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𝑐𝑜𝑚</m:t>
                              </m:r>
                            </m:sup>
                          </m:sSup>
                        </m:oMath>
                      </m:oMathPara>
                    </a14:m>
                    <a:endParaRPr lang="en-US" sz="1400" dirty="0"/>
                  </a:p>
                </p:txBody>
              </p:sp>
            </mc:Choice>
            <mc:Fallback xmlns="">
              <p:sp>
                <p:nvSpPr>
                  <p:cNvPr id="15" name="TextBox 14">
                    <a:extLst>
                      <a:ext uri="{FF2B5EF4-FFF2-40B4-BE49-F238E27FC236}">
                        <a16:creationId xmlns:a16="http://schemas.microsoft.com/office/drawing/2014/main" id="{A2FBC4D0-A4BF-FF5A-15BF-E035C57424FD}"/>
                      </a:ext>
                    </a:extLst>
                  </p:cNvPr>
                  <p:cNvSpPr txBox="1">
                    <a:spLocks noRot="1" noChangeAspect="1" noMove="1" noResize="1" noEditPoints="1" noAdjustHandles="1" noChangeArrowheads="1" noChangeShapeType="1" noTextEdit="1"/>
                  </p:cNvSpPr>
                  <p:nvPr/>
                </p:nvSpPr>
                <p:spPr>
                  <a:xfrm>
                    <a:off x="3912630" y="5546528"/>
                    <a:ext cx="957955" cy="307777"/>
                  </a:xfrm>
                  <a:prstGeom prst="rect">
                    <a:avLst/>
                  </a:prstGeom>
                  <a:blipFill>
                    <a:blip r:embed="rId15"/>
                    <a:stretch>
                      <a:fillRect/>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44CADDA8-A112-5078-81B0-B04DFD885E33}"/>
                  </a:ext>
                </a:extLst>
              </p:cNvPr>
              <p:cNvSpPr txBox="1"/>
              <p:nvPr/>
            </p:nvSpPr>
            <p:spPr>
              <a:xfrm>
                <a:off x="3617079" y="5587225"/>
                <a:ext cx="229550" cy="307777"/>
              </a:xfrm>
              <a:prstGeom prst="rect">
                <a:avLst/>
              </a:prstGeom>
              <a:noFill/>
            </p:spPr>
            <p:txBody>
              <a:bodyPr wrap="none" rtlCol="0">
                <a:spAutoFit/>
              </a:bodyPr>
              <a:lstStyle/>
              <a:p>
                <a:r>
                  <a:rPr lang="en-US" sz="1400" dirty="0"/>
                  <a:t>,</a:t>
                </a:r>
              </a:p>
            </p:txBody>
          </p:sp>
          <p:sp>
            <p:nvSpPr>
              <p:cNvPr id="27" name="TextBox 26">
                <a:extLst>
                  <a:ext uri="{FF2B5EF4-FFF2-40B4-BE49-F238E27FC236}">
                    <a16:creationId xmlns:a16="http://schemas.microsoft.com/office/drawing/2014/main" id="{6448E70D-CCDF-0BC0-958A-C460B661567C}"/>
                  </a:ext>
                </a:extLst>
              </p:cNvPr>
              <p:cNvSpPr txBox="1"/>
              <p:nvPr/>
            </p:nvSpPr>
            <p:spPr>
              <a:xfrm>
                <a:off x="2438423" y="5587225"/>
                <a:ext cx="229550" cy="307777"/>
              </a:xfrm>
              <a:prstGeom prst="rect">
                <a:avLst/>
              </a:prstGeom>
              <a:noFill/>
            </p:spPr>
            <p:txBody>
              <a:bodyPr wrap="none" rtlCol="0">
                <a:spAutoFit/>
              </a:bodyPr>
              <a:lstStyle/>
              <a:p>
                <a:r>
                  <a:rPr lang="en-US" sz="1400" dirty="0"/>
                  <a:t>,</a:t>
                </a:r>
              </a:p>
            </p:txBody>
          </p:sp>
          <p:sp>
            <p:nvSpPr>
              <p:cNvPr id="28" name="Left Bracket 27">
                <a:extLst>
                  <a:ext uri="{FF2B5EF4-FFF2-40B4-BE49-F238E27FC236}">
                    <a16:creationId xmlns:a16="http://schemas.microsoft.com/office/drawing/2014/main" id="{081422EC-1D7D-83FC-34A0-BF35018FA5DF}"/>
                  </a:ext>
                </a:extLst>
              </p:cNvPr>
              <p:cNvSpPr/>
              <p:nvPr/>
            </p:nvSpPr>
            <p:spPr>
              <a:xfrm rot="10800000">
                <a:off x="5004548" y="1057446"/>
                <a:ext cx="100580" cy="2878984"/>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25A383A-A705-9543-7528-E77BF9DA7045}"/>
                      </a:ext>
                    </a:extLst>
                  </p:cNvPr>
                  <p:cNvSpPr txBox="1"/>
                  <p:nvPr/>
                </p:nvSpPr>
                <p:spPr>
                  <a:xfrm>
                    <a:off x="257490" y="466979"/>
                    <a:ext cx="2296719" cy="704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𝑚𝑖𝑛</m:t>
                              </m:r>
                            </m:e>
                            <m:sub>
                              <m:sSup>
                                <m:sSupPr>
                                  <m:ctrlPr>
                                    <a:rPr lang="en-US" i="1" smtClean="0">
                                      <a:latin typeface="Cambria Math" panose="02040503050406030204" pitchFamily="18" charset="0"/>
                                    </a:rPr>
                                  </m:ctrlPr>
                                </m:sSupPr>
                                <m:e>
                                  <m:r>
                                    <a:rPr lang="en-CA" b="0" i="1" smtClean="0">
                                      <a:latin typeface="Cambria Math" panose="02040503050406030204" pitchFamily="18" charset="0"/>
                                    </a:rPr>
                                    <m:t>𝑋</m:t>
                                  </m:r>
                                </m:e>
                                <m:sup>
                                  <m:r>
                                    <a:rPr lang="en-CA" b="0" i="1" smtClean="0">
                                      <a:latin typeface="Cambria Math" panose="02040503050406030204" pitchFamily="18" charset="0"/>
                                    </a:rPr>
                                    <m:t>𝑘</m:t>
                                  </m:r>
                                </m:sup>
                              </m:sSup>
                              <m:r>
                                <a:rPr lang="en-CA" b="0" i="1" smtClean="0">
                                  <a:latin typeface="Cambria Math" panose="02040503050406030204" pitchFamily="18" charset="0"/>
                                </a:rPr>
                                <m:t> </m:t>
                              </m:r>
                            </m:sub>
                          </m:sSub>
                          <m:d>
                            <m:dPr>
                              <m:begChr m:val="|"/>
                              <m:endChr m:val="|"/>
                              <m:ctrlPr>
                                <a:rPr lang="en-US" i="1" smtClean="0">
                                  <a:latin typeface="Cambria Math" panose="02040503050406030204" pitchFamily="18" charset="0"/>
                                </a:rPr>
                              </m:ctrlPr>
                            </m:dPr>
                            <m:e>
                              <m:sSup>
                                <m:sSupPr>
                                  <m:ctrlPr>
                                    <a:rPr lang="en-US" i="1" smtClean="0">
                                      <a:latin typeface="Cambria Math" panose="02040503050406030204" pitchFamily="18" charset="0"/>
                                    </a:rPr>
                                  </m:ctrlPr>
                                </m:sSupPr>
                                <m:e>
                                  <m:r>
                                    <a:rPr lang="en-CA" b="0" i="1" smtClean="0">
                                      <a:latin typeface="Cambria Math" panose="02040503050406030204" pitchFamily="18" charset="0"/>
                                    </a:rPr>
                                    <m:t>𝑋</m:t>
                                  </m:r>
                                </m:e>
                                <m:sup>
                                  <m:r>
                                    <a:rPr lang="en-CA" b="0" i="1" smtClean="0">
                                      <a:latin typeface="Cambria Math" panose="02040503050406030204" pitchFamily="18" charset="0"/>
                                    </a:rPr>
                                    <m:t>𝑘</m:t>
                                  </m:r>
                                </m:sup>
                              </m:sSup>
                              <m:r>
                                <a:rPr lang="en-CA" b="0" i="1" smtClean="0">
                                  <a:latin typeface="Cambria Math" panose="02040503050406030204" pitchFamily="18" charset="0"/>
                                </a:rPr>
                                <m:t>−</m:t>
                              </m:r>
                              <m:sSubSup>
                                <m:sSubSupPr>
                                  <m:ctrlPr>
                                    <a:rPr lang="en-CA" b="0" i="1" smtClean="0">
                                      <a:latin typeface="Cambria Math" panose="02040503050406030204" pitchFamily="18" charset="0"/>
                                    </a:rPr>
                                  </m:ctrlPr>
                                </m:sSubSupPr>
                                <m:e>
                                  <m:r>
                                    <a:rPr lang="en-CA" b="0" i="1" smtClean="0">
                                      <a:latin typeface="Cambria Math" panose="02040503050406030204" pitchFamily="18" charset="0"/>
                                    </a:rPr>
                                    <m:t>𝑋</m:t>
                                  </m:r>
                                </m:e>
                                <m:sub>
                                  <m:r>
                                    <a:rPr lang="en-CA" b="0" i="1" smtClean="0">
                                      <a:latin typeface="Cambria Math" panose="02040503050406030204" pitchFamily="18" charset="0"/>
                                    </a:rPr>
                                    <m:t>𝑒𝑥𝑝</m:t>
                                  </m:r>
                                </m:sub>
                                <m:sup>
                                  <m:r>
                                    <a:rPr lang="en-CA" b="0" i="1" smtClean="0">
                                      <a:latin typeface="Cambria Math" panose="02040503050406030204" pitchFamily="18" charset="0"/>
                                    </a:rPr>
                                    <m:t>𝑘</m:t>
                                  </m:r>
                                </m:sup>
                              </m:sSubSup>
                            </m:e>
                          </m:d>
                        </m:oMath>
                      </m:oMathPara>
                    </a14:m>
                    <a:endParaRPr lang="en-US" dirty="0"/>
                  </a:p>
                  <a:p>
                    <a:r>
                      <a:rPr lang="en-US" dirty="0"/>
                      <a:t>subject to</a:t>
                    </a:r>
                  </a:p>
                </p:txBody>
              </p:sp>
            </mc:Choice>
            <mc:Fallback xmlns="">
              <p:sp>
                <p:nvSpPr>
                  <p:cNvPr id="29" name="TextBox 28">
                    <a:extLst>
                      <a:ext uri="{FF2B5EF4-FFF2-40B4-BE49-F238E27FC236}">
                        <a16:creationId xmlns:a16="http://schemas.microsoft.com/office/drawing/2014/main" id="{E25A383A-A705-9543-7528-E77BF9DA7045}"/>
                      </a:ext>
                    </a:extLst>
                  </p:cNvPr>
                  <p:cNvSpPr txBox="1">
                    <a:spLocks noRot="1" noChangeAspect="1" noMove="1" noResize="1" noEditPoints="1" noAdjustHandles="1" noChangeArrowheads="1" noChangeShapeType="1" noTextEdit="1"/>
                  </p:cNvSpPr>
                  <p:nvPr/>
                </p:nvSpPr>
                <p:spPr>
                  <a:xfrm>
                    <a:off x="257490" y="466979"/>
                    <a:ext cx="2296719" cy="704488"/>
                  </a:xfrm>
                  <a:prstGeom prst="rect">
                    <a:avLst/>
                  </a:prstGeom>
                  <a:blipFill>
                    <a:blip r:embed="rId16"/>
                    <a:stretch>
                      <a:fillRect l="-2198" b="-12500"/>
                    </a:stretch>
                  </a:blipFill>
                </p:spPr>
                <p:txBody>
                  <a:bodyPr/>
                  <a:lstStyle/>
                  <a:p>
                    <a:r>
                      <a:rPr lang="en-US">
                        <a:noFill/>
                      </a:rPr>
                      <a:t> </a:t>
                    </a:r>
                  </a:p>
                </p:txBody>
              </p:sp>
            </mc:Fallback>
          </mc:AlternateContent>
          <p:sp>
            <p:nvSpPr>
              <p:cNvPr id="30" name="Left Bracket 29">
                <a:extLst>
                  <a:ext uri="{FF2B5EF4-FFF2-40B4-BE49-F238E27FC236}">
                    <a16:creationId xmlns:a16="http://schemas.microsoft.com/office/drawing/2014/main" id="{417C066B-52F3-5167-F89E-05E91038FF94}"/>
                  </a:ext>
                </a:extLst>
              </p:cNvPr>
              <p:cNvSpPr/>
              <p:nvPr/>
            </p:nvSpPr>
            <p:spPr>
              <a:xfrm>
                <a:off x="1788038" y="1057733"/>
                <a:ext cx="126384" cy="2944818"/>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400"/>
              </a:p>
            </p:txBody>
          </p:sp>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4959B1C-122B-7A8F-46AC-315D00FB6F42}"/>
                    </a:ext>
                  </a:extLst>
                </p:cNvPr>
                <p:cNvSpPr txBox="1"/>
                <p:nvPr/>
              </p:nvSpPr>
              <p:spPr>
                <a:xfrm>
                  <a:off x="2048004" y="1740398"/>
                  <a:ext cx="2959143" cy="349391"/>
                </a:xfrm>
                <a:prstGeom prst="rect">
                  <a:avLst/>
                </a:prstGeom>
                <a:noFill/>
              </p:spPr>
              <p:txBody>
                <a:bodyPr wrap="none" rtlCol="0">
                  <a:spAutoFit/>
                </a:bodyPr>
                <a:lstStyle/>
                <a:p>
                  <a14:m>
                    <m:oMath xmlns:m="http://schemas.openxmlformats.org/officeDocument/2006/math">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𝑉</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𝑋</m:t>
                          </m:r>
                        </m:e>
                        <m:sup>
                          <m:r>
                            <a:rPr lang="en-CA" sz="1400" b="0" i="1" smtClean="0">
                              <a:latin typeface="Cambria Math" panose="02040503050406030204" pitchFamily="18" charset="0"/>
                              <a:ea typeface="Cambria Math" panose="02040503050406030204" pitchFamily="18" charset="0"/>
                            </a:rPr>
                            <m:t>𝑘</m:t>
                          </m:r>
                        </m:sup>
                      </m:sSup>
                      <m:sSubSup>
                        <m:sSubSupPr>
                          <m:ctrlPr>
                            <a:rPr lang="en-CA" sz="1400" b="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𝑣</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oMath>
                  </a14:m>
                  <a:r>
                    <a:rPr lang="en-US" sz="1400" dirty="0">
                      <a:latin typeface="Cambria Math" panose="02040503050406030204" pitchFamily="18" charset="0"/>
                      <a:ea typeface="Cambria Math" panose="02040503050406030204" pitchFamily="18" charset="0"/>
                    </a:rPr>
                    <a:t>,  </a:t>
                  </a:r>
                  <a14:m>
                    <m:oMath xmlns:m="http://schemas.openxmlformats.org/officeDocument/2006/math">
                      <m:r>
                        <a:rPr lang="en-CA" sz="1400" b="0" i="0" smtClean="0">
                          <a:latin typeface="Cambria Math" panose="02040503050406030204" pitchFamily="18" charset="0"/>
                          <a:ea typeface="Cambria Math" panose="02040503050406030204" pitchFamily="18" charset="0"/>
                        </a:rPr>
                        <m:t>                  </m:t>
                      </m:r>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𝐽</m:t>
                          </m:r>
                        </m:e>
                        <m:sup>
                          <m:r>
                            <a:rPr lang="en-CA" sz="1400" b="0" i="1" smtClean="0">
                              <a:latin typeface="Cambria Math" panose="02040503050406030204" pitchFamily="18" charset="0"/>
                              <a:ea typeface="Cambria Math" panose="02040503050406030204" pitchFamily="18" charset="0"/>
                            </a:rPr>
                            <m:t>𝑘</m:t>
                          </m:r>
                        </m:sup>
                      </m:sSup>
                    </m:oMath>
                  </a14:m>
                  <a:r>
                    <a:rPr lang="en-US" sz="1400" dirty="0">
                      <a:latin typeface="Cambria Math" panose="02040503050406030204" pitchFamily="18" charset="0"/>
                      <a:ea typeface="Cambria Math" panose="02040503050406030204" pitchFamily="18" charset="0"/>
                    </a:rPr>
                    <a:t>, </a:t>
                  </a:r>
                  <a14:m>
                    <m:oMath xmlns:m="http://schemas.openxmlformats.org/officeDocument/2006/math">
                      <m:r>
                        <a:rPr lang="en-CA" sz="1400" b="0" i="1" smtClean="0">
                          <a:latin typeface="Cambria Math" panose="02040503050406030204" pitchFamily="18" charset="0"/>
                          <a:ea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oMath>
                  </a14:m>
                  <a:endParaRPr lang="en-US" sz="1400" dirty="0">
                    <a:latin typeface="Cambria Math" panose="02040503050406030204" pitchFamily="18" charset="0"/>
                    <a:ea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F27CEDD8-6CEC-CD4C-C926-2C03ACA6C1C6}"/>
                    </a:ext>
                  </a:extLst>
                </p:cNvPr>
                <p:cNvSpPr txBox="1">
                  <a:spLocks noRot="1" noChangeAspect="1" noMove="1" noResize="1" noEditPoints="1" noAdjustHandles="1" noChangeArrowheads="1" noChangeShapeType="1" noTextEdit="1"/>
                </p:cNvSpPr>
                <p:nvPr/>
              </p:nvSpPr>
              <p:spPr>
                <a:xfrm>
                  <a:off x="2048004" y="1740398"/>
                  <a:ext cx="2959143" cy="349391"/>
                </a:xfrm>
                <a:prstGeom prst="rect">
                  <a:avLst/>
                </a:prstGeom>
                <a:blipFill>
                  <a:blip r:embed="rId17"/>
                  <a:stretch>
                    <a:fillRect b="-13793"/>
                  </a:stretch>
                </a:blipFill>
              </p:spPr>
              <p:txBody>
                <a:bodyPr/>
                <a:lstStyle/>
                <a:p>
                  <a:r>
                    <a:rPr lang="en-US">
                      <a:noFill/>
                    </a:rPr>
                    <a:t> </a:t>
                  </a:r>
                </a:p>
              </p:txBody>
            </p:sp>
          </mc:Fallback>
        </mc:AlternateContent>
      </p:grpSp>
      <p:sp>
        <p:nvSpPr>
          <p:cNvPr id="32" name="Rectangle 31">
            <a:extLst>
              <a:ext uri="{FF2B5EF4-FFF2-40B4-BE49-F238E27FC236}">
                <a16:creationId xmlns:a16="http://schemas.microsoft.com/office/drawing/2014/main" id="{D7EF313C-8101-B00C-5742-4910F39B8AA1}"/>
              </a:ext>
            </a:extLst>
          </p:cNvPr>
          <p:cNvSpPr/>
          <p:nvPr/>
        </p:nvSpPr>
        <p:spPr>
          <a:xfrm>
            <a:off x="1510124" y="5077794"/>
            <a:ext cx="2284769" cy="580203"/>
          </a:xfrm>
          <a:prstGeom prst="rect">
            <a:avLst/>
          </a:prstGeom>
          <a:noFill/>
          <a:ln w="28575">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accent6">
                  <a:lumMod val="75000"/>
                </a:schemeClr>
              </a:solidFill>
            </a:endParaRPr>
          </a:p>
        </p:txBody>
      </p:sp>
      <p:cxnSp>
        <p:nvCxnSpPr>
          <p:cNvPr id="33" name="Straight Arrow Connector 32">
            <a:extLst>
              <a:ext uri="{FF2B5EF4-FFF2-40B4-BE49-F238E27FC236}">
                <a16:creationId xmlns:a16="http://schemas.microsoft.com/office/drawing/2014/main" id="{B23A0B0C-9CDE-2621-6E93-AFE7BDCCDFBA}"/>
              </a:ext>
            </a:extLst>
          </p:cNvPr>
          <p:cNvCxnSpPr>
            <a:cxnSpLocks/>
          </p:cNvCxnSpPr>
          <p:nvPr/>
        </p:nvCxnSpPr>
        <p:spPr>
          <a:xfrm flipV="1">
            <a:off x="3794893" y="2726681"/>
            <a:ext cx="2301107" cy="2351113"/>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1CA83C7-8848-7851-1287-8560116F3B2E}"/>
              </a:ext>
            </a:extLst>
          </p:cNvPr>
          <p:cNvCxnSpPr>
            <a:cxnSpLocks/>
          </p:cNvCxnSpPr>
          <p:nvPr/>
        </p:nvCxnSpPr>
        <p:spPr>
          <a:xfrm flipV="1">
            <a:off x="8587560" y="2620250"/>
            <a:ext cx="1148656" cy="953963"/>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0A508440-2F0C-10C4-8388-06E7BF86C9AE}"/>
              </a:ext>
            </a:extLst>
          </p:cNvPr>
          <p:cNvSpPr txBox="1"/>
          <p:nvPr/>
        </p:nvSpPr>
        <p:spPr>
          <a:xfrm rot="18822660">
            <a:off x="4634773" y="3330921"/>
            <a:ext cx="2306337" cy="338554"/>
          </a:xfrm>
          <a:prstGeom prst="rect">
            <a:avLst/>
          </a:prstGeom>
          <a:noFill/>
        </p:spPr>
        <p:txBody>
          <a:bodyPr wrap="none" rtlCol="0">
            <a:spAutoFit/>
          </a:bodyPr>
          <a:lstStyle/>
          <a:p>
            <a:r>
              <a:rPr lang="en-CA" sz="1600" b="1" dirty="0">
                <a:solidFill>
                  <a:schemeClr val="bg1">
                    <a:lumMod val="65000"/>
                  </a:schemeClr>
                </a:solidFill>
              </a:rPr>
              <a:t>Output modelling results</a:t>
            </a:r>
            <a:endParaRPr lang="en-US" sz="1600" b="1" dirty="0">
              <a:solidFill>
                <a:schemeClr val="bg1">
                  <a:lumMod val="65000"/>
                </a:schemeClr>
              </a:solidFill>
            </a:endParaRPr>
          </a:p>
        </p:txBody>
      </p:sp>
      <p:pic>
        <p:nvPicPr>
          <p:cNvPr id="34" name="Picture 33" descr="A diagram of a computer&#10;&#10;Description automatically generated">
            <a:extLst>
              <a:ext uri="{FF2B5EF4-FFF2-40B4-BE49-F238E27FC236}">
                <a16:creationId xmlns:a16="http://schemas.microsoft.com/office/drawing/2014/main" id="{6C9327EE-0830-61C6-E3E4-279AB324C525}"/>
              </a:ext>
            </a:extLst>
          </p:cNvPr>
          <p:cNvPicPr>
            <a:picLocks noChangeAspect="1"/>
          </p:cNvPicPr>
          <p:nvPr/>
        </p:nvPicPr>
        <p:blipFill rotWithShape="1">
          <a:blip r:embed="rId18">
            <a:extLst>
              <a:ext uri="{28A0092B-C50C-407E-A947-70E740481C1C}">
                <a14:useLocalDpi xmlns:a14="http://schemas.microsoft.com/office/drawing/2010/main" val="0"/>
              </a:ext>
            </a:extLst>
          </a:blip>
          <a:srcRect l="63042" t="24413" r="3153" b="57882"/>
          <a:stretch/>
        </p:blipFill>
        <p:spPr>
          <a:xfrm>
            <a:off x="7161173" y="4445417"/>
            <a:ext cx="4801181" cy="1760172"/>
          </a:xfrm>
          <a:prstGeom prst="rect">
            <a:avLst/>
          </a:prstGeom>
        </p:spPr>
      </p:pic>
      <p:cxnSp>
        <p:nvCxnSpPr>
          <p:cNvPr id="46" name="Straight Arrow Connector 45">
            <a:extLst>
              <a:ext uri="{FF2B5EF4-FFF2-40B4-BE49-F238E27FC236}">
                <a16:creationId xmlns:a16="http://schemas.microsoft.com/office/drawing/2014/main" id="{8B8EE031-BB10-28C3-C60D-CC3DCA2D1534}"/>
              </a:ext>
            </a:extLst>
          </p:cNvPr>
          <p:cNvCxnSpPr>
            <a:cxnSpLocks/>
          </p:cNvCxnSpPr>
          <p:nvPr/>
        </p:nvCxnSpPr>
        <p:spPr>
          <a:xfrm flipV="1">
            <a:off x="9039069" y="2620250"/>
            <a:ext cx="2055651" cy="291112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0DB1DB4F-FB5A-0847-5771-9BA17EC38F08}"/>
              </a:ext>
            </a:extLst>
          </p:cNvPr>
          <p:cNvSpPr/>
          <p:nvPr/>
        </p:nvSpPr>
        <p:spPr>
          <a:xfrm>
            <a:off x="8249110" y="5531370"/>
            <a:ext cx="1014420" cy="601801"/>
          </a:xfrm>
          <a:prstGeom prst="rect">
            <a:avLst/>
          </a:prstGeom>
          <a:noFill/>
          <a:ln w="28575">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accent6">
                  <a:lumMod val="75000"/>
                </a:schemeClr>
              </a:solidFill>
            </a:endParaRPr>
          </a:p>
        </p:txBody>
      </p:sp>
      <p:sp>
        <p:nvSpPr>
          <p:cNvPr id="38" name="Rectangle 37">
            <a:extLst>
              <a:ext uri="{FF2B5EF4-FFF2-40B4-BE49-F238E27FC236}">
                <a16:creationId xmlns:a16="http://schemas.microsoft.com/office/drawing/2014/main" id="{DC5E106A-47CD-F012-E9A4-E6AF1F41C1F4}"/>
              </a:ext>
            </a:extLst>
          </p:cNvPr>
          <p:cNvSpPr/>
          <p:nvPr/>
        </p:nvSpPr>
        <p:spPr>
          <a:xfrm>
            <a:off x="9311216" y="5531369"/>
            <a:ext cx="1270739" cy="601801"/>
          </a:xfrm>
          <a:prstGeom prst="rect">
            <a:avLst/>
          </a:prstGeom>
          <a:noFill/>
          <a:ln w="28575">
            <a:solidFill>
              <a:srgbClr val="7030A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accent6">
                  <a:lumMod val="75000"/>
                </a:schemeClr>
              </a:solidFill>
            </a:endParaRPr>
          </a:p>
        </p:txBody>
      </p:sp>
      <p:cxnSp>
        <p:nvCxnSpPr>
          <p:cNvPr id="41" name="Straight Arrow Connector 40">
            <a:extLst>
              <a:ext uri="{FF2B5EF4-FFF2-40B4-BE49-F238E27FC236}">
                <a16:creationId xmlns:a16="http://schemas.microsoft.com/office/drawing/2014/main" id="{F195EFFB-94FB-4C4E-2FB4-479327DB151A}"/>
              </a:ext>
            </a:extLst>
          </p:cNvPr>
          <p:cNvCxnSpPr>
            <a:cxnSpLocks/>
          </p:cNvCxnSpPr>
          <p:nvPr/>
        </p:nvCxnSpPr>
        <p:spPr>
          <a:xfrm>
            <a:off x="10297656" y="2620250"/>
            <a:ext cx="1376" cy="2911119"/>
          </a:xfrm>
          <a:prstGeom prst="straightConnector1">
            <a:avLst/>
          </a:prstGeom>
          <a:ln w="28575">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9DD4CCB4-6273-2EEF-78A4-55C1B2C270DA}"/>
              </a:ext>
            </a:extLst>
          </p:cNvPr>
          <p:cNvSpPr txBox="1"/>
          <p:nvPr/>
        </p:nvSpPr>
        <p:spPr>
          <a:xfrm rot="16642352">
            <a:off x="9141954" y="3399415"/>
            <a:ext cx="1571456" cy="338554"/>
          </a:xfrm>
          <a:prstGeom prst="rect">
            <a:avLst/>
          </a:prstGeom>
          <a:noFill/>
        </p:spPr>
        <p:txBody>
          <a:bodyPr wrap="none" rtlCol="0">
            <a:spAutoFit/>
          </a:bodyPr>
          <a:lstStyle/>
          <a:p>
            <a:r>
              <a:rPr lang="en-CA" sz="1600" b="1" dirty="0">
                <a:solidFill>
                  <a:srgbClr val="7030A0"/>
                </a:solidFill>
              </a:rPr>
              <a:t>Compare results</a:t>
            </a:r>
            <a:endParaRPr lang="en-US" sz="1600" b="1" dirty="0">
              <a:solidFill>
                <a:srgbClr val="7030A0"/>
              </a:solidFill>
            </a:endParaRPr>
          </a:p>
        </p:txBody>
      </p:sp>
      <p:sp>
        <p:nvSpPr>
          <p:cNvPr id="14" name="Title 31">
            <a:extLst>
              <a:ext uri="{FF2B5EF4-FFF2-40B4-BE49-F238E27FC236}">
                <a16:creationId xmlns:a16="http://schemas.microsoft.com/office/drawing/2014/main" id="{904E49CF-7194-A6EE-1CF8-777169F79FDF}"/>
              </a:ext>
            </a:extLst>
          </p:cNvPr>
          <p:cNvSpPr>
            <a:spLocks noGrp="1"/>
          </p:cNvSpPr>
          <p:nvPr>
            <p:ph type="title"/>
          </p:nvPr>
        </p:nvSpPr>
        <p:spPr>
          <a:xfrm>
            <a:off x="238195" y="365125"/>
            <a:ext cx="11115605" cy="1127631"/>
          </a:xfrm>
        </p:spPr>
        <p:txBody>
          <a:bodyPr>
            <a:noAutofit/>
          </a:bodyPr>
          <a:lstStyle/>
          <a:p>
            <a:r>
              <a:rPr lang="en-US" sz="3600" b="1" dirty="0"/>
              <a:t>Community Metabolic Modelling and Validation Framework</a:t>
            </a:r>
            <a:endParaRPr lang="en-US" sz="3600" dirty="0"/>
          </a:p>
        </p:txBody>
      </p:sp>
    </p:spTree>
    <p:extLst>
      <p:ext uri="{BB962C8B-B14F-4D97-AF65-F5344CB8AC3E}">
        <p14:creationId xmlns:p14="http://schemas.microsoft.com/office/powerpoint/2010/main" val="1412264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D130A2C-3461-A3CE-DF59-58A297F5DF9B}"/>
                  </a:ext>
                </a:extLst>
              </p:cNvPr>
              <p:cNvSpPr txBox="1"/>
              <p:nvPr/>
            </p:nvSpPr>
            <p:spPr>
              <a:xfrm>
                <a:off x="5757257" y="1301357"/>
                <a:ext cx="6184864" cy="484620"/>
              </a:xfrm>
              <a:prstGeom prst="rect">
                <a:avLst/>
              </a:prstGeom>
              <a:noFill/>
              <a:ln w="28575">
                <a:solidFill>
                  <a:schemeClr val="tx1"/>
                </a:solidFill>
              </a:ln>
            </p:spPr>
            <p:txBody>
              <a:bodyPr wrap="square">
                <a:spAutoFit/>
              </a:bodyPr>
              <a:lstStyle/>
              <a:p>
                <a:pPr algn="ctr"/>
                <a14:m>
                  <m:oMath xmlns:m="http://schemas.openxmlformats.org/officeDocument/2006/math">
                    <m:nary>
                      <m:naryPr>
                        <m:chr m:val="∑"/>
                        <m:supHide m:val="on"/>
                        <m:ctrlPr>
                          <a:rPr lang="en-CA" sz="2000" b="1" i="1" smtClean="0">
                            <a:solidFill>
                              <a:schemeClr val="accent6">
                                <a:lumMod val="75000"/>
                              </a:schemeClr>
                            </a:solidFill>
                            <a:latin typeface="Cambria Math" panose="02040503050406030204" pitchFamily="18" charset="0"/>
                          </a:rPr>
                        </m:ctrlPr>
                      </m:naryPr>
                      <m:sub>
                        <m:r>
                          <m:rPr>
                            <m:brk m:alnAt="7"/>
                          </m:rPr>
                          <a:rPr lang="en-CA" sz="2000" b="1" i="1" smtClean="0">
                            <a:solidFill>
                              <a:schemeClr val="accent6">
                                <a:lumMod val="75000"/>
                              </a:schemeClr>
                            </a:solidFill>
                            <a:latin typeface="Cambria Math" panose="02040503050406030204" pitchFamily="18" charset="0"/>
                          </a:rPr>
                          <m:t>𝒌</m:t>
                        </m:r>
                        <m:r>
                          <a:rPr lang="en-CA" sz="2000" b="1" i="1" smtClean="0">
                            <a:solidFill>
                              <a:schemeClr val="accent6">
                                <a:lumMod val="75000"/>
                              </a:schemeClr>
                            </a:solidFill>
                            <a:latin typeface="Cambria Math" panose="02040503050406030204" pitchFamily="18" charset="0"/>
                            <a:ea typeface="Cambria Math" panose="02040503050406030204" pitchFamily="18" charset="0"/>
                          </a:rPr>
                          <m:t>∈</m:t>
                        </m:r>
                        <m:r>
                          <a:rPr lang="en-CA" sz="2000" b="1" i="1" smtClean="0">
                            <a:solidFill>
                              <a:schemeClr val="accent6">
                                <a:lumMod val="75000"/>
                              </a:schemeClr>
                            </a:solidFill>
                            <a:latin typeface="Cambria Math" panose="02040503050406030204" pitchFamily="18" charset="0"/>
                            <a:ea typeface="Cambria Math" panose="02040503050406030204" pitchFamily="18" charset="0"/>
                          </a:rPr>
                          <m:t>𝑲</m:t>
                        </m:r>
                      </m:sub>
                      <m:sup/>
                      <m:e>
                        <m:sSubSup>
                          <m:sSubSupPr>
                            <m:ctrlPr>
                              <a:rPr lang="en-CA" sz="2000" b="1" i="1" smtClean="0">
                                <a:solidFill>
                                  <a:schemeClr val="accent6">
                                    <a:lumMod val="75000"/>
                                  </a:schemeClr>
                                </a:solidFill>
                                <a:latin typeface="Cambria Math" panose="02040503050406030204" pitchFamily="18" charset="0"/>
                              </a:rPr>
                            </m:ctrlPr>
                          </m:sSubSupPr>
                          <m:e>
                            <m:r>
                              <a:rPr lang="en-CA" sz="2000" b="1" i="1" smtClean="0">
                                <a:solidFill>
                                  <a:schemeClr val="accent6">
                                    <a:lumMod val="75000"/>
                                  </a:schemeClr>
                                </a:solidFill>
                                <a:latin typeface="Cambria Math" panose="02040503050406030204" pitchFamily="18" charset="0"/>
                              </a:rPr>
                              <m:t>𝑽</m:t>
                            </m:r>
                          </m:e>
                          <m:sub>
                            <m:r>
                              <a:rPr lang="en-CA" sz="2000" b="1" i="1" smtClean="0">
                                <a:solidFill>
                                  <a:schemeClr val="accent6">
                                    <a:lumMod val="75000"/>
                                  </a:schemeClr>
                                </a:solidFill>
                                <a:latin typeface="Cambria Math" panose="02040503050406030204" pitchFamily="18" charset="0"/>
                              </a:rPr>
                              <m:t>𝒆𝒙</m:t>
                            </m:r>
                            <m:r>
                              <a:rPr lang="en-CA" sz="2000" b="1" i="1" smtClean="0">
                                <a:solidFill>
                                  <a:schemeClr val="accent6">
                                    <a:lumMod val="75000"/>
                                  </a:schemeClr>
                                </a:solidFill>
                                <a:latin typeface="Cambria Math" panose="02040503050406030204" pitchFamily="18" charset="0"/>
                              </a:rPr>
                              <m:t>(</m:t>
                            </m:r>
                            <m:r>
                              <a:rPr lang="en-CA" sz="2000" b="1" i="1" smtClean="0">
                                <a:solidFill>
                                  <a:schemeClr val="accent6">
                                    <a:lumMod val="75000"/>
                                  </a:schemeClr>
                                </a:solidFill>
                                <a:latin typeface="Cambria Math" panose="02040503050406030204" pitchFamily="18" charset="0"/>
                              </a:rPr>
                              <m:t>𝒊</m:t>
                            </m:r>
                            <m:r>
                              <a:rPr lang="en-CA" sz="2000" b="1" i="1" smtClean="0">
                                <a:solidFill>
                                  <a:schemeClr val="accent6">
                                    <a:lumMod val="75000"/>
                                  </a:schemeClr>
                                </a:solidFill>
                                <a:latin typeface="Cambria Math" panose="02040503050406030204" pitchFamily="18" charset="0"/>
                              </a:rPr>
                              <m:t>)</m:t>
                            </m:r>
                          </m:sub>
                          <m:sup>
                            <m:r>
                              <a:rPr lang="en-CA" sz="2000" b="1" i="1" smtClean="0">
                                <a:solidFill>
                                  <a:schemeClr val="accent6">
                                    <a:lumMod val="75000"/>
                                  </a:schemeClr>
                                </a:solidFill>
                                <a:latin typeface="Cambria Math" panose="02040503050406030204" pitchFamily="18" charset="0"/>
                              </a:rPr>
                              <m:t>𝒌</m:t>
                            </m:r>
                          </m:sup>
                        </m:sSubSup>
                        <m:r>
                          <a:rPr lang="en-CA" sz="2000" b="1" i="1" smtClean="0">
                            <a:solidFill>
                              <a:schemeClr val="accent6">
                                <a:lumMod val="75000"/>
                              </a:schemeClr>
                            </a:solidFill>
                            <a:latin typeface="Cambria Math" panose="02040503050406030204" pitchFamily="18" charset="0"/>
                          </a:rPr>
                          <m:t>= </m:t>
                        </m:r>
                        <m:sSubSup>
                          <m:sSubSupPr>
                            <m:ctrlPr>
                              <a:rPr lang="en-CA"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𝒆</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r>
                          <a:rPr lang="en-CA" sz="2000" b="1" i="1" smtClean="0">
                            <a:solidFill>
                              <a:schemeClr val="accent6">
                                <a:lumMod val="75000"/>
                              </a:schemeClr>
                            </a:solidFill>
                            <a:latin typeface="Cambria Math" panose="02040503050406030204" pitchFamily="18" charset="0"/>
                          </a:rPr>
                          <m:t>−</m:t>
                        </m:r>
                        <m:sSubSup>
                          <m:sSubSupPr>
                            <m:ctrlPr>
                              <a:rPr lang="en-US"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𝒖</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e>
                    </m:nary>
                  </m:oMath>
                </a14:m>
                <a:r>
                  <a:rPr lang="en-US" sz="2000" b="1" dirty="0"/>
                  <a:t> = </a:t>
                </a:r>
                <a14:m>
                  <m:oMath xmlns:m="http://schemas.openxmlformats.org/officeDocument/2006/math">
                    <m:nary>
                      <m:naryPr>
                        <m:chr m:val="∑"/>
                        <m:supHide m:val="on"/>
                        <m:ctrlPr>
                          <a:rPr lang="en-US" sz="2000" b="1" i="1" smtClean="0">
                            <a:solidFill>
                              <a:srgbClr val="0070C0"/>
                            </a:solidFill>
                            <a:latin typeface="Cambria Math" panose="02040503050406030204" pitchFamily="18" charset="0"/>
                          </a:rPr>
                        </m:ctrlPr>
                      </m:naryPr>
                      <m:sub>
                        <m:r>
                          <m:rPr>
                            <m:brk m:alnAt="7"/>
                          </m:rPr>
                          <a:rPr lang="en-US" sz="2000" b="1" i="1">
                            <a:solidFill>
                              <a:srgbClr val="0070C0"/>
                            </a:solidFill>
                            <a:latin typeface="Cambria Math" panose="02040503050406030204" pitchFamily="18" charset="0"/>
                          </a:rPr>
                          <m:t>𝒋</m:t>
                        </m:r>
                      </m:sub>
                      <m:sup/>
                      <m:e>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𝒒</m:t>
                            </m:r>
                          </m:e>
                          <m: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𝒔</m:t>
                                </m:r>
                              </m:e>
                              <m:sub>
                                <m:r>
                                  <a:rPr lang="en-US" sz="2000" b="1" i="1">
                                    <a:solidFill>
                                      <a:srgbClr val="0070C0"/>
                                    </a:solidFill>
                                    <a:latin typeface="Cambria Math" panose="02040503050406030204" pitchFamily="18" charset="0"/>
                                  </a:rPr>
                                  <m:t>𝒊</m:t>
                                </m:r>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rPr>
                                  <m:t>𝒋</m:t>
                                </m:r>
                              </m:sub>
                            </m:sSub>
                          </m:sub>
                        </m:s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𝒙</m:t>
                            </m:r>
                          </m:e>
                          <m:sub>
                            <m:r>
                              <a:rPr lang="en-US" sz="2000" b="1" i="1">
                                <a:solidFill>
                                  <a:srgbClr val="0070C0"/>
                                </a:solidFill>
                                <a:latin typeface="Cambria Math" panose="02040503050406030204" pitchFamily="18" charset="0"/>
                              </a:rPr>
                              <m:t>𝒋</m:t>
                            </m:r>
                          </m:sub>
                        </m:sSub>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ea typeface="Cambria Math" panose="02040503050406030204" pitchFamily="18" charset="0"/>
                          </a:rPr>
                          <m:t>𝝁</m:t>
                        </m:r>
                        <m:d>
                          <m:dPr>
                            <m:begChr m:val="["/>
                            <m:endChr m:val="]"/>
                            <m:ctrlPr>
                              <a:rPr lang="en-US" sz="2000" b="1" i="1">
                                <a:solidFill>
                                  <a:srgbClr val="0070C0"/>
                                </a:solidFill>
                                <a:latin typeface="Cambria Math" panose="02040503050406030204" pitchFamily="18" charset="0"/>
                                <a:ea typeface="Cambria Math" panose="02040503050406030204" pitchFamily="18" charset="0"/>
                              </a:rPr>
                            </m:ctrlPr>
                          </m:dPr>
                          <m:e>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𝑯𝑫𝑪</m:t>
                                </m:r>
                                <m:r>
                                  <a:rPr lang="en-US" sz="2000" b="1" i="1">
                                    <a:solidFill>
                                      <a:srgbClr val="0070C0"/>
                                    </a:solidFill>
                                    <a:latin typeface="Cambria Math" panose="02040503050406030204" pitchFamily="18" charset="0"/>
                                    <a:ea typeface="Cambria Math" panose="02040503050406030204" pitchFamily="18" charset="0"/>
                                  </a:rPr>
                                  <m:t>𝟏</m:t>
                                </m:r>
                              </m:sub>
                              <m:sup>
                                <m:r>
                                  <a:rPr lang="en-US" sz="2000" b="1" i="1">
                                    <a:solidFill>
                                      <a:srgbClr val="0070C0"/>
                                    </a:solidFill>
                                    <a:latin typeface="Cambria Math" panose="02040503050406030204" pitchFamily="18" charset="0"/>
                                    <a:ea typeface="Cambria Math" panose="02040503050406030204" pitchFamily="18" charset="0"/>
                                  </a:rPr>
                                  <m:t>𝒊</m:t>
                                </m:r>
                              </m:sup>
                            </m:sSubSup>
                            <m:r>
                              <a:rPr lang="en-US" sz="2000" b="1" i="1">
                                <a:solidFill>
                                  <a:srgbClr val="0070C0"/>
                                </a:solidFill>
                                <a:latin typeface="Cambria Math" panose="02040503050406030204" pitchFamily="18" charset="0"/>
                                <a:ea typeface="Cambria Math" panose="02040503050406030204" pitchFamily="18" charset="0"/>
                              </a:rPr>
                              <m:t>−</m:t>
                            </m:r>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𝑮𝑭</m:t>
                                </m:r>
                              </m:sub>
                              <m:sup>
                                <m:r>
                                  <a:rPr lang="en-US" sz="2000" b="1" i="1">
                                    <a:solidFill>
                                      <a:srgbClr val="0070C0"/>
                                    </a:solidFill>
                                    <a:latin typeface="Cambria Math" panose="02040503050406030204" pitchFamily="18" charset="0"/>
                                    <a:ea typeface="Cambria Math" panose="02040503050406030204" pitchFamily="18" charset="0"/>
                                  </a:rPr>
                                  <m:t>𝒊</m:t>
                                </m:r>
                              </m:sup>
                            </m:sSubSup>
                          </m:e>
                        </m:d>
                      </m:e>
                    </m:nary>
                  </m:oMath>
                </a14:m>
                <a:r>
                  <a:rPr lang="en-US" sz="2000" b="1" dirty="0"/>
                  <a:t> </a:t>
                </a:r>
              </a:p>
            </p:txBody>
          </p:sp>
        </mc:Choice>
        <mc:Fallback xmlns="">
          <p:sp>
            <p:nvSpPr>
              <p:cNvPr id="8" name="TextBox 7">
                <a:extLst>
                  <a:ext uri="{FF2B5EF4-FFF2-40B4-BE49-F238E27FC236}">
                    <a16:creationId xmlns:a16="http://schemas.microsoft.com/office/drawing/2014/main" id="{DD130A2C-3461-A3CE-DF59-58A297F5DF9B}"/>
                  </a:ext>
                </a:extLst>
              </p:cNvPr>
              <p:cNvSpPr txBox="1">
                <a:spLocks noRot="1" noChangeAspect="1" noMove="1" noResize="1" noEditPoints="1" noAdjustHandles="1" noChangeArrowheads="1" noChangeShapeType="1" noTextEdit="1"/>
              </p:cNvSpPr>
              <p:nvPr/>
            </p:nvSpPr>
            <p:spPr>
              <a:xfrm>
                <a:off x="5757257" y="1301357"/>
                <a:ext cx="6184864" cy="484620"/>
              </a:xfrm>
              <a:prstGeom prst="rect">
                <a:avLst/>
              </a:prstGeom>
              <a:blipFill>
                <a:blip r:embed="rId2"/>
                <a:stretch>
                  <a:fillRect l="-2449" t="-80952" b="-121429"/>
                </a:stretch>
              </a:blipFill>
              <a:ln w="28575">
                <a:solidFill>
                  <a:schemeClr val="tx1"/>
                </a:solidFill>
              </a:ln>
            </p:spPr>
            <p:txBody>
              <a:bodyPr/>
              <a:lstStyle/>
              <a:p>
                <a:r>
                  <a:rPr lang="en-US">
                    <a:noFill/>
                  </a:rPr>
                  <a:t> </a:t>
                </a:r>
              </a:p>
            </p:txBody>
          </p:sp>
        </mc:Fallback>
      </mc:AlternateContent>
      <p:graphicFrame>
        <p:nvGraphicFramePr>
          <p:cNvPr id="4" name="Table 4">
            <a:extLst>
              <a:ext uri="{FF2B5EF4-FFF2-40B4-BE49-F238E27FC236}">
                <a16:creationId xmlns:a16="http://schemas.microsoft.com/office/drawing/2014/main" id="{36B014DB-E06B-B001-D950-CD16D1F00331}"/>
              </a:ext>
            </a:extLst>
          </p:cNvPr>
          <p:cNvGraphicFramePr>
            <a:graphicFrameLocks noGrp="1"/>
          </p:cNvGraphicFramePr>
          <p:nvPr/>
        </p:nvGraphicFramePr>
        <p:xfrm>
          <a:off x="6581386" y="2055843"/>
          <a:ext cx="4761398" cy="2815615"/>
        </p:xfrm>
        <a:graphic>
          <a:graphicData uri="http://schemas.openxmlformats.org/drawingml/2006/table">
            <a:tbl>
              <a:tblPr>
                <a:tableStyleId>{D7AC3CCA-C797-4891-BE02-D94E43425B78}</a:tableStyleId>
              </a:tblPr>
              <a:tblGrid>
                <a:gridCol w="1047768">
                  <a:extLst>
                    <a:ext uri="{9D8B030D-6E8A-4147-A177-3AD203B41FA5}">
                      <a16:colId xmlns:a16="http://schemas.microsoft.com/office/drawing/2014/main" val="275546752"/>
                    </a:ext>
                  </a:extLst>
                </a:gridCol>
                <a:gridCol w="1058000">
                  <a:extLst>
                    <a:ext uri="{9D8B030D-6E8A-4147-A177-3AD203B41FA5}">
                      <a16:colId xmlns:a16="http://schemas.microsoft.com/office/drawing/2014/main" val="1089004084"/>
                    </a:ext>
                  </a:extLst>
                </a:gridCol>
                <a:gridCol w="1327815">
                  <a:extLst>
                    <a:ext uri="{9D8B030D-6E8A-4147-A177-3AD203B41FA5}">
                      <a16:colId xmlns:a16="http://schemas.microsoft.com/office/drawing/2014/main" val="2760216163"/>
                    </a:ext>
                  </a:extLst>
                </a:gridCol>
                <a:gridCol w="1327815">
                  <a:extLst>
                    <a:ext uri="{9D8B030D-6E8A-4147-A177-3AD203B41FA5}">
                      <a16:colId xmlns:a16="http://schemas.microsoft.com/office/drawing/2014/main" val="463888239"/>
                    </a:ext>
                  </a:extLst>
                </a:gridCol>
              </a:tblGrid>
              <a:tr h="466500">
                <a:tc rowSpan="2">
                  <a:txBody>
                    <a:bodyPr/>
                    <a:lstStyle/>
                    <a:p>
                      <a:r>
                        <a:rPr lang="en-US" sz="1200" b="1" dirty="0"/>
                        <a:t>Metabolite name</a:t>
                      </a:r>
                    </a:p>
                  </a:txBody>
                  <a:tcPr>
                    <a:solidFill>
                      <a:schemeClr val="bg1">
                        <a:lumMod val="65000"/>
                      </a:schemeClr>
                    </a:solidFill>
                  </a:tcPr>
                </a:tc>
                <a:tc gridSpan="2">
                  <a:txBody>
                    <a:bodyPr/>
                    <a:lstStyle/>
                    <a:p>
                      <a:r>
                        <a:rPr lang="en-US" sz="1200" b="1" dirty="0"/>
                        <a:t>Amount of metabolite (mmol per g of fecal matter)</a:t>
                      </a:r>
                    </a:p>
                  </a:txBody>
                  <a:tcPr>
                    <a:solidFill>
                      <a:schemeClr val="bg1">
                        <a:lumMod val="65000"/>
                      </a:schemeClr>
                    </a:solidFill>
                  </a:tcPr>
                </a:tc>
                <a:tc hMerge="1">
                  <a:txBody>
                    <a:bodyPr/>
                    <a:lstStyle/>
                    <a:p>
                      <a:endParaRPr lang="en-US" dirty="0"/>
                    </a:p>
                  </a:txBody>
                  <a:tcPr/>
                </a:tc>
                <a:tc rowSpan="2">
                  <a:txBody>
                    <a:bodyPr/>
                    <a:lstStyle/>
                    <a:p>
                      <a:r>
                        <a:rPr lang="en-US" sz="1200" b="1" dirty="0"/>
                        <a:t>Metabolite consumed or produced?</a:t>
                      </a:r>
                    </a:p>
                  </a:txBody>
                  <a:tcPr>
                    <a:solidFill>
                      <a:schemeClr val="bg1">
                        <a:lumMod val="65000"/>
                      </a:schemeClr>
                    </a:solidFill>
                  </a:tcPr>
                </a:tc>
                <a:extLst>
                  <a:ext uri="{0D108BD9-81ED-4DB2-BD59-A6C34878D82A}">
                    <a16:rowId xmlns:a16="http://schemas.microsoft.com/office/drawing/2014/main" val="2206387683"/>
                  </a:ext>
                </a:extLst>
              </a:tr>
              <a:tr h="378383">
                <a:tc vMerge="1">
                  <a:txBody>
                    <a:bodyPr/>
                    <a:lstStyle/>
                    <a:p>
                      <a:endParaRPr lang="en-US" dirty="0"/>
                    </a:p>
                  </a:txBody>
                  <a:tcPr/>
                </a:tc>
                <a:tc>
                  <a:txBody>
                    <a:bodyPr/>
                    <a:lstStyle/>
                    <a:p>
                      <a:r>
                        <a:rPr lang="en-US" sz="1200" dirty="0"/>
                        <a:t>GF fecal sample</a:t>
                      </a:r>
                    </a:p>
                  </a:txBody>
                  <a:tcPr>
                    <a:solidFill>
                      <a:schemeClr val="bg1">
                        <a:lumMod val="65000"/>
                      </a:schemeClr>
                    </a:solidFill>
                  </a:tcPr>
                </a:tc>
                <a:tc>
                  <a:txBody>
                    <a:bodyPr/>
                    <a:lstStyle/>
                    <a:p>
                      <a:r>
                        <a:rPr lang="en-US" sz="1200" dirty="0"/>
                        <a:t>HDC1 fecal sample</a:t>
                      </a:r>
                    </a:p>
                  </a:txBody>
                  <a:tcPr>
                    <a:solidFill>
                      <a:schemeClr val="bg1">
                        <a:lumMod val="65000"/>
                      </a:schemeClr>
                    </a:solidFill>
                  </a:tcPr>
                </a:tc>
                <a:tc vMerge="1">
                  <a:txBody>
                    <a:bodyPr/>
                    <a:lstStyle/>
                    <a:p>
                      <a:endParaRPr lang="en-US" dirty="0"/>
                    </a:p>
                  </a:txBody>
                  <a:tcPr/>
                </a:tc>
                <a:extLst>
                  <a:ext uri="{0D108BD9-81ED-4DB2-BD59-A6C34878D82A}">
                    <a16:rowId xmlns:a16="http://schemas.microsoft.com/office/drawing/2014/main" val="4267911365"/>
                  </a:ext>
                </a:extLst>
              </a:tr>
              <a:tr h="378383">
                <a:tc>
                  <a:txBody>
                    <a:bodyPr/>
                    <a:lstStyle/>
                    <a:p>
                      <a:r>
                        <a:rPr lang="en-US" sz="1200" dirty="0"/>
                        <a:t>A</a:t>
                      </a:r>
                    </a:p>
                  </a:txBody>
                  <a:tcPr/>
                </a:tc>
                <a:tc>
                  <a:txBody>
                    <a:bodyPr/>
                    <a:lstStyle/>
                    <a:p>
                      <a:r>
                        <a:rPr lang="en-US" sz="1200" dirty="0"/>
                        <a:t>0</a:t>
                      </a:r>
                    </a:p>
                  </a:txBody>
                  <a:tcPr/>
                </a:tc>
                <a:tc>
                  <a:txBody>
                    <a:bodyPr/>
                    <a:lstStyle/>
                    <a:p>
                      <a:r>
                        <a:rPr lang="en-US" sz="1200" dirty="0"/>
                        <a:t>20</a:t>
                      </a:r>
                    </a:p>
                  </a:txBody>
                  <a:tcPr/>
                </a:tc>
                <a:tc>
                  <a:txBody>
                    <a:bodyPr/>
                    <a:lstStyle/>
                    <a:p>
                      <a:r>
                        <a:rPr lang="en-US" sz="1200" b="1" dirty="0">
                          <a:solidFill>
                            <a:srgbClr val="7030A0"/>
                          </a:solidFill>
                        </a:rPr>
                        <a:t>Produced</a:t>
                      </a:r>
                    </a:p>
                  </a:txBody>
                  <a:tcPr/>
                </a:tc>
                <a:extLst>
                  <a:ext uri="{0D108BD9-81ED-4DB2-BD59-A6C34878D82A}">
                    <a16:rowId xmlns:a16="http://schemas.microsoft.com/office/drawing/2014/main" val="1552149961"/>
                  </a:ext>
                </a:extLst>
              </a:tr>
              <a:tr h="378383">
                <a:tc>
                  <a:txBody>
                    <a:bodyPr/>
                    <a:lstStyle/>
                    <a:p>
                      <a:r>
                        <a:rPr lang="en-US" sz="1200" dirty="0"/>
                        <a:t>B</a:t>
                      </a:r>
                    </a:p>
                  </a:txBody>
                  <a:tcPr>
                    <a:solidFill>
                      <a:schemeClr val="accent2">
                        <a:lumMod val="40000"/>
                        <a:lumOff val="60000"/>
                      </a:schemeClr>
                    </a:solidFill>
                  </a:tcPr>
                </a:tc>
                <a:tc>
                  <a:txBody>
                    <a:bodyPr/>
                    <a:lstStyle/>
                    <a:p>
                      <a:r>
                        <a:rPr lang="en-US" sz="1200" dirty="0"/>
                        <a:t>30</a:t>
                      </a:r>
                    </a:p>
                  </a:txBody>
                  <a:tcPr>
                    <a:solidFill>
                      <a:schemeClr val="accent2">
                        <a:lumMod val="40000"/>
                        <a:lumOff val="60000"/>
                      </a:schemeClr>
                    </a:solidFill>
                  </a:tcPr>
                </a:tc>
                <a:tc>
                  <a:txBody>
                    <a:bodyPr/>
                    <a:lstStyle/>
                    <a:p>
                      <a:r>
                        <a:rPr lang="en-US" sz="1200" dirty="0"/>
                        <a:t>10</a:t>
                      </a:r>
                    </a:p>
                  </a:txBody>
                  <a:tcPr>
                    <a:solidFill>
                      <a:schemeClr val="accent2">
                        <a:lumMod val="40000"/>
                        <a:lumOff val="60000"/>
                      </a:schemeClr>
                    </a:solidFill>
                  </a:tcPr>
                </a:tc>
                <a:tc>
                  <a:txBody>
                    <a:bodyPr/>
                    <a:lstStyle/>
                    <a:p>
                      <a:r>
                        <a:rPr lang="en-US" sz="1200" b="1" dirty="0">
                          <a:solidFill>
                            <a:schemeClr val="accent2">
                              <a:lumMod val="75000"/>
                            </a:schemeClr>
                          </a:solidFill>
                        </a:rPr>
                        <a:t>Consumed</a:t>
                      </a:r>
                    </a:p>
                  </a:txBody>
                  <a:tcPr>
                    <a:solidFill>
                      <a:schemeClr val="accent2">
                        <a:lumMod val="40000"/>
                        <a:lumOff val="60000"/>
                      </a:schemeClr>
                    </a:solidFill>
                  </a:tcPr>
                </a:tc>
                <a:extLst>
                  <a:ext uri="{0D108BD9-81ED-4DB2-BD59-A6C34878D82A}">
                    <a16:rowId xmlns:a16="http://schemas.microsoft.com/office/drawing/2014/main" val="716195670"/>
                  </a:ext>
                </a:extLst>
              </a:tr>
              <a:tr h="378383">
                <a:tc>
                  <a:txBody>
                    <a:bodyPr/>
                    <a:lstStyle/>
                    <a:p>
                      <a:r>
                        <a:rPr lang="en-US" sz="1200" dirty="0"/>
                        <a:t>C</a:t>
                      </a:r>
                    </a:p>
                  </a:txBody>
                  <a:tcPr/>
                </a:tc>
                <a:tc>
                  <a:txBody>
                    <a:bodyPr/>
                    <a:lstStyle/>
                    <a:p>
                      <a:r>
                        <a:rPr lang="en-US" sz="1200" dirty="0"/>
                        <a:t>10</a:t>
                      </a:r>
                    </a:p>
                  </a:txBody>
                  <a:tcPr/>
                </a:tc>
                <a:tc>
                  <a:txBody>
                    <a:bodyPr/>
                    <a:lstStyle/>
                    <a:p>
                      <a:r>
                        <a:rPr lang="en-US" sz="1200" dirty="0"/>
                        <a:t>50</a:t>
                      </a:r>
                    </a:p>
                  </a:txBody>
                  <a:tcPr/>
                </a:tc>
                <a:tc>
                  <a:txBody>
                    <a:bodyPr/>
                    <a:lstStyle/>
                    <a:p>
                      <a:r>
                        <a:rPr lang="en-US" sz="1200" b="1" dirty="0">
                          <a:solidFill>
                            <a:srgbClr val="7030A0"/>
                          </a:solidFill>
                        </a:rPr>
                        <a:t>Produced</a:t>
                      </a:r>
                    </a:p>
                  </a:txBody>
                  <a:tcPr/>
                </a:tc>
                <a:extLst>
                  <a:ext uri="{0D108BD9-81ED-4DB2-BD59-A6C34878D82A}">
                    <a16:rowId xmlns:a16="http://schemas.microsoft.com/office/drawing/2014/main" val="2057834171"/>
                  </a:ext>
                </a:extLst>
              </a:tr>
              <a:tr h="378383">
                <a:tc>
                  <a:txBody>
                    <a:bodyPr/>
                    <a:lstStyle/>
                    <a:p>
                      <a:r>
                        <a:rPr lang="en-US" sz="1200" dirty="0"/>
                        <a:t>D</a:t>
                      </a:r>
                    </a:p>
                  </a:txBody>
                  <a:tcPr>
                    <a:solidFill>
                      <a:srgbClr val="FF2F92">
                        <a:alpha val="23922"/>
                      </a:srgbClr>
                    </a:solidFill>
                  </a:tcPr>
                </a:tc>
                <a:tc>
                  <a:txBody>
                    <a:bodyPr/>
                    <a:lstStyle/>
                    <a:p>
                      <a:r>
                        <a:rPr lang="en-US" sz="1200" dirty="0"/>
                        <a:t>10</a:t>
                      </a:r>
                    </a:p>
                  </a:txBody>
                  <a:tcPr>
                    <a:solidFill>
                      <a:srgbClr val="FF2F92">
                        <a:alpha val="23922"/>
                      </a:srgbClr>
                    </a:solidFill>
                  </a:tcPr>
                </a:tc>
                <a:tc>
                  <a:txBody>
                    <a:bodyPr/>
                    <a:lstStyle/>
                    <a:p>
                      <a:r>
                        <a:rPr lang="en-US" sz="1200" dirty="0"/>
                        <a:t>10</a:t>
                      </a:r>
                    </a:p>
                  </a:txBody>
                  <a:tcPr>
                    <a:solidFill>
                      <a:srgbClr val="FF2F92">
                        <a:alpha val="23922"/>
                      </a:srgbClr>
                    </a:solidFill>
                  </a:tcPr>
                </a:tc>
                <a:tc>
                  <a:txBody>
                    <a:bodyPr/>
                    <a:lstStyle/>
                    <a:p>
                      <a:r>
                        <a:rPr lang="en-US" sz="1200" b="1" dirty="0">
                          <a:solidFill>
                            <a:srgbClr val="FF2F92"/>
                          </a:solidFill>
                        </a:rPr>
                        <a:t>Unchanging</a:t>
                      </a:r>
                    </a:p>
                  </a:txBody>
                  <a:tcPr>
                    <a:solidFill>
                      <a:srgbClr val="FF2F92">
                        <a:alpha val="23922"/>
                      </a:srgbClr>
                    </a:solidFill>
                  </a:tcPr>
                </a:tc>
                <a:extLst>
                  <a:ext uri="{0D108BD9-81ED-4DB2-BD59-A6C34878D82A}">
                    <a16:rowId xmlns:a16="http://schemas.microsoft.com/office/drawing/2014/main" val="3985147620"/>
                  </a:ext>
                </a:extLst>
              </a:tr>
              <a:tr h="378383">
                <a:tc>
                  <a:txBody>
                    <a:bodyPr/>
                    <a:lstStyle/>
                    <a:p>
                      <a:r>
                        <a:rPr lang="en-US" sz="1200" dirty="0"/>
                        <a:t>E</a:t>
                      </a:r>
                    </a:p>
                  </a:txBody>
                  <a:tcPr>
                    <a:solidFill>
                      <a:schemeClr val="accent2">
                        <a:lumMod val="40000"/>
                        <a:lumOff val="60000"/>
                      </a:schemeClr>
                    </a:solidFill>
                  </a:tcPr>
                </a:tc>
                <a:tc>
                  <a:txBody>
                    <a:bodyPr/>
                    <a:lstStyle/>
                    <a:p>
                      <a:r>
                        <a:rPr lang="en-US" sz="1200" dirty="0"/>
                        <a:t>50</a:t>
                      </a:r>
                    </a:p>
                  </a:txBody>
                  <a:tcPr>
                    <a:solidFill>
                      <a:schemeClr val="accent2">
                        <a:lumMod val="40000"/>
                        <a:lumOff val="60000"/>
                      </a:schemeClr>
                    </a:solidFill>
                  </a:tcPr>
                </a:tc>
                <a:tc>
                  <a:txBody>
                    <a:bodyPr/>
                    <a:lstStyle/>
                    <a:p>
                      <a:r>
                        <a:rPr lang="en-US" sz="1200" dirty="0"/>
                        <a:t>3</a:t>
                      </a:r>
                    </a:p>
                  </a:txBody>
                  <a:tcPr>
                    <a:solidFill>
                      <a:schemeClr val="accent2">
                        <a:lumMod val="40000"/>
                        <a:lumOff val="60000"/>
                      </a:schemeClr>
                    </a:solidFill>
                  </a:tcPr>
                </a:tc>
                <a:tc>
                  <a:txBody>
                    <a:bodyPr/>
                    <a:lstStyle/>
                    <a:p>
                      <a:r>
                        <a:rPr lang="en-US" sz="1200" b="1" dirty="0">
                          <a:solidFill>
                            <a:schemeClr val="accent2">
                              <a:lumMod val="75000"/>
                            </a:schemeClr>
                          </a:solidFill>
                        </a:rPr>
                        <a:t>Consumed</a:t>
                      </a:r>
                    </a:p>
                  </a:txBody>
                  <a:tcPr>
                    <a:solidFill>
                      <a:schemeClr val="accent2">
                        <a:lumMod val="40000"/>
                        <a:lumOff val="60000"/>
                      </a:schemeClr>
                    </a:solidFill>
                  </a:tcPr>
                </a:tc>
                <a:extLst>
                  <a:ext uri="{0D108BD9-81ED-4DB2-BD59-A6C34878D82A}">
                    <a16:rowId xmlns:a16="http://schemas.microsoft.com/office/drawing/2014/main" val="2023687986"/>
                  </a:ext>
                </a:extLst>
              </a:tr>
            </a:tbl>
          </a:graphicData>
        </a:graphic>
      </p:graphicFrame>
      <p:sp>
        <p:nvSpPr>
          <p:cNvPr id="7" name="TextBox 6">
            <a:extLst>
              <a:ext uri="{FF2B5EF4-FFF2-40B4-BE49-F238E27FC236}">
                <a16:creationId xmlns:a16="http://schemas.microsoft.com/office/drawing/2014/main" id="{8D2C36CC-95BB-997E-9C18-DFE608A7E58D}"/>
              </a:ext>
            </a:extLst>
          </p:cNvPr>
          <p:cNvSpPr txBox="1"/>
          <p:nvPr/>
        </p:nvSpPr>
        <p:spPr>
          <a:xfrm>
            <a:off x="6422736" y="4974257"/>
            <a:ext cx="3242106" cy="369332"/>
          </a:xfrm>
          <a:prstGeom prst="rect">
            <a:avLst/>
          </a:prstGeom>
          <a:noFill/>
        </p:spPr>
        <p:txBody>
          <a:bodyPr wrap="none" rtlCol="0">
            <a:spAutoFit/>
          </a:bodyPr>
          <a:lstStyle/>
          <a:p>
            <a:r>
              <a:rPr lang="en-US" dirty="0"/>
              <a:t>Add the following as constraints:</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B1DA334-7605-7EDF-D081-F4780E8DBA92}"/>
                  </a:ext>
                </a:extLst>
              </p:cNvPr>
              <p:cNvSpPr txBox="1"/>
              <p:nvPr/>
            </p:nvSpPr>
            <p:spPr>
              <a:xfrm>
                <a:off x="6507301" y="5558986"/>
                <a:ext cx="4475712" cy="1104726"/>
              </a:xfrm>
              <a:prstGeom prst="rect">
                <a:avLst/>
              </a:prstGeom>
              <a:noFill/>
            </p:spPr>
            <p:txBody>
              <a:bodyPr wrap="none" rtlCol="0">
                <a:spAutoFit/>
              </a:bodyPr>
              <a:lstStyle/>
              <a:p>
                <a14:m>
                  <m:oMath xmlns:m="http://schemas.openxmlformats.org/officeDocument/2006/math">
                    <m:nary>
                      <m:naryPr>
                        <m:chr m:val="∑"/>
                        <m:supHide m:val="on"/>
                        <m:ctrlPr>
                          <a:rPr lang="en-CA" sz="1800" b="0" i="1" smtClean="0">
                            <a:solidFill>
                              <a:schemeClr val="accent2">
                                <a:lumMod val="75000"/>
                              </a:schemeClr>
                            </a:solidFill>
                            <a:latin typeface="Cambria Math" panose="02040503050406030204" pitchFamily="18" charset="0"/>
                          </a:rPr>
                        </m:ctrlPr>
                      </m:naryPr>
                      <m:sub>
                        <m:r>
                          <m:rPr>
                            <m:brk m:alnAt="7"/>
                          </m:rPr>
                          <a:rPr lang="en-CA" sz="1800" b="0" i="1" smtClean="0">
                            <a:solidFill>
                              <a:schemeClr val="accent2">
                                <a:lumMod val="75000"/>
                              </a:schemeClr>
                            </a:solidFill>
                            <a:latin typeface="Cambria Math" panose="02040503050406030204" pitchFamily="18" charset="0"/>
                          </a:rPr>
                          <m:t>𝑘</m:t>
                        </m:r>
                        <m:r>
                          <a:rPr lang="en-CA" sz="1800" b="0" i="1" smtClean="0">
                            <a:solidFill>
                              <a:schemeClr val="accent2">
                                <a:lumMod val="75000"/>
                              </a:schemeClr>
                            </a:solidFill>
                            <a:latin typeface="Cambria Math" panose="02040503050406030204" pitchFamily="18" charset="0"/>
                            <a:ea typeface="Cambria Math" panose="02040503050406030204" pitchFamily="18" charset="0"/>
                          </a:rPr>
                          <m:t>∈</m:t>
                        </m:r>
                        <m:r>
                          <a:rPr lang="en-CA" sz="1800" b="0" i="1" smtClean="0">
                            <a:solidFill>
                              <a:schemeClr val="accent2">
                                <a:lumMod val="75000"/>
                              </a:schemeClr>
                            </a:solidFill>
                            <a:latin typeface="Cambria Math" panose="02040503050406030204" pitchFamily="18" charset="0"/>
                            <a:ea typeface="Cambria Math" panose="02040503050406030204" pitchFamily="18" charset="0"/>
                          </a:rPr>
                          <m:t>𝐾</m:t>
                        </m:r>
                      </m:sub>
                      <m:sup/>
                      <m:e>
                        <m:sSubSup>
                          <m:sSubSupPr>
                            <m:ctrlPr>
                              <a:rPr lang="en-CA" sz="1800" b="0" i="1" smtClean="0">
                                <a:solidFill>
                                  <a:schemeClr val="accent2">
                                    <a:lumMod val="75000"/>
                                  </a:schemeClr>
                                </a:solidFill>
                                <a:latin typeface="Cambria Math" panose="02040503050406030204" pitchFamily="18" charset="0"/>
                              </a:rPr>
                            </m:ctrlPr>
                          </m:sSubSupPr>
                          <m:e>
                            <m:r>
                              <a:rPr lang="en-CA" sz="1800" b="0" i="1" smtClean="0">
                                <a:solidFill>
                                  <a:schemeClr val="accent2">
                                    <a:lumMod val="75000"/>
                                  </a:schemeClr>
                                </a:solidFill>
                                <a:latin typeface="Cambria Math" panose="02040503050406030204" pitchFamily="18" charset="0"/>
                              </a:rPr>
                              <m:t>𝑉</m:t>
                            </m:r>
                          </m:e>
                          <m:sub>
                            <m:r>
                              <a:rPr lang="en-CA" sz="1800" b="0" i="1" smtClean="0">
                                <a:solidFill>
                                  <a:schemeClr val="accent2">
                                    <a:lumMod val="75000"/>
                                  </a:schemeClr>
                                </a:solidFill>
                                <a:latin typeface="Cambria Math" panose="02040503050406030204" pitchFamily="18" charset="0"/>
                              </a:rPr>
                              <m:t>𝑒𝑥</m:t>
                            </m:r>
                            <m:r>
                              <a:rPr lang="en-CA" sz="1800" b="0" i="1" smtClean="0">
                                <a:solidFill>
                                  <a:schemeClr val="accent2">
                                    <a:lumMod val="75000"/>
                                  </a:schemeClr>
                                </a:solidFill>
                                <a:latin typeface="Cambria Math" panose="02040503050406030204" pitchFamily="18" charset="0"/>
                              </a:rPr>
                              <m:t>(</m:t>
                            </m:r>
                            <m:r>
                              <a:rPr lang="en-CA" sz="1800" b="0" i="1" smtClean="0">
                                <a:solidFill>
                                  <a:schemeClr val="accent2">
                                    <a:lumMod val="75000"/>
                                  </a:schemeClr>
                                </a:solidFill>
                                <a:latin typeface="Cambria Math" panose="02040503050406030204" pitchFamily="18" charset="0"/>
                              </a:rPr>
                              <m:t>𝑖</m:t>
                            </m:r>
                            <m:r>
                              <a:rPr lang="en-CA" sz="1800" b="0" i="1" smtClean="0">
                                <a:solidFill>
                                  <a:schemeClr val="accent2">
                                    <a:lumMod val="75000"/>
                                  </a:schemeClr>
                                </a:solidFill>
                                <a:latin typeface="Cambria Math" panose="02040503050406030204" pitchFamily="18" charset="0"/>
                              </a:rPr>
                              <m:t>)</m:t>
                            </m:r>
                          </m:sub>
                          <m:sup>
                            <m:r>
                              <a:rPr lang="en-CA" sz="1800" b="0" i="1" smtClean="0">
                                <a:solidFill>
                                  <a:schemeClr val="accent2">
                                    <a:lumMod val="75000"/>
                                  </a:schemeClr>
                                </a:solidFill>
                                <a:latin typeface="Cambria Math" panose="02040503050406030204" pitchFamily="18" charset="0"/>
                              </a:rPr>
                              <m:t>𝑘</m:t>
                            </m:r>
                          </m:sup>
                        </m:sSubSup>
                        <m:r>
                          <a:rPr lang="en-CA" sz="1800" b="0" i="1" smtClean="0">
                            <a:solidFill>
                              <a:schemeClr val="accent2">
                                <a:lumMod val="75000"/>
                              </a:schemeClr>
                            </a:solidFill>
                            <a:latin typeface="Cambria Math" panose="02040503050406030204" pitchFamily="18" charset="0"/>
                          </a:rPr>
                          <m:t>=(10−30</m:t>
                        </m:r>
                      </m:e>
                    </m:nary>
                  </m:oMath>
                </a14:m>
                <a:r>
                  <a:rPr lang="en-US" dirty="0">
                    <a:solidFill>
                      <a:schemeClr val="accent2">
                        <a:lumMod val="75000"/>
                      </a:schemeClr>
                    </a:solidFill>
                  </a:rPr>
                  <a:t>)μ	for metabolite B</a:t>
                </a:r>
              </a:p>
              <a:p>
                <a14:m>
                  <m:oMath xmlns:m="http://schemas.openxmlformats.org/officeDocument/2006/math">
                    <m:nary>
                      <m:naryPr>
                        <m:chr m:val="∑"/>
                        <m:supHide m:val="on"/>
                        <m:ctrlPr>
                          <a:rPr lang="en-CA" sz="1800" b="0" i="1" smtClean="0">
                            <a:solidFill>
                              <a:srgbClr val="FF2F92"/>
                            </a:solidFill>
                            <a:latin typeface="Cambria Math" panose="02040503050406030204" pitchFamily="18" charset="0"/>
                          </a:rPr>
                        </m:ctrlPr>
                      </m:naryPr>
                      <m:sub>
                        <m:r>
                          <m:rPr>
                            <m:brk m:alnAt="7"/>
                          </m:rPr>
                          <a:rPr lang="en-CA" sz="1800" b="0" i="1" smtClean="0">
                            <a:solidFill>
                              <a:srgbClr val="FF2F92"/>
                            </a:solidFill>
                            <a:latin typeface="Cambria Math" panose="02040503050406030204" pitchFamily="18" charset="0"/>
                          </a:rPr>
                          <m:t>𝑘</m:t>
                        </m:r>
                        <m:r>
                          <a:rPr lang="en-CA" sz="1800" b="0" i="1" smtClean="0">
                            <a:solidFill>
                              <a:srgbClr val="FF2F92"/>
                            </a:solidFill>
                            <a:latin typeface="Cambria Math" panose="02040503050406030204" pitchFamily="18" charset="0"/>
                            <a:ea typeface="Cambria Math" panose="02040503050406030204" pitchFamily="18" charset="0"/>
                          </a:rPr>
                          <m:t>∈</m:t>
                        </m:r>
                        <m:r>
                          <a:rPr lang="en-CA" sz="1800" b="0" i="1" smtClean="0">
                            <a:solidFill>
                              <a:srgbClr val="FF2F92"/>
                            </a:solidFill>
                            <a:latin typeface="Cambria Math" panose="02040503050406030204" pitchFamily="18" charset="0"/>
                            <a:ea typeface="Cambria Math" panose="02040503050406030204" pitchFamily="18" charset="0"/>
                          </a:rPr>
                          <m:t>𝐾</m:t>
                        </m:r>
                      </m:sub>
                      <m:sup/>
                      <m:e>
                        <m:sSubSup>
                          <m:sSubSupPr>
                            <m:ctrlPr>
                              <a:rPr lang="en-CA" sz="1800" b="0" i="1" smtClean="0">
                                <a:solidFill>
                                  <a:srgbClr val="FF2F92"/>
                                </a:solidFill>
                                <a:latin typeface="Cambria Math" panose="02040503050406030204" pitchFamily="18" charset="0"/>
                              </a:rPr>
                            </m:ctrlPr>
                          </m:sSubSupPr>
                          <m:e>
                            <m:r>
                              <a:rPr lang="en-CA" sz="1800" b="0" i="1" smtClean="0">
                                <a:solidFill>
                                  <a:srgbClr val="FF2F92"/>
                                </a:solidFill>
                                <a:latin typeface="Cambria Math" panose="02040503050406030204" pitchFamily="18" charset="0"/>
                              </a:rPr>
                              <m:t>𝑉</m:t>
                            </m:r>
                          </m:e>
                          <m:sub>
                            <m:r>
                              <a:rPr lang="en-CA" sz="1800" b="0" i="1" smtClean="0">
                                <a:solidFill>
                                  <a:srgbClr val="FF2F92"/>
                                </a:solidFill>
                                <a:latin typeface="Cambria Math" panose="02040503050406030204" pitchFamily="18" charset="0"/>
                              </a:rPr>
                              <m:t>𝑒𝑥</m:t>
                            </m:r>
                            <m:r>
                              <a:rPr lang="en-CA" sz="1800" b="0" i="1" smtClean="0">
                                <a:solidFill>
                                  <a:srgbClr val="FF2F92"/>
                                </a:solidFill>
                                <a:latin typeface="Cambria Math" panose="02040503050406030204" pitchFamily="18" charset="0"/>
                              </a:rPr>
                              <m:t>(</m:t>
                            </m:r>
                            <m:r>
                              <a:rPr lang="en-CA" sz="1800" b="0" i="1" smtClean="0">
                                <a:solidFill>
                                  <a:srgbClr val="FF2F92"/>
                                </a:solidFill>
                                <a:latin typeface="Cambria Math" panose="02040503050406030204" pitchFamily="18" charset="0"/>
                              </a:rPr>
                              <m:t>𝑖</m:t>
                            </m:r>
                            <m:r>
                              <a:rPr lang="en-CA" sz="1800" b="0" i="1" smtClean="0">
                                <a:solidFill>
                                  <a:srgbClr val="FF2F92"/>
                                </a:solidFill>
                                <a:latin typeface="Cambria Math" panose="02040503050406030204" pitchFamily="18" charset="0"/>
                              </a:rPr>
                              <m:t>)</m:t>
                            </m:r>
                          </m:sub>
                          <m:sup>
                            <m:r>
                              <a:rPr lang="en-CA" sz="1800" b="0" i="1" smtClean="0">
                                <a:solidFill>
                                  <a:srgbClr val="FF2F92"/>
                                </a:solidFill>
                                <a:latin typeface="Cambria Math" panose="02040503050406030204" pitchFamily="18" charset="0"/>
                              </a:rPr>
                              <m:t>𝑘</m:t>
                            </m:r>
                          </m:sup>
                        </m:sSubSup>
                        <m:r>
                          <a:rPr lang="en-CA" sz="1800" b="0" i="1" smtClean="0">
                            <a:solidFill>
                              <a:srgbClr val="FF2F92"/>
                            </a:solidFill>
                            <a:latin typeface="Cambria Math" panose="02040503050406030204" pitchFamily="18" charset="0"/>
                          </a:rPr>
                          <m:t>=(10−10</m:t>
                        </m:r>
                      </m:e>
                    </m:nary>
                  </m:oMath>
                </a14:m>
                <a:r>
                  <a:rPr lang="en-US" dirty="0">
                    <a:solidFill>
                      <a:srgbClr val="FF2F92"/>
                    </a:solidFill>
                  </a:rPr>
                  <a:t>)μ	for metabolite D</a:t>
                </a:r>
              </a:p>
              <a:p>
                <a14:m>
                  <m:oMath xmlns:m="http://schemas.openxmlformats.org/officeDocument/2006/math">
                    <m:nary>
                      <m:naryPr>
                        <m:chr m:val="∑"/>
                        <m:supHide m:val="on"/>
                        <m:ctrlPr>
                          <a:rPr lang="en-CA" sz="1800" b="0" i="1" smtClean="0">
                            <a:solidFill>
                              <a:schemeClr val="accent2">
                                <a:lumMod val="75000"/>
                              </a:schemeClr>
                            </a:solidFill>
                            <a:latin typeface="Cambria Math" panose="02040503050406030204" pitchFamily="18" charset="0"/>
                          </a:rPr>
                        </m:ctrlPr>
                      </m:naryPr>
                      <m:sub>
                        <m:r>
                          <m:rPr>
                            <m:brk m:alnAt="7"/>
                          </m:rPr>
                          <a:rPr lang="en-CA" sz="1800" b="0" i="1" smtClean="0">
                            <a:solidFill>
                              <a:schemeClr val="accent2">
                                <a:lumMod val="75000"/>
                              </a:schemeClr>
                            </a:solidFill>
                            <a:latin typeface="Cambria Math" panose="02040503050406030204" pitchFamily="18" charset="0"/>
                          </a:rPr>
                          <m:t>𝑘</m:t>
                        </m:r>
                        <m:r>
                          <a:rPr lang="en-CA" sz="1800" b="0" i="1" smtClean="0">
                            <a:solidFill>
                              <a:schemeClr val="accent2">
                                <a:lumMod val="75000"/>
                              </a:schemeClr>
                            </a:solidFill>
                            <a:latin typeface="Cambria Math" panose="02040503050406030204" pitchFamily="18" charset="0"/>
                            <a:ea typeface="Cambria Math" panose="02040503050406030204" pitchFamily="18" charset="0"/>
                          </a:rPr>
                          <m:t>∈</m:t>
                        </m:r>
                        <m:r>
                          <a:rPr lang="en-CA" sz="1800" b="0" i="1" smtClean="0">
                            <a:solidFill>
                              <a:schemeClr val="accent2">
                                <a:lumMod val="75000"/>
                              </a:schemeClr>
                            </a:solidFill>
                            <a:latin typeface="Cambria Math" panose="02040503050406030204" pitchFamily="18" charset="0"/>
                            <a:ea typeface="Cambria Math" panose="02040503050406030204" pitchFamily="18" charset="0"/>
                          </a:rPr>
                          <m:t>𝐾</m:t>
                        </m:r>
                      </m:sub>
                      <m:sup/>
                      <m:e>
                        <m:sSubSup>
                          <m:sSubSupPr>
                            <m:ctrlPr>
                              <a:rPr lang="en-CA" sz="1800" b="0" i="1" smtClean="0">
                                <a:solidFill>
                                  <a:schemeClr val="accent2">
                                    <a:lumMod val="75000"/>
                                  </a:schemeClr>
                                </a:solidFill>
                                <a:latin typeface="Cambria Math" panose="02040503050406030204" pitchFamily="18" charset="0"/>
                              </a:rPr>
                            </m:ctrlPr>
                          </m:sSubSupPr>
                          <m:e>
                            <m:r>
                              <a:rPr lang="en-CA" sz="1800" b="0" i="1" smtClean="0">
                                <a:solidFill>
                                  <a:schemeClr val="accent2">
                                    <a:lumMod val="75000"/>
                                  </a:schemeClr>
                                </a:solidFill>
                                <a:latin typeface="Cambria Math" panose="02040503050406030204" pitchFamily="18" charset="0"/>
                              </a:rPr>
                              <m:t>𝑉</m:t>
                            </m:r>
                          </m:e>
                          <m:sub>
                            <m:r>
                              <a:rPr lang="en-CA" sz="1800" b="0" i="1" smtClean="0">
                                <a:solidFill>
                                  <a:schemeClr val="accent2">
                                    <a:lumMod val="75000"/>
                                  </a:schemeClr>
                                </a:solidFill>
                                <a:latin typeface="Cambria Math" panose="02040503050406030204" pitchFamily="18" charset="0"/>
                              </a:rPr>
                              <m:t>𝑒𝑥</m:t>
                            </m:r>
                            <m:r>
                              <a:rPr lang="en-CA" sz="1800" b="0" i="1" smtClean="0">
                                <a:solidFill>
                                  <a:schemeClr val="accent2">
                                    <a:lumMod val="75000"/>
                                  </a:schemeClr>
                                </a:solidFill>
                                <a:latin typeface="Cambria Math" panose="02040503050406030204" pitchFamily="18" charset="0"/>
                              </a:rPr>
                              <m:t>(</m:t>
                            </m:r>
                            <m:r>
                              <a:rPr lang="en-CA" sz="1800" b="0" i="1" smtClean="0">
                                <a:solidFill>
                                  <a:schemeClr val="accent2">
                                    <a:lumMod val="75000"/>
                                  </a:schemeClr>
                                </a:solidFill>
                                <a:latin typeface="Cambria Math" panose="02040503050406030204" pitchFamily="18" charset="0"/>
                              </a:rPr>
                              <m:t>𝑖</m:t>
                            </m:r>
                            <m:r>
                              <a:rPr lang="en-CA" sz="1800" b="0" i="1" smtClean="0">
                                <a:solidFill>
                                  <a:schemeClr val="accent2">
                                    <a:lumMod val="75000"/>
                                  </a:schemeClr>
                                </a:solidFill>
                                <a:latin typeface="Cambria Math" panose="02040503050406030204" pitchFamily="18" charset="0"/>
                              </a:rPr>
                              <m:t>)</m:t>
                            </m:r>
                          </m:sub>
                          <m:sup>
                            <m:r>
                              <a:rPr lang="en-CA" sz="1800" b="0" i="1" smtClean="0">
                                <a:solidFill>
                                  <a:schemeClr val="accent2">
                                    <a:lumMod val="75000"/>
                                  </a:schemeClr>
                                </a:solidFill>
                                <a:latin typeface="Cambria Math" panose="02040503050406030204" pitchFamily="18" charset="0"/>
                              </a:rPr>
                              <m:t>𝑘</m:t>
                            </m:r>
                          </m:sup>
                        </m:sSubSup>
                        <m:r>
                          <a:rPr lang="en-CA" sz="1800" b="0" i="1" smtClean="0">
                            <a:solidFill>
                              <a:schemeClr val="accent2">
                                <a:lumMod val="75000"/>
                              </a:schemeClr>
                            </a:solidFill>
                            <a:latin typeface="Cambria Math" panose="02040503050406030204" pitchFamily="18" charset="0"/>
                          </a:rPr>
                          <m:t>=(3−50</m:t>
                        </m:r>
                      </m:e>
                    </m:nary>
                  </m:oMath>
                </a14:m>
                <a:r>
                  <a:rPr lang="en-US" dirty="0">
                    <a:solidFill>
                      <a:schemeClr val="accent2">
                        <a:lumMod val="75000"/>
                      </a:schemeClr>
                    </a:solidFill>
                  </a:rPr>
                  <a:t>)μ	for metabolite E</a:t>
                </a:r>
              </a:p>
            </p:txBody>
          </p:sp>
        </mc:Choice>
        <mc:Fallback xmlns="">
          <p:sp>
            <p:nvSpPr>
              <p:cNvPr id="9" name="TextBox 8">
                <a:extLst>
                  <a:ext uri="{FF2B5EF4-FFF2-40B4-BE49-F238E27FC236}">
                    <a16:creationId xmlns:a16="http://schemas.microsoft.com/office/drawing/2014/main" id="{2B1DA334-7605-7EDF-D081-F4780E8DBA92}"/>
                  </a:ext>
                </a:extLst>
              </p:cNvPr>
              <p:cNvSpPr txBox="1">
                <a:spLocks noRot="1" noChangeAspect="1" noMove="1" noResize="1" noEditPoints="1" noAdjustHandles="1" noChangeArrowheads="1" noChangeShapeType="1" noTextEdit="1"/>
              </p:cNvSpPr>
              <p:nvPr/>
            </p:nvSpPr>
            <p:spPr>
              <a:xfrm>
                <a:off x="6507301" y="5558986"/>
                <a:ext cx="4475712" cy="1104726"/>
              </a:xfrm>
              <a:prstGeom prst="rect">
                <a:avLst/>
              </a:prstGeom>
              <a:blipFill>
                <a:blip r:embed="rId3"/>
                <a:stretch>
                  <a:fillRect l="-7082" t="-35227" r="-567" b="-52273"/>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5D00A76C-C012-BE16-9820-9C50F83373D5}"/>
              </a:ext>
            </a:extLst>
          </p:cNvPr>
          <p:cNvGrpSpPr/>
          <p:nvPr/>
        </p:nvGrpSpPr>
        <p:grpSpPr>
          <a:xfrm>
            <a:off x="232427" y="1185925"/>
            <a:ext cx="5689970" cy="5428023"/>
            <a:chOff x="321072" y="972840"/>
            <a:chExt cx="5689970" cy="5428023"/>
          </a:xfrm>
        </p:grpSpPr>
        <p:grpSp>
          <p:nvGrpSpPr>
            <p:cNvPr id="11" name="Group 10">
              <a:extLst>
                <a:ext uri="{FF2B5EF4-FFF2-40B4-BE49-F238E27FC236}">
                  <a16:creationId xmlns:a16="http://schemas.microsoft.com/office/drawing/2014/main" id="{AA9E665A-6481-19CC-7719-3D23014A06BA}"/>
                </a:ext>
              </a:extLst>
            </p:cNvPr>
            <p:cNvGrpSpPr/>
            <p:nvPr/>
          </p:nvGrpSpPr>
          <p:grpSpPr>
            <a:xfrm>
              <a:off x="321072" y="972840"/>
              <a:ext cx="5689970" cy="5428023"/>
              <a:chOff x="257490" y="466979"/>
              <a:chExt cx="5689970" cy="5428023"/>
            </a:xfrm>
          </p:grpSpPr>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54479DC-6B70-F648-4639-7799E561FD6C}"/>
                      </a:ext>
                    </a:extLst>
                  </p:cNvPr>
                  <p:cNvSpPr txBox="1"/>
                  <p:nvPr/>
                </p:nvSpPr>
                <p:spPr>
                  <a:xfrm>
                    <a:off x="2062312" y="1746719"/>
                    <a:ext cx="1259767" cy="65928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1400" i="1" smtClean="0">
                                  <a:latin typeface="Cambria Math" panose="02040503050406030204" pitchFamily="18" charset="0"/>
                                </a:rPr>
                              </m:ctrlPr>
                            </m:naryPr>
                            <m:sub>
                              <m:r>
                                <m:rPr>
                                  <m:brk m:alnAt="7"/>
                                </m:rPr>
                                <a:rPr lang="en-CA" sz="1400" b="0" i="1" smtClean="0">
                                  <a:latin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𝜖</m:t>
                              </m:r>
                              <m:sSup>
                                <m:sSupPr>
                                  <m:ctrlPr>
                                    <a:rPr lang="en-CA" sz="1400" i="1" smtClean="0">
                                      <a:latin typeface="Cambria Math" panose="02040503050406030204" pitchFamily="18" charset="0"/>
                                      <a:ea typeface="Cambria Math" panose="02040503050406030204" pitchFamily="18" charset="0"/>
                                    </a:rPr>
                                  </m:ctrlPr>
                                </m:sSupPr>
                                <m:e>
                                  <m:r>
                                    <m:rPr>
                                      <m:sty m:val="p"/>
                                    </m:rPr>
                                    <a:rPr lang="en-CA" sz="1400" b="0" i="0" smtClean="0">
                                      <a:latin typeface="Cambria Math" panose="02040503050406030204" pitchFamily="18" charset="0"/>
                                      <a:ea typeface="Cambria Math" panose="02040503050406030204" pitchFamily="18" charset="0"/>
                                    </a:rPr>
                                    <m:t>J</m:t>
                                  </m:r>
                                </m:e>
                                <m:sup>
                                  <m:r>
                                    <m:rPr>
                                      <m:sty m:val="p"/>
                                    </m:rPr>
                                    <a:rPr lang="en-CA" sz="1400" b="0" i="0" smtClean="0">
                                      <a:latin typeface="Cambria Math" panose="02040503050406030204" pitchFamily="18" charset="0"/>
                                      <a:ea typeface="Cambria Math" panose="02040503050406030204" pitchFamily="18" charset="0"/>
                                    </a:rPr>
                                    <m:t>k</m:t>
                                  </m:r>
                                </m:sup>
                              </m:sSup>
                            </m:sub>
                            <m:sup/>
                            <m:e>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𝑆</m:t>
                                  </m:r>
                                </m:e>
                                <m:sub>
                                  <m:r>
                                    <a:rPr lang="en-CA" sz="1400" b="0" i="1" smtClean="0">
                                      <a:latin typeface="Cambria Math" panose="02040503050406030204" pitchFamily="18" charset="0"/>
                                    </a:rPr>
                                    <m:t>𝑖𝑗</m:t>
                                  </m:r>
                                </m:sub>
                                <m:sup>
                                  <m:r>
                                    <a:rPr lang="en-CA" sz="1400" b="0" i="1" smtClean="0">
                                      <a:latin typeface="Cambria Math" panose="02040503050406030204" pitchFamily="18" charset="0"/>
                                    </a:rPr>
                                    <m:t>𝑘</m:t>
                                  </m:r>
                                </m:sup>
                              </m:sSubSup>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𝑗</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=0</m:t>
                              </m:r>
                            </m:e>
                          </m:nary>
                        </m:oMath>
                      </m:oMathPara>
                    </a14:m>
                    <a:endParaRPr lang="en-US" sz="1400" dirty="0"/>
                  </a:p>
                </p:txBody>
              </p:sp>
            </mc:Choice>
            <mc:Fallback xmlns="">
              <p:sp>
                <p:nvSpPr>
                  <p:cNvPr id="4" name="TextBox 3">
                    <a:extLst>
                      <a:ext uri="{FF2B5EF4-FFF2-40B4-BE49-F238E27FC236}">
                        <a16:creationId xmlns:a16="http://schemas.microsoft.com/office/drawing/2014/main" id="{D81935BA-F004-4C0F-C563-4B1413797EDE}"/>
                      </a:ext>
                    </a:extLst>
                  </p:cNvPr>
                  <p:cNvSpPr txBox="1">
                    <a:spLocks noRot="1" noChangeAspect="1" noMove="1" noResize="1" noEditPoints="1" noAdjustHandles="1" noChangeArrowheads="1" noChangeShapeType="1" noTextEdit="1"/>
                  </p:cNvSpPr>
                  <p:nvPr/>
                </p:nvSpPr>
                <p:spPr>
                  <a:xfrm>
                    <a:off x="2062312" y="1746719"/>
                    <a:ext cx="1259767" cy="659283"/>
                  </a:xfrm>
                  <a:prstGeom prst="rect">
                    <a:avLst/>
                  </a:prstGeom>
                  <a:blipFill>
                    <a:blip r:embed="rId4"/>
                    <a:stretch>
                      <a:fillRect l="-44000" t="-109434" b="-1509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CC03F56-75D1-66EE-6136-A62D0A57390A}"/>
                      </a:ext>
                    </a:extLst>
                  </p:cNvPr>
                  <p:cNvSpPr txBox="1"/>
                  <p:nvPr/>
                </p:nvSpPr>
                <p:spPr>
                  <a:xfrm>
                    <a:off x="4179169" y="1841489"/>
                    <a:ext cx="773610" cy="3115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𝑘</m:t>
                              </m:r>
                            </m:sup>
                          </m:sSup>
                        </m:oMath>
                      </m:oMathPara>
                    </a14:m>
                    <a:endParaRPr lang="en-US" sz="1400" dirty="0"/>
                  </a:p>
                </p:txBody>
              </p:sp>
            </mc:Choice>
            <mc:Fallback xmlns="">
              <p:sp>
                <p:nvSpPr>
                  <p:cNvPr id="5" name="TextBox 4">
                    <a:extLst>
                      <a:ext uri="{FF2B5EF4-FFF2-40B4-BE49-F238E27FC236}">
                        <a16:creationId xmlns:a16="http://schemas.microsoft.com/office/drawing/2014/main" id="{A7D62AD9-5B0A-61C2-9105-08BD2E202775}"/>
                      </a:ext>
                    </a:extLst>
                  </p:cNvPr>
                  <p:cNvSpPr txBox="1">
                    <a:spLocks noRot="1" noChangeAspect="1" noMove="1" noResize="1" noEditPoints="1" noAdjustHandles="1" noChangeArrowheads="1" noChangeShapeType="1" noTextEdit="1"/>
                  </p:cNvSpPr>
                  <p:nvPr/>
                </p:nvSpPr>
                <p:spPr>
                  <a:xfrm>
                    <a:off x="4179169" y="1841489"/>
                    <a:ext cx="773610" cy="31156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BB70FAE-9748-B03A-5526-EE3561012260}"/>
                      </a:ext>
                    </a:extLst>
                  </p:cNvPr>
                  <p:cNvSpPr txBox="1"/>
                  <p:nvPr/>
                </p:nvSpPr>
                <p:spPr>
                  <a:xfrm>
                    <a:off x="1800722" y="2570010"/>
                    <a:ext cx="1982594" cy="349391"/>
                  </a:xfrm>
                  <a:prstGeom prst="rect">
                    <a:avLst/>
                  </a:prstGeom>
                  <a:noFill/>
                </p:spPr>
                <p:txBody>
                  <a:bodyPr wrap="none" rtlCol="0">
                    <a:spAutoFit/>
                  </a:bodyPr>
                  <a:lstStyle/>
                  <a:p>
                    <a14:m>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𝐿𝐵</m:t>
                            </m:r>
                          </m:e>
                          <m:sub>
                            <m:r>
                              <a:rPr lang="en-CA" sz="1400" b="0" i="1" smtClean="0">
                                <a:latin typeface="Cambria Math" panose="02040503050406030204" pitchFamily="18" charset="0"/>
                              </a:rPr>
                              <m:t>𝑗</m:t>
                            </m:r>
                          </m:sub>
                          <m:sup>
                            <m:r>
                              <a:rPr lang="en-CA" sz="1400" b="0" i="1" smtClean="0">
                                <a:latin typeface="Cambria Math" panose="02040503050406030204" pitchFamily="18" charset="0"/>
                              </a:rPr>
                              <m:t>𝑘</m:t>
                            </m:r>
                          </m:sup>
                        </m:sSubSup>
                        <m:sSup>
                          <m:sSupPr>
                            <m:ctrlPr>
                              <a:rPr lang="en-US" sz="140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US" sz="1400" i="1" smtClean="0">
                            <a:latin typeface="Cambria Math" panose="02040503050406030204" pitchFamily="18" charset="0"/>
                            <a:ea typeface="Cambria Math" panose="02040503050406030204" pitchFamily="18" charset="0"/>
                          </a:rPr>
                          <m:t>≤</m:t>
                        </m:r>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𝑉</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r>
                          <a:rPr lang="en-US" sz="1400" i="1" smtClean="0">
                            <a:latin typeface="Cambria Math" panose="02040503050406030204" pitchFamily="18" charset="0"/>
                            <a:ea typeface="Cambria Math" panose="02040503050406030204" pitchFamily="18" charset="0"/>
                          </a:rPr>
                          <m:t>≤</m:t>
                        </m:r>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𝑈𝐵</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sSup>
                          <m:sSupPr>
                            <m:ctrlPr>
                              <a:rPr lang="en-US" sz="140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𝑋</m:t>
                            </m:r>
                          </m:e>
                          <m:sup>
                            <m:r>
                              <a:rPr lang="en-CA" sz="1400" b="0" i="1" smtClean="0">
                                <a:latin typeface="Cambria Math" panose="02040503050406030204" pitchFamily="18" charset="0"/>
                                <a:ea typeface="Cambria Math" panose="02040503050406030204" pitchFamily="18" charset="0"/>
                              </a:rPr>
                              <m:t>𝑘</m:t>
                            </m:r>
                          </m:sup>
                        </m:sSup>
                      </m:oMath>
                    </a14:m>
                    <a:r>
                      <a:rPr lang="en-US" sz="1400" dirty="0"/>
                      <a:t>,</a:t>
                    </a:r>
                  </a:p>
                </p:txBody>
              </p:sp>
            </mc:Choice>
            <mc:Fallback xmlns="">
              <p:sp>
                <p:nvSpPr>
                  <p:cNvPr id="3" name="TextBox 2">
                    <a:extLst>
                      <a:ext uri="{FF2B5EF4-FFF2-40B4-BE49-F238E27FC236}">
                        <a16:creationId xmlns:a16="http://schemas.microsoft.com/office/drawing/2014/main" id="{EF45E541-CF29-8515-4AC5-1DEAA563AD59}"/>
                      </a:ext>
                    </a:extLst>
                  </p:cNvPr>
                  <p:cNvSpPr txBox="1">
                    <a:spLocks noRot="1" noChangeAspect="1" noMove="1" noResize="1" noEditPoints="1" noAdjustHandles="1" noChangeArrowheads="1" noChangeShapeType="1" noTextEdit="1"/>
                  </p:cNvSpPr>
                  <p:nvPr/>
                </p:nvSpPr>
                <p:spPr>
                  <a:xfrm>
                    <a:off x="1800722" y="2570010"/>
                    <a:ext cx="1982594" cy="349391"/>
                  </a:xfrm>
                  <a:prstGeom prst="rect">
                    <a:avLst/>
                  </a:prstGeom>
                  <a:blipFill>
                    <a:blip r:embed="rId6"/>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AAEECC3-BF61-455A-E3F8-12E0BFA548CB}"/>
                      </a:ext>
                    </a:extLst>
                  </p:cNvPr>
                  <p:cNvSpPr txBox="1"/>
                  <p:nvPr/>
                </p:nvSpPr>
                <p:spPr>
                  <a:xfrm>
                    <a:off x="4174361" y="2544233"/>
                    <a:ext cx="778418" cy="3115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𝐽</m:t>
                              </m:r>
                            </m:e>
                            <m:sup>
                              <m:r>
                                <a:rPr lang="en-CA" sz="1400" b="0" i="1" smtClean="0">
                                  <a:latin typeface="Cambria Math" panose="02040503050406030204" pitchFamily="18" charset="0"/>
                                  <a:ea typeface="Cambria Math" panose="02040503050406030204" pitchFamily="18" charset="0"/>
                                </a:rPr>
                                <m:t>𝑘</m:t>
                              </m:r>
                            </m:sup>
                          </m:sSup>
                        </m:oMath>
                      </m:oMathPara>
                    </a14:m>
                    <a:endParaRPr lang="en-US" sz="1400" dirty="0"/>
                  </a:p>
                </p:txBody>
              </p:sp>
            </mc:Choice>
            <mc:Fallback xmlns="">
              <p:sp>
                <p:nvSpPr>
                  <p:cNvPr id="6" name="TextBox 5">
                    <a:extLst>
                      <a:ext uri="{FF2B5EF4-FFF2-40B4-BE49-F238E27FC236}">
                        <a16:creationId xmlns:a16="http://schemas.microsoft.com/office/drawing/2014/main" id="{CF9B08F7-CFB1-9D82-11F3-DD87259BDF8A}"/>
                      </a:ext>
                    </a:extLst>
                  </p:cNvPr>
                  <p:cNvSpPr txBox="1">
                    <a:spLocks noRot="1" noChangeAspect="1" noMove="1" noResize="1" noEditPoints="1" noAdjustHandles="1" noChangeArrowheads="1" noChangeShapeType="1" noTextEdit="1"/>
                  </p:cNvSpPr>
                  <p:nvPr/>
                </p:nvSpPr>
                <p:spPr>
                  <a:xfrm>
                    <a:off x="4174361" y="2544233"/>
                    <a:ext cx="778418" cy="311560"/>
                  </a:xfrm>
                  <a:prstGeom prst="rect">
                    <a:avLst/>
                  </a:prstGeom>
                  <a:blipFill>
                    <a:blip r:embed="rId7"/>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38B4E66-84AC-2B2C-0A7D-08059785D36E}"/>
                      </a:ext>
                    </a:extLst>
                  </p:cNvPr>
                  <p:cNvSpPr txBox="1"/>
                  <p:nvPr/>
                </p:nvSpPr>
                <p:spPr>
                  <a:xfrm>
                    <a:off x="1928741" y="3098019"/>
                    <a:ext cx="1407885" cy="3250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𝑏𝑖𝑜𝑚𝑎𝑠𝑠</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m:t>
                          </m:r>
                          <m:sSup>
                            <m:sSupPr>
                              <m:ctrlPr>
                                <a:rPr lang="en-CA" sz="1400" b="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CA" sz="1400" b="0" i="1" smtClean="0">
                              <a:latin typeface="Cambria Math" panose="02040503050406030204" pitchFamily="18" charset="0"/>
                              <a:ea typeface="Cambria Math" panose="02040503050406030204" pitchFamily="18" charset="0"/>
                            </a:rPr>
                            <m:t>𝜇</m:t>
                          </m:r>
                        </m:oMath>
                      </m:oMathPara>
                    </a14:m>
                    <a:endParaRPr lang="en-US" sz="1400" dirty="0"/>
                  </a:p>
                </p:txBody>
              </p:sp>
            </mc:Choice>
            <mc:Fallback xmlns="">
              <p:sp>
                <p:nvSpPr>
                  <p:cNvPr id="7" name="TextBox 6">
                    <a:extLst>
                      <a:ext uri="{FF2B5EF4-FFF2-40B4-BE49-F238E27FC236}">
                        <a16:creationId xmlns:a16="http://schemas.microsoft.com/office/drawing/2014/main" id="{48C7C5EA-078E-A729-EA3E-F97A633542E8}"/>
                      </a:ext>
                    </a:extLst>
                  </p:cNvPr>
                  <p:cNvSpPr txBox="1">
                    <a:spLocks noRot="1" noChangeAspect="1" noMove="1" noResize="1" noEditPoints="1" noAdjustHandles="1" noChangeArrowheads="1" noChangeShapeType="1" noTextEdit="1"/>
                  </p:cNvSpPr>
                  <p:nvPr/>
                </p:nvSpPr>
                <p:spPr>
                  <a:xfrm>
                    <a:off x="1928741" y="3098019"/>
                    <a:ext cx="1407885" cy="32502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1D66887-E30D-69C4-EA80-A280FAF28248}"/>
                      </a:ext>
                    </a:extLst>
                  </p:cNvPr>
                  <p:cNvSpPr txBox="1"/>
                  <p:nvPr/>
                </p:nvSpPr>
                <p:spPr>
                  <a:xfrm>
                    <a:off x="2116897" y="3601662"/>
                    <a:ext cx="1031571" cy="3115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40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0</m:t>
                          </m:r>
                        </m:oMath>
                      </m:oMathPara>
                    </a14:m>
                    <a:endParaRPr lang="en-US" sz="1400" dirty="0"/>
                  </a:p>
                </p:txBody>
              </p:sp>
            </mc:Choice>
            <mc:Fallback xmlns="">
              <p:sp>
                <p:nvSpPr>
                  <p:cNvPr id="8" name="TextBox 7">
                    <a:extLst>
                      <a:ext uri="{FF2B5EF4-FFF2-40B4-BE49-F238E27FC236}">
                        <a16:creationId xmlns:a16="http://schemas.microsoft.com/office/drawing/2014/main" id="{DFD53736-C1F2-CA87-2D6B-04B5B8C4F5D6}"/>
                      </a:ext>
                    </a:extLst>
                  </p:cNvPr>
                  <p:cNvSpPr txBox="1">
                    <a:spLocks noRot="1" noChangeAspect="1" noMove="1" noResize="1" noEditPoints="1" noAdjustHandles="1" noChangeArrowheads="1" noChangeShapeType="1" noTextEdit="1"/>
                  </p:cNvSpPr>
                  <p:nvPr/>
                </p:nvSpPr>
                <p:spPr>
                  <a:xfrm>
                    <a:off x="2116897" y="3601662"/>
                    <a:ext cx="1031571" cy="31156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E2180ED-BBA6-4492-D9DF-BAF41DD8B51A}"/>
                      </a:ext>
                    </a:extLst>
                  </p:cNvPr>
                  <p:cNvSpPr txBox="1"/>
                  <p:nvPr/>
                </p:nvSpPr>
                <p:spPr>
                  <a:xfrm>
                    <a:off x="5163399" y="2381244"/>
                    <a:ext cx="78406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oMath>
                      </m:oMathPara>
                    </a14:m>
                    <a:endParaRPr lang="en-US" sz="1400" dirty="0"/>
                  </a:p>
                </p:txBody>
              </p:sp>
            </mc:Choice>
            <mc:Fallback xmlns="">
              <p:sp>
                <p:nvSpPr>
                  <p:cNvPr id="9" name="TextBox 8">
                    <a:extLst>
                      <a:ext uri="{FF2B5EF4-FFF2-40B4-BE49-F238E27FC236}">
                        <a16:creationId xmlns:a16="http://schemas.microsoft.com/office/drawing/2014/main" id="{1AB149D9-5EFA-775D-943D-E91493264173}"/>
                      </a:ext>
                    </a:extLst>
                  </p:cNvPr>
                  <p:cNvSpPr txBox="1">
                    <a:spLocks noRot="1" noChangeAspect="1" noMove="1" noResize="1" noEditPoints="1" noAdjustHandles="1" noChangeArrowheads="1" noChangeShapeType="1" noTextEdit="1"/>
                  </p:cNvSpPr>
                  <p:nvPr/>
                </p:nvSpPr>
                <p:spPr>
                  <a:xfrm>
                    <a:off x="5163399" y="2381244"/>
                    <a:ext cx="784061" cy="30777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0D81983-6F16-2785-CE5B-0C455E62B0E3}"/>
                      </a:ext>
                    </a:extLst>
                  </p:cNvPr>
                  <p:cNvSpPr txBox="1"/>
                  <p:nvPr/>
                </p:nvSpPr>
                <p:spPr>
                  <a:xfrm>
                    <a:off x="1832597" y="4146204"/>
                    <a:ext cx="2084930" cy="6151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𝑢</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CA" sz="1400" b="0" i="1" smtClean="0">
                              <a:latin typeface="Cambria Math" panose="02040503050406030204" pitchFamily="18" charset="0"/>
                            </a:rPr>
                            <m:t>−</m:t>
                          </m:r>
                          <m:sSubSup>
                            <m:sSubSupPr>
                              <m:ctrlPr>
                                <a:rPr lang="en-CA" sz="1400" b="0" i="1" smtClean="0">
                                  <a:latin typeface="Cambria Math" panose="02040503050406030204" pitchFamily="18" charset="0"/>
                                </a:rPr>
                              </m:ctrlPr>
                            </m:sSubSupPr>
                            <m:e>
                              <m:r>
                                <a:rPr lang="en-CA" sz="1400" b="0" i="1" smtClean="0">
                                  <a:latin typeface="Cambria Math" panose="02040503050406030204" pitchFamily="18" charset="0"/>
                                </a:rPr>
                                <m:t>𝑒</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CA" sz="1400" b="0" i="1" smtClean="0">
                              <a:latin typeface="Cambria Math" panose="02040503050406030204" pitchFamily="18" charset="0"/>
                            </a:rPr>
                            <m:t>+</m:t>
                          </m:r>
                          <m:nary>
                            <m:naryPr>
                              <m:chr m:val="∑"/>
                              <m:supHide m:val="on"/>
                              <m:ctrlPr>
                                <a:rPr lang="en-CA" sz="1400" b="0" i="1" smtClean="0">
                                  <a:latin typeface="Cambria Math" panose="02040503050406030204" pitchFamily="18" charset="0"/>
                                </a:rPr>
                              </m:ctrlPr>
                            </m:naryPr>
                            <m:sub>
                              <m:r>
                                <m:rPr>
                                  <m:brk m:alnAt="7"/>
                                </m:rPr>
                                <a:rPr lang="en-CA" sz="1400" b="0" i="1" smtClean="0">
                                  <a:latin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sub>
                            <m:sup/>
                            <m:e>
                              <m:sSubSup>
                                <m:sSubSupPr>
                                  <m:ctrlPr>
                                    <a:rPr lang="en-CA" sz="1400" b="0" i="1" smtClean="0">
                                      <a:latin typeface="Cambria Math" panose="02040503050406030204" pitchFamily="18" charset="0"/>
                                    </a:rPr>
                                  </m:ctrlPr>
                                </m:sSubSupPr>
                                <m:e>
                                  <m:r>
                                    <a:rPr lang="en-CA" sz="1400" b="0" i="1" smtClean="0">
                                      <a:latin typeface="Cambria Math" panose="02040503050406030204" pitchFamily="18" charset="0"/>
                                    </a:rPr>
                                    <m:t>𝑉</m:t>
                                  </m:r>
                                </m:e>
                                <m:sub>
                                  <m:r>
                                    <a:rPr lang="en-CA" sz="1400" b="0" i="1" smtClean="0">
                                      <a:latin typeface="Cambria Math" panose="02040503050406030204" pitchFamily="18" charset="0"/>
                                    </a:rPr>
                                    <m:t>𝑒𝑥</m:t>
                                  </m:r>
                                  <m:r>
                                    <a:rPr lang="en-CA" sz="1400" b="0" i="1" smtClean="0">
                                      <a:latin typeface="Cambria Math" panose="02040503050406030204" pitchFamily="18" charset="0"/>
                                    </a:rPr>
                                    <m:t>(</m:t>
                                  </m:r>
                                  <m:r>
                                    <a:rPr lang="en-CA" sz="1400" b="0" i="1" smtClean="0">
                                      <a:latin typeface="Cambria Math" panose="02040503050406030204" pitchFamily="18" charset="0"/>
                                    </a:rPr>
                                    <m:t>𝑖</m:t>
                                  </m:r>
                                  <m:r>
                                    <a:rPr lang="en-CA" sz="1400" b="0" i="1" smtClean="0">
                                      <a:latin typeface="Cambria Math" panose="02040503050406030204" pitchFamily="18" charset="0"/>
                                    </a:rPr>
                                    <m:t>)</m:t>
                                  </m:r>
                                </m:sub>
                                <m:sup>
                                  <m:r>
                                    <a:rPr lang="en-CA" sz="1400" b="0" i="1" smtClean="0">
                                      <a:latin typeface="Cambria Math" panose="02040503050406030204" pitchFamily="18" charset="0"/>
                                    </a:rPr>
                                    <m:t>𝑘</m:t>
                                  </m:r>
                                </m:sup>
                              </m:sSubSup>
                              <m:r>
                                <a:rPr lang="en-CA" sz="1400" b="0" i="1" smtClean="0">
                                  <a:latin typeface="Cambria Math" panose="02040503050406030204" pitchFamily="18" charset="0"/>
                                </a:rPr>
                                <m:t>=0,</m:t>
                              </m:r>
                            </m:e>
                          </m:nary>
                        </m:oMath>
                      </m:oMathPara>
                    </a14:m>
                    <a:endParaRPr lang="en-US" sz="1400" dirty="0"/>
                  </a:p>
                </p:txBody>
              </p:sp>
            </mc:Choice>
            <mc:Fallback xmlns="">
              <p:sp>
                <p:nvSpPr>
                  <p:cNvPr id="10" name="TextBox 9">
                    <a:extLst>
                      <a:ext uri="{FF2B5EF4-FFF2-40B4-BE49-F238E27FC236}">
                        <a16:creationId xmlns:a16="http://schemas.microsoft.com/office/drawing/2014/main" id="{D782835D-EEF7-9EC5-9A74-D452DA6DF8C8}"/>
                      </a:ext>
                    </a:extLst>
                  </p:cNvPr>
                  <p:cNvSpPr txBox="1">
                    <a:spLocks noRot="1" noChangeAspect="1" noMove="1" noResize="1" noEditPoints="1" noAdjustHandles="1" noChangeArrowheads="1" noChangeShapeType="1" noTextEdit="1"/>
                  </p:cNvSpPr>
                  <p:nvPr/>
                </p:nvSpPr>
                <p:spPr>
                  <a:xfrm>
                    <a:off x="1832597" y="4146204"/>
                    <a:ext cx="2084930" cy="615168"/>
                  </a:xfrm>
                  <a:prstGeom prst="rect">
                    <a:avLst/>
                  </a:prstGeom>
                  <a:blipFill>
                    <a:blip r:embed="rId11"/>
                    <a:stretch>
                      <a:fillRect t="-118367" b="-17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7F41FF9-D11E-9F77-D164-CC346D4CC10A}"/>
                      </a:ext>
                    </a:extLst>
                  </p:cNvPr>
                  <p:cNvSpPr txBox="1"/>
                  <p:nvPr/>
                </p:nvSpPr>
                <p:spPr>
                  <a:xfrm>
                    <a:off x="4240912" y="4226900"/>
                    <a:ext cx="95795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𝑐𝑜𝑚</m:t>
                              </m:r>
                            </m:sup>
                          </m:sSup>
                        </m:oMath>
                      </m:oMathPara>
                    </a14:m>
                    <a:endParaRPr lang="en-US" sz="1400" dirty="0"/>
                  </a:p>
                </p:txBody>
              </p:sp>
            </mc:Choice>
            <mc:Fallback xmlns="">
              <p:sp>
                <p:nvSpPr>
                  <p:cNvPr id="11" name="TextBox 10">
                    <a:extLst>
                      <a:ext uri="{FF2B5EF4-FFF2-40B4-BE49-F238E27FC236}">
                        <a16:creationId xmlns:a16="http://schemas.microsoft.com/office/drawing/2014/main" id="{346CA0AC-D45E-7F50-7B81-90EB96BF2849}"/>
                      </a:ext>
                    </a:extLst>
                  </p:cNvPr>
                  <p:cNvSpPr txBox="1">
                    <a:spLocks noRot="1" noChangeAspect="1" noMove="1" noResize="1" noEditPoints="1" noAdjustHandles="1" noChangeArrowheads="1" noChangeShapeType="1" noTextEdit="1"/>
                  </p:cNvSpPr>
                  <p:nvPr/>
                </p:nvSpPr>
                <p:spPr>
                  <a:xfrm>
                    <a:off x="4240912" y="4226900"/>
                    <a:ext cx="957955" cy="30777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90BBEE8-CFB4-CA98-7BB5-A4E2129CFF22}"/>
                      </a:ext>
                    </a:extLst>
                  </p:cNvPr>
                  <p:cNvSpPr txBox="1"/>
                  <p:nvPr/>
                </p:nvSpPr>
                <p:spPr>
                  <a:xfrm>
                    <a:off x="1877156" y="4832441"/>
                    <a:ext cx="1155957" cy="6151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CA" sz="1400" b="0" i="1" smtClean="0">
                                  <a:latin typeface="Cambria Math" panose="02040503050406030204" pitchFamily="18" charset="0"/>
                                </a:rPr>
                              </m:ctrlPr>
                            </m:naryPr>
                            <m:sub>
                              <m:r>
                                <m:rPr>
                                  <m:brk m:alnAt="7"/>
                                </m:rPr>
                                <a:rPr lang="en-CA" sz="1400" b="0" i="1" smtClean="0">
                                  <a:latin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sub>
                            <m:sup/>
                            <m:e>
                              <m:sSup>
                                <m:sSupPr>
                                  <m:ctrlPr>
                                    <a:rPr lang="en-CA" sz="1400" b="0" i="1" smtClean="0">
                                      <a:latin typeface="Cambria Math" panose="02040503050406030204" pitchFamily="18" charset="0"/>
                                    </a:rPr>
                                  </m:ctrlPr>
                                </m:sSupPr>
                                <m:e>
                                  <m:r>
                                    <a:rPr lang="en-CA" sz="1400" b="0" i="1" smtClean="0">
                                      <a:latin typeface="Cambria Math" panose="02040503050406030204" pitchFamily="18" charset="0"/>
                                    </a:rPr>
                                    <m:t>𝑋</m:t>
                                  </m:r>
                                </m:e>
                                <m:sup>
                                  <m:r>
                                    <a:rPr lang="en-CA" sz="1400" b="0" i="1" smtClean="0">
                                      <a:latin typeface="Cambria Math" panose="02040503050406030204" pitchFamily="18" charset="0"/>
                                    </a:rPr>
                                    <m:t>𝑘</m:t>
                                  </m:r>
                                </m:sup>
                              </m:sSup>
                              <m:r>
                                <a:rPr lang="en-CA" sz="1400" b="0" i="1" smtClean="0">
                                  <a:latin typeface="Cambria Math" panose="02040503050406030204" pitchFamily="18" charset="0"/>
                                </a:rPr>
                                <m:t>=</m:t>
                              </m:r>
                              <m:sSub>
                                <m:sSubPr>
                                  <m:ctrlPr>
                                    <a:rPr lang="en-CA" sz="1400" b="0" i="1" smtClean="0">
                                      <a:latin typeface="Cambria Math" panose="02040503050406030204" pitchFamily="18" charset="0"/>
                                    </a:rPr>
                                  </m:ctrlPr>
                                </m:sSubPr>
                                <m:e>
                                  <m:r>
                                    <a:rPr lang="en-CA" sz="1400" b="0" i="1" smtClean="0">
                                      <a:latin typeface="Cambria Math" panose="02040503050406030204" pitchFamily="18" charset="0"/>
                                    </a:rPr>
                                    <m:t>𝑋</m:t>
                                  </m:r>
                                </m:e>
                                <m:sub>
                                  <m:r>
                                    <a:rPr lang="en-CA" sz="1400" b="0" i="1" smtClean="0">
                                      <a:latin typeface="Cambria Math" panose="02040503050406030204" pitchFamily="18" charset="0"/>
                                    </a:rPr>
                                    <m:t>0</m:t>
                                  </m:r>
                                </m:sub>
                              </m:sSub>
                            </m:e>
                          </m:nary>
                        </m:oMath>
                      </m:oMathPara>
                    </a14:m>
                    <a:endParaRPr lang="en-US" sz="1400" dirty="0"/>
                  </a:p>
                </p:txBody>
              </p:sp>
            </mc:Choice>
            <mc:Fallback xmlns="">
              <p:sp>
                <p:nvSpPr>
                  <p:cNvPr id="12" name="TextBox 11">
                    <a:extLst>
                      <a:ext uri="{FF2B5EF4-FFF2-40B4-BE49-F238E27FC236}">
                        <a16:creationId xmlns:a16="http://schemas.microsoft.com/office/drawing/2014/main" id="{F90B1BA6-5C46-D52F-EB50-F38F803EF518}"/>
                      </a:ext>
                    </a:extLst>
                  </p:cNvPr>
                  <p:cNvSpPr txBox="1">
                    <a:spLocks noRot="1" noChangeAspect="1" noMove="1" noResize="1" noEditPoints="1" noAdjustHandles="1" noChangeArrowheads="1" noChangeShapeType="1" noTextEdit="1"/>
                  </p:cNvSpPr>
                  <p:nvPr/>
                </p:nvSpPr>
                <p:spPr>
                  <a:xfrm>
                    <a:off x="1877156" y="4832441"/>
                    <a:ext cx="1155957" cy="615168"/>
                  </a:xfrm>
                  <a:prstGeom prst="rect">
                    <a:avLst/>
                  </a:prstGeom>
                  <a:blipFill>
                    <a:blip r:embed="rId13"/>
                    <a:stretch>
                      <a:fillRect l="-47312" t="-114000" b="-16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E9200EB-5D40-9D8F-9F4B-FD014A2CD008}"/>
                      </a:ext>
                    </a:extLst>
                  </p:cNvPr>
                  <p:cNvSpPr txBox="1"/>
                  <p:nvPr/>
                </p:nvSpPr>
                <p:spPr>
                  <a:xfrm>
                    <a:off x="1914422" y="5526401"/>
                    <a:ext cx="327334"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𝜇</m:t>
                          </m:r>
                        </m:oMath>
                      </m:oMathPara>
                    </a14:m>
                    <a:endParaRPr lang="en-US" sz="1400" dirty="0"/>
                  </a:p>
                </p:txBody>
              </p:sp>
            </mc:Choice>
            <mc:Fallback xmlns="">
              <p:sp>
                <p:nvSpPr>
                  <p:cNvPr id="13" name="TextBox 12">
                    <a:extLst>
                      <a:ext uri="{FF2B5EF4-FFF2-40B4-BE49-F238E27FC236}">
                        <a16:creationId xmlns:a16="http://schemas.microsoft.com/office/drawing/2014/main" id="{4D645FE8-E159-1794-7126-BFFF592A2580}"/>
                      </a:ext>
                    </a:extLst>
                  </p:cNvPr>
                  <p:cNvSpPr txBox="1">
                    <a:spLocks noRot="1" noChangeAspect="1" noMove="1" noResize="1" noEditPoints="1" noAdjustHandles="1" noChangeArrowheads="1" noChangeShapeType="1" noTextEdit="1"/>
                  </p:cNvSpPr>
                  <p:nvPr/>
                </p:nvSpPr>
                <p:spPr>
                  <a:xfrm>
                    <a:off x="1914422" y="5526401"/>
                    <a:ext cx="327334" cy="307777"/>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AC484A4-0680-C3A2-2BF9-F8B4B40E9B7A}"/>
                      </a:ext>
                    </a:extLst>
                  </p:cNvPr>
                  <p:cNvSpPr txBox="1"/>
                  <p:nvPr/>
                </p:nvSpPr>
                <p:spPr>
                  <a:xfrm>
                    <a:off x="2815748" y="5546528"/>
                    <a:ext cx="735330" cy="3085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r>
                                <a:rPr lang="en-CA" sz="1400" b="0" i="1" smtClean="0">
                                  <a:latin typeface="Cambria Math" panose="02040503050406030204" pitchFamily="18" charset="0"/>
                                </a:rPr>
                                <m:t>𝑒</m:t>
                              </m:r>
                            </m:e>
                            <m:sub>
                              <m:r>
                                <a:rPr lang="en-CA" sz="1400" b="0" i="1" smtClean="0">
                                  <a:latin typeface="Cambria Math" panose="02040503050406030204" pitchFamily="18" charset="0"/>
                                </a:rPr>
                                <m:t>𝑖</m:t>
                              </m:r>
                            </m:sub>
                            <m:sup>
                              <m:r>
                                <a:rPr lang="en-CA" sz="1400" b="0" i="1" smtClean="0">
                                  <a:latin typeface="Cambria Math" panose="02040503050406030204" pitchFamily="18" charset="0"/>
                                </a:rPr>
                                <m:t>𝑐</m:t>
                              </m:r>
                            </m:sup>
                          </m:sSubSup>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0</m:t>
                          </m:r>
                        </m:oMath>
                      </m:oMathPara>
                    </a14:m>
                    <a:endParaRPr lang="en-US" sz="1400" dirty="0"/>
                  </a:p>
                </p:txBody>
              </p:sp>
            </mc:Choice>
            <mc:Fallback xmlns="">
              <p:sp>
                <p:nvSpPr>
                  <p:cNvPr id="14" name="TextBox 13">
                    <a:extLst>
                      <a:ext uri="{FF2B5EF4-FFF2-40B4-BE49-F238E27FC236}">
                        <a16:creationId xmlns:a16="http://schemas.microsoft.com/office/drawing/2014/main" id="{A83FF2DF-DA44-00B3-BAF1-28854F6B2A30}"/>
                      </a:ext>
                    </a:extLst>
                  </p:cNvPr>
                  <p:cNvSpPr txBox="1">
                    <a:spLocks noRot="1" noChangeAspect="1" noMove="1" noResize="1" noEditPoints="1" noAdjustHandles="1" noChangeArrowheads="1" noChangeShapeType="1" noTextEdit="1"/>
                  </p:cNvSpPr>
                  <p:nvPr/>
                </p:nvSpPr>
                <p:spPr>
                  <a:xfrm>
                    <a:off x="2815748" y="5546528"/>
                    <a:ext cx="735330" cy="30854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95F3A1A-7488-721F-16E0-EAF8D9985E2E}"/>
                      </a:ext>
                    </a:extLst>
                  </p:cNvPr>
                  <p:cNvSpPr txBox="1"/>
                  <p:nvPr/>
                </p:nvSpPr>
                <p:spPr>
                  <a:xfrm>
                    <a:off x="3912630" y="5546528"/>
                    <a:ext cx="95795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𝑖</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𝐼</m:t>
                              </m:r>
                            </m:e>
                            <m:sup>
                              <m:r>
                                <a:rPr lang="en-CA" sz="1400" b="0" i="1" smtClean="0">
                                  <a:latin typeface="Cambria Math" panose="02040503050406030204" pitchFamily="18" charset="0"/>
                                  <a:ea typeface="Cambria Math" panose="02040503050406030204" pitchFamily="18" charset="0"/>
                                </a:rPr>
                                <m:t>𝑐𝑜𝑚</m:t>
                              </m:r>
                            </m:sup>
                          </m:sSup>
                        </m:oMath>
                      </m:oMathPara>
                    </a14:m>
                    <a:endParaRPr lang="en-US" sz="1400" dirty="0"/>
                  </a:p>
                </p:txBody>
              </p:sp>
            </mc:Choice>
            <mc:Fallback xmlns="">
              <p:sp>
                <p:nvSpPr>
                  <p:cNvPr id="15" name="TextBox 14">
                    <a:extLst>
                      <a:ext uri="{FF2B5EF4-FFF2-40B4-BE49-F238E27FC236}">
                        <a16:creationId xmlns:a16="http://schemas.microsoft.com/office/drawing/2014/main" id="{A2FBC4D0-A4BF-FF5A-15BF-E035C57424FD}"/>
                      </a:ext>
                    </a:extLst>
                  </p:cNvPr>
                  <p:cNvSpPr txBox="1">
                    <a:spLocks noRot="1" noChangeAspect="1" noMove="1" noResize="1" noEditPoints="1" noAdjustHandles="1" noChangeArrowheads="1" noChangeShapeType="1" noTextEdit="1"/>
                  </p:cNvSpPr>
                  <p:nvPr/>
                </p:nvSpPr>
                <p:spPr>
                  <a:xfrm>
                    <a:off x="3912630" y="5546528"/>
                    <a:ext cx="957955" cy="307777"/>
                  </a:xfrm>
                  <a:prstGeom prst="rect">
                    <a:avLst/>
                  </a:prstGeom>
                  <a:blipFill>
                    <a:blip r:embed="rId16"/>
                    <a:stretch>
                      <a:fillRect/>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042286C2-BA05-5A7A-4F06-B8D4ED659A17}"/>
                  </a:ext>
                </a:extLst>
              </p:cNvPr>
              <p:cNvSpPr txBox="1"/>
              <p:nvPr/>
            </p:nvSpPr>
            <p:spPr>
              <a:xfrm>
                <a:off x="3617079" y="5587225"/>
                <a:ext cx="229550" cy="307777"/>
              </a:xfrm>
              <a:prstGeom prst="rect">
                <a:avLst/>
              </a:prstGeom>
              <a:noFill/>
            </p:spPr>
            <p:txBody>
              <a:bodyPr wrap="none" rtlCol="0">
                <a:spAutoFit/>
              </a:bodyPr>
              <a:lstStyle/>
              <a:p>
                <a:r>
                  <a:rPr lang="en-US" sz="1400" dirty="0"/>
                  <a:t>,</a:t>
                </a:r>
              </a:p>
            </p:txBody>
          </p:sp>
          <p:sp>
            <p:nvSpPr>
              <p:cNvPr id="28" name="TextBox 27">
                <a:extLst>
                  <a:ext uri="{FF2B5EF4-FFF2-40B4-BE49-F238E27FC236}">
                    <a16:creationId xmlns:a16="http://schemas.microsoft.com/office/drawing/2014/main" id="{BF9337FE-3F31-E213-2970-2969459A63F1}"/>
                  </a:ext>
                </a:extLst>
              </p:cNvPr>
              <p:cNvSpPr txBox="1"/>
              <p:nvPr/>
            </p:nvSpPr>
            <p:spPr>
              <a:xfrm>
                <a:off x="2438423" y="5587225"/>
                <a:ext cx="229550" cy="307777"/>
              </a:xfrm>
              <a:prstGeom prst="rect">
                <a:avLst/>
              </a:prstGeom>
              <a:noFill/>
            </p:spPr>
            <p:txBody>
              <a:bodyPr wrap="none" rtlCol="0">
                <a:spAutoFit/>
              </a:bodyPr>
              <a:lstStyle/>
              <a:p>
                <a:r>
                  <a:rPr lang="en-US" sz="1400" dirty="0"/>
                  <a:t>,</a:t>
                </a:r>
              </a:p>
            </p:txBody>
          </p:sp>
          <p:sp>
            <p:nvSpPr>
              <p:cNvPr id="29" name="Left Bracket 28">
                <a:extLst>
                  <a:ext uri="{FF2B5EF4-FFF2-40B4-BE49-F238E27FC236}">
                    <a16:creationId xmlns:a16="http://schemas.microsoft.com/office/drawing/2014/main" id="{0DD97DB3-82E4-5A96-7774-0A171E860C7F}"/>
                  </a:ext>
                </a:extLst>
              </p:cNvPr>
              <p:cNvSpPr/>
              <p:nvPr/>
            </p:nvSpPr>
            <p:spPr>
              <a:xfrm rot="10800000">
                <a:off x="5004548" y="1057446"/>
                <a:ext cx="100580" cy="2878984"/>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CCD9B33-6E29-592C-F054-76BA968F9716}"/>
                      </a:ext>
                    </a:extLst>
                  </p:cNvPr>
                  <p:cNvSpPr txBox="1"/>
                  <p:nvPr/>
                </p:nvSpPr>
                <p:spPr>
                  <a:xfrm>
                    <a:off x="257490" y="466979"/>
                    <a:ext cx="2296719" cy="704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𝑚𝑖𝑛</m:t>
                              </m:r>
                            </m:e>
                            <m:sub>
                              <m:sSup>
                                <m:sSupPr>
                                  <m:ctrlPr>
                                    <a:rPr lang="en-US" i="1" smtClean="0">
                                      <a:latin typeface="Cambria Math" panose="02040503050406030204" pitchFamily="18" charset="0"/>
                                    </a:rPr>
                                  </m:ctrlPr>
                                </m:sSupPr>
                                <m:e>
                                  <m:r>
                                    <a:rPr lang="en-CA" b="0" i="1" smtClean="0">
                                      <a:latin typeface="Cambria Math" panose="02040503050406030204" pitchFamily="18" charset="0"/>
                                    </a:rPr>
                                    <m:t>𝑋</m:t>
                                  </m:r>
                                </m:e>
                                <m:sup>
                                  <m:r>
                                    <a:rPr lang="en-CA" b="0" i="1" smtClean="0">
                                      <a:latin typeface="Cambria Math" panose="02040503050406030204" pitchFamily="18" charset="0"/>
                                    </a:rPr>
                                    <m:t>𝑘</m:t>
                                  </m:r>
                                </m:sup>
                              </m:sSup>
                              <m:r>
                                <a:rPr lang="en-CA" b="0" i="1" smtClean="0">
                                  <a:latin typeface="Cambria Math" panose="02040503050406030204" pitchFamily="18" charset="0"/>
                                </a:rPr>
                                <m:t> </m:t>
                              </m:r>
                            </m:sub>
                          </m:sSub>
                          <m:d>
                            <m:dPr>
                              <m:begChr m:val="|"/>
                              <m:endChr m:val="|"/>
                              <m:ctrlPr>
                                <a:rPr lang="en-US" i="1" smtClean="0">
                                  <a:latin typeface="Cambria Math" panose="02040503050406030204" pitchFamily="18" charset="0"/>
                                </a:rPr>
                              </m:ctrlPr>
                            </m:dPr>
                            <m:e>
                              <m:sSup>
                                <m:sSupPr>
                                  <m:ctrlPr>
                                    <a:rPr lang="en-US" i="1" smtClean="0">
                                      <a:latin typeface="Cambria Math" panose="02040503050406030204" pitchFamily="18" charset="0"/>
                                    </a:rPr>
                                  </m:ctrlPr>
                                </m:sSupPr>
                                <m:e>
                                  <m:r>
                                    <a:rPr lang="en-CA" b="0" i="1" smtClean="0">
                                      <a:latin typeface="Cambria Math" panose="02040503050406030204" pitchFamily="18" charset="0"/>
                                    </a:rPr>
                                    <m:t>𝑋</m:t>
                                  </m:r>
                                </m:e>
                                <m:sup>
                                  <m:r>
                                    <a:rPr lang="en-CA" b="0" i="1" smtClean="0">
                                      <a:latin typeface="Cambria Math" panose="02040503050406030204" pitchFamily="18" charset="0"/>
                                    </a:rPr>
                                    <m:t>𝑘</m:t>
                                  </m:r>
                                </m:sup>
                              </m:sSup>
                              <m:r>
                                <a:rPr lang="en-CA" b="0" i="1" smtClean="0">
                                  <a:latin typeface="Cambria Math" panose="02040503050406030204" pitchFamily="18" charset="0"/>
                                </a:rPr>
                                <m:t>−</m:t>
                              </m:r>
                              <m:sSubSup>
                                <m:sSubSupPr>
                                  <m:ctrlPr>
                                    <a:rPr lang="en-CA" b="0" i="1" smtClean="0">
                                      <a:latin typeface="Cambria Math" panose="02040503050406030204" pitchFamily="18" charset="0"/>
                                    </a:rPr>
                                  </m:ctrlPr>
                                </m:sSubSupPr>
                                <m:e>
                                  <m:r>
                                    <a:rPr lang="en-CA" b="0" i="1" smtClean="0">
                                      <a:latin typeface="Cambria Math" panose="02040503050406030204" pitchFamily="18" charset="0"/>
                                    </a:rPr>
                                    <m:t>𝑋</m:t>
                                  </m:r>
                                </m:e>
                                <m:sub>
                                  <m:r>
                                    <a:rPr lang="en-CA" b="0" i="1" smtClean="0">
                                      <a:latin typeface="Cambria Math" panose="02040503050406030204" pitchFamily="18" charset="0"/>
                                    </a:rPr>
                                    <m:t>𝑒𝑥𝑝</m:t>
                                  </m:r>
                                </m:sub>
                                <m:sup>
                                  <m:r>
                                    <a:rPr lang="en-CA" b="0" i="1" smtClean="0">
                                      <a:latin typeface="Cambria Math" panose="02040503050406030204" pitchFamily="18" charset="0"/>
                                    </a:rPr>
                                    <m:t>𝑘</m:t>
                                  </m:r>
                                </m:sup>
                              </m:sSubSup>
                            </m:e>
                          </m:d>
                        </m:oMath>
                      </m:oMathPara>
                    </a14:m>
                    <a:endParaRPr lang="en-US" dirty="0"/>
                  </a:p>
                  <a:p>
                    <a:r>
                      <a:rPr lang="en-US" dirty="0"/>
                      <a:t>subject to</a:t>
                    </a:r>
                  </a:p>
                </p:txBody>
              </p:sp>
            </mc:Choice>
            <mc:Fallback xmlns="">
              <p:sp>
                <p:nvSpPr>
                  <p:cNvPr id="30" name="TextBox 29">
                    <a:extLst>
                      <a:ext uri="{FF2B5EF4-FFF2-40B4-BE49-F238E27FC236}">
                        <a16:creationId xmlns:a16="http://schemas.microsoft.com/office/drawing/2014/main" id="{5CCD9B33-6E29-592C-F054-76BA968F9716}"/>
                      </a:ext>
                    </a:extLst>
                  </p:cNvPr>
                  <p:cNvSpPr txBox="1">
                    <a:spLocks noRot="1" noChangeAspect="1" noMove="1" noResize="1" noEditPoints="1" noAdjustHandles="1" noChangeArrowheads="1" noChangeShapeType="1" noTextEdit="1"/>
                  </p:cNvSpPr>
                  <p:nvPr/>
                </p:nvSpPr>
                <p:spPr>
                  <a:xfrm>
                    <a:off x="257490" y="466979"/>
                    <a:ext cx="2296719" cy="704488"/>
                  </a:xfrm>
                  <a:prstGeom prst="rect">
                    <a:avLst/>
                  </a:prstGeom>
                  <a:blipFill>
                    <a:blip r:embed="rId17"/>
                    <a:stretch>
                      <a:fillRect l="-2198" b="-12500"/>
                    </a:stretch>
                  </a:blipFill>
                </p:spPr>
                <p:txBody>
                  <a:bodyPr/>
                  <a:lstStyle/>
                  <a:p>
                    <a:r>
                      <a:rPr lang="en-US">
                        <a:noFill/>
                      </a:rPr>
                      <a:t> </a:t>
                    </a:r>
                  </a:p>
                </p:txBody>
              </p:sp>
            </mc:Fallback>
          </mc:AlternateContent>
          <p:sp>
            <p:nvSpPr>
              <p:cNvPr id="31" name="Left Bracket 30">
                <a:extLst>
                  <a:ext uri="{FF2B5EF4-FFF2-40B4-BE49-F238E27FC236}">
                    <a16:creationId xmlns:a16="http://schemas.microsoft.com/office/drawing/2014/main" id="{998E91F9-E3F3-1B81-13A3-CBF70AC51105}"/>
                  </a:ext>
                </a:extLst>
              </p:cNvPr>
              <p:cNvSpPr/>
              <p:nvPr/>
            </p:nvSpPr>
            <p:spPr>
              <a:xfrm>
                <a:off x="1788038" y="1057733"/>
                <a:ext cx="126384" cy="2944818"/>
              </a:xfrm>
              <a:prstGeom prst="leftBracket">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sz="1400"/>
              </a:p>
            </p:txBody>
          </p:sp>
        </p:gr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C5C9E9C-0C08-954A-66F6-619512491639}"/>
                    </a:ext>
                  </a:extLst>
                </p:cNvPr>
                <p:cNvSpPr txBox="1"/>
                <p:nvPr/>
              </p:nvSpPr>
              <p:spPr>
                <a:xfrm>
                  <a:off x="2048004" y="1740398"/>
                  <a:ext cx="2959143" cy="349391"/>
                </a:xfrm>
                <a:prstGeom prst="rect">
                  <a:avLst/>
                </a:prstGeom>
                <a:noFill/>
              </p:spPr>
              <p:txBody>
                <a:bodyPr wrap="none" rtlCol="0">
                  <a:spAutoFit/>
                </a:bodyPr>
                <a:lstStyle/>
                <a:p>
                  <a14:m>
                    <m:oMath xmlns:m="http://schemas.openxmlformats.org/officeDocument/2006/math">
                      <m:sSubSup>
                        <m:sSubSupPr>
                          <m:ctrlPr>
                            <a:rPr lang="en-US" sz="140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𝑉</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𝑋</m:t>
                          </m:r>
                        </m:e>
                        <m:sup>
                          <m:r>
                            <a:rPr lang="en-CA" sz="1400" b="0" i="1" smtClean="0">
                              <a:latin typeface="Cambria Math" panose="02040503050406030204" pitchFamily="18" charset="0"/>
                              <a:ea typeface="Cambria Math" panose="02040503050406030204" pitchFamily="18" charset="0"/>
                            </a:rPr>
                            <m:t>𝑘</m:t>
                          </m:r>
                        </m:sup>
                      </m:sSup>
                      <m:sSubSup>
                        <m:sSubSupPr>
                          <m:ctrlPr>
                            <a:rPr lang="en-CA" sz="1400" b="0" i="1" smtClean="0">
                              <a:latin typeface="Cambria Math" panose="02040503050406030204" pitchFamily="18" charset="0"/>
                              <a:ea typeface="Cambria Math" panose="02040503050406030204" pitchFamily="18" charset="0"/>
                            </a:rPr>
                          </m:ctrlPr>
                        </m:sSubSupPr>
                        <m:e>
                          <m:r>
                            <a:rPr lang="en-CA" sz="1400" b="0" i="1" smtClean="0">
                              <a:latin typeface="Cambria Math" panose="02040503050406030204" pitchFamily="18" charset="0"/>
                              <a:ea typeface="Cambria Math" panose="02040503050406030204" pitchFamily="18" charset="0"/>
                            </a:rPr>
                            <m:t>𝑣</m:t>
                          </m:r>
                        </m:e>
                        <m:sub>
                          <m:r>
                            <a:rPr lang="en-CA" sz="1400" b="0" i="1" smtClean="0">
                              <a:latin typeface="Cambria Math" panose="02040503050406030204" pitchFamily="18" charset="0"/>
                              <a:ea typeface="Cambria Math" panose="02040503050406030204" pitchFamily="18" charset="0"/>
                            </a:rPr>
                            <m:t>𝑗</m:t>
                          </m:r>
                        </m:sub>
                        <m:sup>
                          <m:r>
                            <a:rPr lang="en-CA" sz="1400" b="0" i="1" smtClean="0">
                              <a:latin typeface="Cambria Math" panose="02040503050406030204" pitchFamily="18" charset="0"/>
                              <a:ea typeface="Cambria Math" panose="02040503050406030204" pitchFamily="18" charset="0"/>
                            </a:rPr>
                            <m:t>𝑘</m:t>
                          </m:r>
                        </m:sup>
                      </m:sSubSup>
                    </m:oMath>
                  </a14:m>
                  <a:r>
                    <a:rPr lang="en-US" sz="1400" dirty="0">
                      <a:latin typeface="Cambria Math" panose="02040503050406030204" pitchFamily="18" charset="0"/>
                      <a:ea typeface="Cambria Math" panose="02040503050406030204" pitchFamily="18" charset="0"/>
                    </a:rPr>
                    <a:t>,  </a:t>
                  </a:r>
                  <a14:m>
                    <m:oMath xmlns:m="http://schemas.openxmlformats.org/officeDocument/2006/math">
                      <m:r>
                        <a:rPr lang="en-CA" sz="1400" b="0" i="0" smtClean="0">
                          <a:latin typeface="Cambria Math" panose="02040503050406030204" pitchFamily="18" charset="0"/>
                          <a:ea typeface="Cambria Math" panose="02040503050406030204" pitchFamily="18" charset="0"/>
                        </a:rPr>
                        <m:t>                  </m:t>
                      </m:r>
                      <m:r>
                        <a:rPr lang="en-US" sz="140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𝑗</m:t>
                      </m:r>
                      <m:r>
                        <a:rPr lang="en-CA" sz="1400" b="0" i="1" smtClean="0">
                          <a:latin typeface="Cambria Math" panose="02040503050406030204" pitchFamily="18" charset="0"/>
                          <a:ea typeface="Cambria Math" panose="02040503050406030204" pitchFamily="18" charset="0"/>
                        </a:rPr>
                        <m:t>∈</m:t>
                      </m:r>
                      <m:sSup>
                        <m:sSupPr>
                          <m:ctrlPr>
                            <a:rPr lang="en-CA" sz="1400" b="0" i="1" smtClean="0">
                              <a:latin typeface="Cambria Math" panose="02040503050406030204" pitchFamily="18" charset="0"/>
                              <a:ea typeface="Cambria Math" panose="02040503050406030204" pitchFamily="18" charset="0"/>
                            </a:rPr>
                          </m:ctrlPr>
                        </m:sSupPr>
                        <m:e>
                          <m:r>
                            <a:rPr lang="en-CA" sz="1400" b="0" i="1" smtClean="0">
                              <a:latin typeface="Cambria Math" panose="02040503050406030204" pitchFamily="18" charset="0"/>
                              <a:ea typeface="Cambria Math" panose="02040503050406030204" pitchFamily="18" charset="0"/>
                            </a:rPr>
                            <m:t>𝐽</m:t>
                          </m:r>
                        </m:e>
                        <m:sup>
                          <m:r>
                            <a:rPr lang="en-CA" sz="1400" b="0" i="1" smtClean="0">
                              <a:latin typeface="Cambria Math" panose="02040503050406030204" pitchFamily="18" charset="0"/>
                              <a:ea typeface="Cambria Math" panose="02040503050406030204" pitchFamily="18" charset="0"/>
                            </a:rPr>
                            <m:t>𝑘</m:t>
                          </m:r>
                        </m:sup>
                      </m:sSup>
                    </m:oMath>
                  </a14:m>
                  <a:r>
                    <a:rPr lang="en-US" sz="1400" dirty="0">
                      <a:latin typeface="Cambria Math" panose="02040503050406030204" pitchFamily="18" charset="0"/>
                      <a:ea typeface="Cambria Math" panose="02040503050406030204" pitchFamily="18" charset="0"/>
                    </a:rPr>
                    <a:t>, </a:t>
                  </a:r>
                  <a14:m>
                    <m:oMath xmlns:m="http://schemas.openxmlformats.org/officeDocument/2006/math">
                      <m:r>
                        <a:rPr lang="en-CA" sz="1400" b="0" i="1" smtClean="0">
                          <a:latin typeface="Cambria Math" panose="02040503050406030204" pitchFamily="18" charset="0"/>
                          <a:ea typeface="Cambria Math" panose="02040503050406030204" pitchFamily="18" charset="0"/>
                        </a:rPr>
                        <m:t>𝑘</m:t>
                      </m:r>
                      <m:r>
                        <a:rPr lang="en-CA" sz="1400" b="0" i="1" smtClean="0">
                          <a:latin typeface="Cambria Math" panose="02040503050406030204" pitchFamily="18" charset="0"/>
                          <a:ea typeface="Cambria Math" panose="02040503050406030204" pitchFamily="18" charset="0"/>
                        </a:rPr>
                        <m:t>∈</m:t>
                      </m:r>
                      <m:r>
                        <a:rPr lang="en-CA" sz="1400" b="0" i="1" smtClean="0">
                          <a:latin typeface="Cambria Math" panose="02040503050406030204" pitchFamily="18" charset="0"/>
                          <a:ea typeface="Cambria Math" panose="02040503050406030204" pitchFamily="18" charset="0"/>
                        </a:rPr>
                        <m:t>𝐾</m:t>
                      </m:r>
                    </m:oMath>
                  </a14:m>
                  <a:endParaRPr lang="en-US" sz="1400" dirty="0">
                    <a:latin typeface="Cambria Math" panose="02040503050406030204" pitchFamily="18" charset="0"/>
                    <a:ea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id="{DC5C9E9C-0C08-954A-66F6-619512491639}"/>
                    </a:ext>
                  </a:extLst>
                </p:cNvPr>
                <p:cNvSpPr txBox="1">
                  <a:spLocks noRot="1" noChangeAspect="1" noMove="1" noResize="1" noEditPoints="1" noAdjustHandles="1" noChangeArrowheads="1" noChangeShapeType="1" noTextEdit="1"/>
                </p:cNvSpPr>
                <p:nvPr/>
              </p:nvSpPr>
              <p:spPr>
                <a:xfrm>
                  <a:off x="2048004" y="1740398"/>
                  <a:ext cx="2959143" cy="349391"/>
                </a:xfrm>
                <a:prstGeom prst="rect">
                  <a:avLst/>
                </a:prstGeom>
                <a:blipFill>
                  <a:blip r:embed="rId18"/>
                  <a:stretch>
                    <a:fillRect b="-13793"/>
                  </a:stretch>
                </a:blipFill>
              </p:spPr>
              <p:txBody>
                <a:bodyPr/>
                <a:lstStyle/>
                <a:p>
                  <a:r>
                    <a:rPr lang="en-US">
                      <a:noFill/>
                    </a:rPr>
                    <a:t> </a:t>
                  </a:r>
                </a:p>
              </p:txBody>
            </p:sp>
          </mc:Fallback>
        </mc:AlternateContent>
      </p:grpSp>
      <p:sp>
        <p:nvSpPr>
          <p:cNvPr id="32" name="Rectangle 31">
            <a:extLst>
              <a:ext uri="{FF2B5EF4-FFF2-40B4-BE49-F238E27FC236}">
                <a16:creationId xmlns:a16="http://schemas.microsoft.com/office/drawing/2014/main" id="{BA373CC6-F253-2531-8E24-ED6E577AD10A}"/>
              </a:ext>
            </a:extLst>
          </p:cNvPr>
          <p:cNvSpPr/>
          <p:nvPr/>
        </p:nvSpPr>
        <p:spPr>
          <a:xfrm>
            <a:off x="1762975" y="4900115"/>
            <a:ext cx="2284769" cy="580203"/>
          </a:xfrm>
          <a:prstGeom prst="rect">
            <a:avLst/>
          </a:prstGeom>
          <a:noFill/>
          <a:ln w="28575">
            <a:solidFill>
              <a:schemeClr val="bg1">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accent6">
                  <a:lumMod val="75000"/>
                </a:schemeClr>
              </a:solidFill>
            </a:endParaRPr>
          </a:p>
        </p:txBody>
      </p:sp>
      <p:cxnSp>
        <p:nvCxnSpPr>
          <p:cNvPr id="33" name="Straight Arrow Connector 32">
            <a:extLst>
              <a:ext uri="{FF2B5EF4-FFF2-40B4-BE49-F238E27FC236}">
                <a16:creationId xmlns:a16="http://schemas.microsoft.com/office/drawing/2014/main" id="{56CAFD37-421C-A4E8-F156-D741EAD8812B}"/>
              </a:ext>
            </a:extLst>
          </p:cNvPr>
          <p:cNvCxnSpPr>
            <a:cxnSpLocks/>
          </p:cNvCxnSpPr>
          <p:nvPr/>
        </p:nvCxnSpPr>
        <p:spPr>
          <a:xfrm flipH="1" flipV="1">
            <a:off x="4215849" y="5551387"/>
            <a:ext cx="1880151" cy="306074"/>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Title 31">
            <a:extLst>
              <a:ext uri="{FF2B5EF4-FFF2-40B4-BE49-F238E27FC236}">
                <a16:creationId xmlns:a16="http://schemas.microsoft.com/office/drawing/2014/main" id="{870F1569-27B3-82C3-ED38-FCA487ECF736}"/>
              </a:ext>
            </a:extLst>
          </p:cNvPr>
          <p:cNvSpPr>
            <a:spLocks noGrp="1"/>
          </p:cNvSpPr>
          <p:nvPr>
            <p:ph type="title"/>
          </p:nvPr>
        </p:nvSpPr>
        <p:spPr>
          <a:xfrm>
            <a:off x="232427" y="160817"/>
            <a:ext cx="11115605" cy="1127631"/>
          </a:xfrm>
        </p:spPr>
        <p:txBody>
          <a:bodyPr>
            <a:noAutofit/>
          </a:bodyPr>
          <a:lstStyle/>
          <a:p>
            <a:r>
              <a:rPr lang="en-US" sz="3600" b="1" dirty="0"/>
              <a:t>Community Metabolic Modelling and Validation Framework</a:t>
            </a:r>
            <a:endParaRPr lang="en-US" sz="3600" dirty="0"/>
          </a:p>
        </p:txBody>
      </p:sp>
    </p:spTree>
    <p:extLst>
      <p:ext uri="{BB962C8B-B14F-4D97-AF65-F5344CB8AC3E}">
        <p14:creationId xmlns:p14="http://schemas.microsoft.com/office/powerpoint/2010/main" val="4077727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6B85F0E-320B-7F7A-B828-2A4F7ED19602}"/>
              </a:ext>
            </a:extLst>
          </p:cNvPr>
          <p:cNvGraphicFramePr>
            <a:graphicFrameLocks noGrp="1"/>
          </p:cNvGraphicFramePr>
          <p:nvPr/>
        </p:nvGraphicFramePr>
        <p:xfrm>
          <a:off x="6566662" y="2293364"/>
          <a:ext cx="4942586" cy="2672890"/>
        </p:xfrm>
        <a:graphic>
          <a:graphicData uri="http://schemas.openxmlformats.org/drawingml/2006/table">
            <a:tbl>
              <a:tblPr>
                <a:tableStyleId>{D7AC3CCA-C797-4891-BE02-D94E43425B78}</a:tableStyleId>
              </a:tblPr>
              <a:tblGrid>
                <a:gridCol w="1087639">
                  <a:extLst>
                    <a:ext uri="{9D8B030D-6E8A-4147-A177-3AD203B41FA5}">
                      <a16:colId xmlns:a16="http://schemas.microsoft.com/office/drawing/2014/main" val="275546752"/>
                    </a:ext>
                  </a:extLst>
                </a:gridCol>
                <a:gridCol w="1098261">
                  <a:extLst>
                    <a:ext uri="{9D8B030D-6E8A-4147-A177-3AD203B41FA5}">
                      <a16:colId xmlns:a16="http://schemas.microsoft.com/office/drawing/2014/main" val="1089004084"/>
                    </a:ext>
                  </a:extLst>
                </a:gridCol>
                <a:gridCol w="1378343">
                  <a:extLst>
                    <a:ext uri="{9D8B030D-6E8A-4147-A177-3AD203B41FA5}">
                      <a16:colId xmlns:a16="http://schemas.microsoft.com/office/drawing/2014/main" val="2760216163"/>
                    </a:ext>
                  </a:extLst>
                </a:gridCol>
                <a:gridCol w="1378343">
                  <a:extLst>
                    <a:ext uri="{9D8B030D-6E8A-4147-A177-3AD203B41FA5}">
                      <a16:colId xmlns:a16="http://schemas.microsoft.com/office/drawing/2014/main" val="463888239"/>
                    </a:ext>
                  </a:extLst>
                </a:gridCol>
              </a:tblGrid>
              <a:tr h="433600">
                <a:tc rowSpan="2">
                  <a:txBody>
                    <a:bodyPr/>
                    <a:lstStyle/>
                    <a:p>
                      <a:r>
                        <a:rPr lang="en-US" sz="1200" b="1" dirty="0"/>
                        <a:t>Metabolite name</a:t>
                      </a:r>
                    </a:p>
                  </a:txBody>
                  <a:tcPr>
                    <a:solidFill>
                      <a:schemeClr val="bg1">
                        <a:lumMod val="65000"/>
                      </a:schemeClr>
                    </a:solidFill>
                  </a:tcPr>
                </a:tc>
                <a:tc gridSpan="2">
                  <a:txBody>
                    <a:bodyPr/>
                    <a:lstStyle/>
                    <a:p>
                      <a:r>
                        <a:rPr lang="en-US" sz="1200" b="1" dirty="0"/>
                        <a:t>Amount of metabolite (mmol per g of fecal matter)</a:t>
                      </a:r>
                    </a:p>
                  </a:txBody>
                  <a:tcPr>
                    <a:solidFill>
                      <a:schemeClr val="bg1">
                        <a:lumMod val="65000"/>
                      </a:schemeClr>
                    </a:solidFill>
                  </a:tcPr>
                </a:tc>
                <a:tc hMerge="1">
                  <a:txBody>
                    <a:bodyPr/>
                    <a:lstStyle/>
                    <a:p>
                      <a:endParaRPr lang="en-US" dirty="0"/>
                    </a:p>
                  </a:txBody>
                  <a:tcPr/>
                </a:tc>
                <a:tc rowSpan="2">
                  <a:txBody>
                    <a:bodyPr/>
                    <a:lstStyle/>
                    <a:p>
                      <a:r>
                        <a:rPr lang="en-US" sz="1200" b="1" dirty="0"/>
                        <a:t>Metabolite consumed or produced?</a:t>
                      </a:r>
                    </a:p>
                  </a:txBody>
                  <a:tcPr>
                    <a:solidFill>
                      <a:schemeClr val="bg1">
                        <a:lumMod val="65000"/>
                      </a:schemeClr>
                    </a:solidFill>
                  </a:tcPr>
                </a:tc>
                <a:extLst>
                  <a:ext uri="{0D108BD9-81ED-4DB2-BD59-A6C34878D82A}">
                    <a16:rowId xmlns:a16="http://schemas.microsoft.com/office/drawing/2014/main" val="2206387683"/>
                  </a:ext>
                </a:extLst>
              </a:tr>
              <a:tr h="351698">
                <a:tc vMerge="1">
                  <a:txBody>
                    <a:bodyPr/>
                    <a:lstStyle/>
                    <a:p>
                      <a:endParaRPr lang="en-US" dirty="0"/>
                    </a:p>
                  </a:txBody>
                  <a:tcPr/>
                </a:tc>
                <a:tc>
                  <a:txBody>
                    <a:bodyPr/>
                    <a:lstStyle/>
                    <a:p>
                      <a:r>
                        <a:rPr lang="en-US" sz="1200" dirty="0"/>
                        <a:t>GF fecal sample</a:t>
                      </a:r>
                    </a:p>
                  </a:txBody>
                  <a:tcPr>
                    <a:solidFill>
                      <a:schemeClr val="bg1">
                        <a:lumMod val="65000"/>
                      </a:schemeClr>
                    </a:solidFill>
                  </a:tcPr>
                </a:tc>
                <a:tc>
                  <a:txBody>
                    <a:bodyPr/>
                    <a:lstStyle/>
                    <a:p>
                      <a:r>
                        <a:rPr lang="en-US" sz="1200" dirty="0"/>
                        <a:t>HDC1 fecal sample</a:t>
                      </a:r>
                    </a:p>
                  </a:txBody>
                  <a:tcPr>
                    <a:solidFill>
                      <a:schemeClr val="bg1">
                        <a:lumMod val="65000"/>
                      </a:schemeClr>
                    </a:solidFill>
                  </a:tcPr>
                </a:tc>
                <a:tc vMerge="1">
                  <a:txBody>
                    <a:bodyPr/>
                    <a:lstStyle/>
                    <a:p>
                      <a:endParaRPr lang="en-US" dirty="0"/>
                    </a:p>
                  </a:txBody>
                  <a:tcPr/>
                </a:tc>
                <a:extLst>
                  <a:ext uri="{0D108BD9-81ED-4DB2-BD59-A6C34878D82A}">
                    <a16:rowId xmlns:a16="http://schemas.microsoft.com/office/drawing/2014/main" val="4267911365"/>
                  </a:ext>
                </a:extLst>
              </a:tr>
              <a:tr h="351698">
                <a:tc>
                  <a:txBody>
                    <a:bodyPr/>
                    <a:lstStyle/>
                    <a:p>
                      <a:r>
                        <a:rPr lang="en-US" sz="1200" dirty="0"/>
                        <a:t>A</a:t>
                      </a:r>
                    </a:p>
                  </a:txBody>
                  <a:tcPr>
                    <a:solidFill>
                      <a:srgbClr val="7030A0">
                        <a:alpha val="23137"/>
                      </a:srgbClr>
                    </a:solidFill>
                  </a:tcPr>
                </a:tc>
                <a:tc>
                  <a:txBody>
                    <a:bodyPr/>
                    <a:lstStyle/>
                    <a:p>
                      <a:r>
                        <a:rPr lang="en-US" sz="1200" dirty="0"/>
                        <a:t>0</a:t>
                      </a:r>
                    </a:p>
                  </a:txBody>
                  <a:tcPr>
                    <a:solidFill>
                      <a:srgbClr val="7030A0">
                        <a:alpha val="23137"/>
                      </a:srgbClr>
                    </a:solidFill>
                  </a:tcPr>
                </a:tc>
                <a:tc>
                  <a:txBody>
                    <a:bodyPr/>
                    <a:lstStyle/>
                    <a:p>
                      <a:r>
                        <a:rPr lang="en-US" sz="1200" dirty="0"/>
                        <a:t>20</a:t>
                      </a:r>
                    </a:p>
                  </a:txBody>
                  <a:tcPr>
                    <a:solidFill>
                      <a:srgbClr val="7030A0">
                        <a:alpha val="23137"/>
                      </a:srgbClr>
                    </a:solidFill>
                  </a:tcPr>
                </a:tc>
                <a:tc>
                  <a:txBody>
                    <a:bodyPr/>
                    <a:lstStyle/>
                    <a:p>
                      <a:r>
                        <a:rPr lang="en-US" sz="1200" b="1" dirty="0">
                          <a:solidFill>
                            <a:srgbClr val="7030A0"/>
                          </a:solidFill>
                        </a:rPr>
                        <a:t>Produced</a:t>
                      </a:r>
                    </a:p>
                  </a:txBody>
                  <a:tcPr>
                    <a:solidFill>
                      <a:srgbClr val="7030A0">
                        <a:alpha val="23137"/>
                      </a:srgbClr>
                    </a:solidFill>
                  </a:tcPr>
                </a:tc>
                <a:extLst>
                  <a:ext uri="{0D108BD9-81ED-4DB2-BD59-A6C34878D82A}">
                    <a16:rowId xmlns:a16="http://schemas.microsoft.com/office/drawing/2014/main" val="1552149961"/>
                  </a:ext>
                </a:extLst>
              </a:tr>
              <a:tr h="351698">
                <a:tc>
                  <a:txBody>
                    <a:bodyPr/>
                    <a:lstStyle/>
                    <a:p>
                      <a:r>
                        <a:rPr lang="en-US" sz="1200" dirty="0"/>
                        <a:t>B</a:t>
                      </a:r>
                    </a:p>
                  </a:txBody>
                  <a:tcPr/>
                </a:tc>
                <a:tc>
                  <a:txBody>
                    <a:bodyPr/>
                    <a:lstStyle/>
                    <a:p>
                      <a:r>
                        <a:rPr lang="en-US" sz="1200" dirty="0"/>
                        <a:t>30</a:t>
                      </a:r>
                    </a:p>
                  </a:txBody>
                  <a:tcPr/>
                </a:tc>
                <a:tc>
                  <a:txBody>
                    <a:bodyPr/>
                    <a:lstStyle/>
                    <a:p>
                      <a:r>
                        <a:rPr lang="en-US" sz="1200" dirty="0"/>
                        <a:t>10</a:t>
                      </a:r>
                    </a:p>
                  </a:txBody>
                  <a:tcPr/>
                </a:tc>
                <a:tc>
                  <a:txBody>
                    <a:bodyPr/>
                    <a:lstStyle/>
                    <a:p>
                      <a:r>
                        <a:rPr lang="en-US" sz="1200" b="1" dirty="0">
                          <a:solidFill>
                            <a:schemeClr val="accent2">
                              <a:lumMod val="75000"/>
                            </a:schemeClr>
                          </a:solidFill>
                        </a:rPr>
                        <a:t>Consumed</a:t>
                      </a:r>
                    </a:p>
                  </a:txBody>
                  <a:tcPr/>
                </a:tc>
                <a:extLst>
                  <a:ext uri="{0D108BD9-81ED-4DB2-BD59-A6C34878D82A}">
                    <a16:rowId xmlns:a16="http://schemas.microsoft.com/office/drawing/2014/main" val="716195670"/>
                  </a:ext>
                </a:extLst>
              </a:tr>
              <a:tr h="351698">
                <a:tc>
                  <a:txBody>
                    <a:bodyPr/>
                    <a:lstStyle/>
                    <a:p>
                      <a:r>
                        <a:rPr lang="en-US" sz="1200" dirty="0"/>
                        <a:t>C</a:t>
                      </a:r>
                    </a:p>
                  </a:txBody>
                  <a:tcPr>
                    <a:solidFill>
                      <a:srgbClr val="7030A0">
                        <a:alpha val="25098"/>
                      </a:srgbClr>
                    </a:solidFill>
                  </a:tcPr>
                </a:tc>
                <a:tc>
                  <a:txBody>
                    <a:bodyPr/>
                    <a:lstStyle/>
                    <a:p>
                      <a:r>
                        <a:rPr lang="en-US" sz="1200" dirty="0"/>
                        <a:t>10</a:t>
                      </a:r>
                    </a:p>
                  </a:txBody>
                  <a:tcPr>
                    <a:solidFill>
                      <a:srgbClr val="7030A0">
                        <a:alpha val="25098"/>
                      </a:srgbClr>
                    </a:solidFill>
                  </a:tcPr>
                </a:tc>
                <a:tc>
                  <a:txBody>
                    <a:bodyPr/>
                    <a:lstStyle/>
                    <a:p>
                      <a:r>
                        <a:rPr lang="en-US" sz="1200" dirty="0"/>
                        <a:t>50</a:t>
                      </a:r>
                    </a:p>
                  </a:txBody>
                  <a:tcPr>
                    <a:solidFill>
                      <a:srgbClr val="7030A0">
                        <a:alpha val="25098"/>
                      </a:srgbClr>
                    </a:solidFill>
                  </a:tcPr>
                </a:tc>
                <a:tc>
                  <a:txBody>
                    <a:bodyPr/>
                    <a:lstStyle/>
                    <a:p>
                      <a:r>
                        <a:rPr lang="en-US" sz="1200" b="1" dirty="0">
                          <a:solidFill>
                            <a:srgbClr val="7030A0"/>
                          </a:solidFill>
                        </a:rPr>
                        <a:t>Produced</a:t>
                      </a:r>
                    </a:p>
                  </a:txBody>
                  <a:tcPr>
                    <a:solidFill>
                      <a:srgbClr val="7030A0">
                        <a:alpha val="25098"/>
                      </a:srgbClr>
                    </a:solidFill>
                  </a:tcPr>
                </a:tc>
                <a:extLst>
                  <a:ext uri="{0D108BD9-81ED-4DB2-BD59-A6C34878D82A}">
                    <a16:rowId xmlns:a16="http://schemas.microsoft.com/office/drawing/2014/main" val="2057834171"/>
                  </a:ext>
                </a:extLst>
              </a:tr>
              <a:tr h="351698">
                <a:tc>
                  <a:txBody>
                    <a:bodyPr/>
                    <a:lstStyle/>
                    <a:p>
                      <a:r>
                        <a:rPr lang="en-US" sz="1200" dirty="0"/>
                        <a:t>D</a:t>
                      </a:r>
                    </a:p>
                  </a:txBody>
                  <a:tcPr/>
                </a:tc>
                <a:tc>
                  <a:txBody>
                    <a:bodyPr/>
                    <a:lstStyle/>
                    <a:p>
                      <a:r>
                        <a:rPr lang="en-US" sz="1200" dirty="0"/>
                        <a:t>10</a:t>
                      </a:r>
                    </a:p>
                  </a:txBody>
                  <a:tcPr/>
                </a:tc>
                <a:tc>
                  <a:txBody>
                    <a:bodyPr/>
                    <a:lstStyle/>
                    <a:p>
                      <a:r>
                        <a:rPr lang="en-US" sz="1200" dirty="0"/>
                        <a:t>10</a:t>
                      </a:r>
                    </a:p>
                  </a:txBody>
                  <a:tcPr/>
                </a:tc>
                <a:tc>
                  <a:txBody>
                    <a:bodyPr/>
                    <a:lstStyle/>
                    <a:p>
                      <a:r>
                        <a:rPr lang="en-US" sz="1200" b="1" dirty="0">
                          <a:solidFill>
                            <a:srgbClr val="FF2F92"/>
                          </a:solidFill>
                        </a:rPr>
                        <a:t>Unchanging</a:t>
                      </a:r>
                    </a:p>
                  </a:txBody>
                  <a:tcPr/>
                </a:tc>
                <a:extLst>
                  <a:ext uri="{0D108BD9-81ED-4DB2-BD59-A6C34878D82A}">
                    <a16:rowId xmlns:a16="http://schemas.microsoft.com/office/drawing/2014/main" val="3985147620"/>
                  </a:ext>
                </a:extLst>
              </a:tr>
              <a:tr h="351698">
                <a:tc>
                  <a:txBody>
                    <a:bodyPr/>
                    <a:lstStyle/>
                    <a:p>
                      <a:r>
                        <a:rPr lang="en-US" sz="1200" dirty="0"/>
                        <a:t>E</a:t>
                      </a:r>
                    </a:p>
                  </a:txBody>
                  <a:tcPr/>
                </a:tc>
                <a:tc>
                  <a:txBody>
                    <a:bodyPr/>
                    <a:lstStyle/>
                    <a:p>
                      <a:r>
                        <a:rPr lang="en-US" sz="1200" dirty="0"/>
                        <a:t>50</a:t>
                      </a:r>
                    </a:p>
                  </a:txBody>
                  <a:tcPr/>
                </a:tc>
                <a:tc>
                  <a:txBody>
                    <a:bodyPr/>
                    <a:lstStyle/>
                    <a:p>
                      <a:r>
                        <a:rPr lang="en-US" sz="1200" dirty="0"/>
                        <a:t>3</a:t>
                      </a:r>
                    </a:p>
                  </a:txBody>
                  <a:tcPr/>
                </a:tc>
                <a:tc>
                  <a:txBody>
                    <a:bodyPr/>
                    <a:lstStyle/>
                    <a:p>
                      <a:r>
                        <a:rPr lang="en-US" sz="1200" b="1" dirty="0">
                          <a:solidFill>
                            <a:schemeClr val="accent2">
                              <a:lumMod val="75000"/>
                            </a:schemeClr>
                          </a:solidFill>
                        </a:rPr>
                        <a:t>Consumed</a:t>
                      </a:r>
                    </a:p>
                  </a:txBody>
                  <a:tcPr/>
                </a:tc>
                <a:extLst>
                  <a:ext uri="{0D108BD9-81ED-4DB2-BD59-A6C34878D82A}">
                    <a16:rowId xmlns:a16="http://schemas.microsoft.com/office/drawing/2014/main" val="2023687986"/>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6958371-F55E-8A5A-FBCF-BC810B6001C0}"/>
                  </a:ext>
                </a:extLst>
              </p:cNvPr>
              <p:cNvSpPr txBox="1"/>
              <p:nvPr/>
            </p:nvSpPr>
            <p:spPr>
              <a:xfrm>
                <a:off x="3003568" y="1534712"/>
                <a:ext cx="6184864" cy="484620"/>
              </a:xfrm>
              <a:prstGeom prst="rect">
                <a:avLst/>
              </a:prstGeom>
              <a:noFill/>
              <a:ln w="28575">
                <a:solidFill>
                  <a:schemeClr val="tx1"/>
                </a:solidFill>
              </a:ln>
            </p:spPr>
            <p:txBody>
              <a:bodyPr wrap="square">
                <a:spAutoFit/>
              </a:bodyPr>
              <a:lstStyle/>
              <a:p>
                <a:pPr algn="ctr"/>
                <a14:m>
                  <m:oMath xmlns:m="http://schemas.openxmlformats.org/officeDocument/2006/math">
                    <m:nary>
                      <m:naryPr>
                        <m:chr m:val="∑"/>
                        <m:supHide m:val="on"/>
                        <m:ctrlPr>
                          <a:rPr lang="en-CA" sz="2000" b="1" i="1" smtClean="0">
                            <a:solidFill>
                              <a:schemeClr val="accent6">
                                <a:lumMod val="75000"/>
                              </a:schemeClr>
                            </a:solidFill>
                            <a:latin typeface="Cambria Math" panose="02040503050406030204" pitchFamily="18" charset="0"/>
                          </a:rPr>
                        </m:ctrlPr>
                      </m:naryPr>
                      <m:sub>
                        <m:r>
                          <m:rPr>
                            <m:brk m:alnAt="7"/>
                          </m:rPr>
                          <a:rPr lang="en-CA" sz="2000" b="1" i="1" smtClean="0">
                            <a:solidFill>
                              <a:schemeClr val="accent6">
                                <a:lumMod val="75000"/>
                              </a:schemeClr>
                            </a:solidFill>
                            <a:latin typeface="Cambria Math" panose="02040503050406030204" pitchFamily="18" charset="0"/>
                          </a:rPr>
                          <m:t>𝒌</m:t>
                        </m:r>
                        <m:r>
                          <a:rPr lang="en-CA" sz="2000" b="1" i="1" smtClean="0">
                            <a:solidFill>
                              <a:schemeClr val="accent6">
                                <a:lumMod val="75000"/>
                              </a:schemeClr>
                            </a:solidFill>
                            <a:latin typeface="Cambria Math" panose="02040503050406030204" pitchFamily="18" charset="0"/>
                            <a:ea typeface="Cambria Math" panose="02040503050406030204" pitchFamily="18" charset="0"/>
                          </a:rPr>
                          <m:t>∈</m:t>
                        </m:r>
                        <m:r>
                          <a:rPr lang="en-CA" sz="2000" b="1" i="1" smtClean="0">
                            <a:solidFill>
                              <a:schemeClr val="accent6">
                                <a:lumMod val="75000"/>
                              </a:schemeClr>
                            </a:solidFill>
                            <a:latin typeface="Cambria Math" panose="02040503050406030204" pitchFamily="18" charset="0"/>
                            <a:ea typeface="Cambria Math" panose="02040503050406030204" pitchFamily="18" charset="0"/>
                          </a:rPr>
                          <m:t>𝑲</m:t>
                        </m:r>
                      </m:sub>
                      <m:sup/>
                      <m:e>
                        <m:sSubSup>
                          <m:sSubSupPr>
                            <m:ctrlPr>
                              <a:rPr lang="en-CA" sz="2000" b="1" i="1" smtClean="0">
                                <a:solidFill>
                                  <a:schemeClr val="accent6">
                                    <a:lumMod val="75000"/>
                                  </a:schemeClr>
                                </a:solidFill>
                                <a:latin typeface="Cambria Math" panose="02040503050406030204" pitchFamily="18" charset="0"/>
                              </a:rPr>
                            </m:ctrlPr>
                          </m:sSubSupPr>
                          <m:e>
                            <m:r>
                              <a:rPr lang="en-CA" sz="2000" b="1" i="1" smtClean="0">
                                <a:solidFill>
                                  <a:schemeClr val="accent6">
                                    <a:lumMod val="75000"/>
                                  </a:schemeClr>
                                </a:solidFill>
                                <a:latin typeface="Cambria Math" panose="02040503050406030204" pitchFamily="18" charset="0"/>
                              </a:rPr>
                              <m:t>𝑽</m:t>
                            </m:r>
                          </m:e>
                          <m:sub>
                            <m:r>
                              <a:rPr lang="en-CA" sz="2000" b="1" i="1" smtClean="0">
                                <a:solidFill>
                                  <a:schemeClr val="accent6">
                                    <a:lumMod val="75000"/>
                                  </a:schemeClr>
                                </a:solidFill>
                                <a:latin typeface="Cambria Math" panose="02040503050406030204" pitchFamily="18" charset="0"/>
                              </a:rPr>
                              <m:t>𝒆𝒙</m:t>
                            </m:r>
                            <m:r>
                              <a:rPr lang="en-CA" sz="2000" b="1" i="1" smtClean="0">
                                <a:solidFill>
                                  <a:schemeClr val="accent6">
                                    <a:lumMod val="75000"/>
                                  </a:schemeClr>
                                </a:solidFill>
                                <a:latin typeface="Cambria Math" panose="02040503050406030204" pitchFamily="18" charset="0"/>
                              </a:rPr>
                              <m:t>(</m:t>
                            </m:r>
                            <m:r>
                              <a:rPr lang="en-CA" sz="2000" b="1" i="1" smtClean="0">
                                <a:solidFill>
                                  <a:schemeClr val="accent6">
                                    <a:lumMod val="75000"/>
                                  </a:schemeClr>
                                </a:solidFill>
                                <a:latin typeface="Cambria Math" panose="02040503050406030204" pitchFamily="18" charset="0"/>
                              </a:rPr>
                              <m:t>𝒊</m:t>
                            </m:r>
                            <m:r>
                              <a:rPr lang="en-CA" sz="2000" b="1" i="1" smtClean="0">
                                <a:solidFill>
                                  <a:schemeClr val="accent6">
                                    <a:lumMod val="75000"/>
                                  </a:schemeClr>
                                </a:solidFill>
                                <a:latin typeface="Cambria Math" panose="02040503050406030204" pitchFamily="18" charset="0"/>
                              </a:rPr>
                              <m:t>)</m:t>
                            </m:r>
                          </m:sub>
                          <m:sup>
                            <m:r>
                              <a:rPr lang="en-CA" sz="2000" b="1" i="1" smtClean="0">
                                <a:solidFill>
                                  <a:schemeClr val="accent6">
                                    <a:lumMod val="75000"/>
                                  </a:schemeClr>
                                </a:solidFill>
                                <a:latin typeface="Cambria Math" panose="02040503050406030204" pitchFamily="18" charset="0"/>
                              </a:rPr>
                              <m:t>𝒌</m:t>
                            </m:r>
                          </m:sup>
                        </m:sSubSup>
                        <m:r>
                          <a:rPr lang="en-CA" sz="2000" b="1" i="1" smtClean="0">
                            <a:solidFill>
                              <a:schemeClr val="accent6">
                                <a:lumMod val="75000"/>
                              </a:schemeClr>
                            </a:solidFill>
                            <a:latin typeface="Cambria Math" panose="02040503050406030204" pitchFamily="18" charset="0"/>
                          </a:rPr>
                          <m:t>= </m:t>
                        </m:r>
                        <m:sSubSup>
                          <m:sSubSupPr>
                            <m:ctrlPr>
                              <a:rPr lang="en-CA"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𝒆</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r>
                          <a:rPr lang="en-CA" sz="2000" b="1" i="1" smtClean="0">
                            <a:solidFill>
                              <a:schemeClr val="accent6">
                                <a:lumMod val="75000"/>
                              </a:schemeClr>
                            </a:solidFill>
                            <a:latin typeface="Cambria Math" panose="02040503050406030204" pitchFamily="18" charset="0"/>
                          </a:rPr>
                          <m:t>−</m:t>
                        </m:r>
                        <m:sSubSup>
                          <m:sSubSupPr>
                            <m:ctrlPr>
                              <a:rPr lang="en-US"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𝒖</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e>
                    </m:nary>
                  </m:oMath>
                </a14:m>
                <a:r>
                  <a:rPr lang="en-US" sz="2000" b="1" dirty="0"/>
                  <a:t> = </a:t>
                </a:r>
                <a14:m>
                  <m:oMath xmlns:m="http://schemas.openxmlformats.org/officeDocument/2006/math">
                    <m:nary>
                      <m:naryPr>
                        <m:chr m:val="∑"/>
                        <m:supHide m:val="on"/>
                        <m:ctrlPr>
                          <a:rPr lang="en-US" sz="2000" b="1" i="1" smtClean="0">
                            <a:solidFill>
                              <a:srgbClr val="0070C0"/>
                            </a:solidFill>
                            <a:latin typeface="Cambria Math" panose="02040503050406030204" pitchFamily="18" charset="0"/>
                          </a:rPr>
                        </m:ctrlPr>
                      </m:naryPr>
                      <m:sub>
                        <m:r>
                          <m:rPr>
                            <m:brk m:alnAt="7"/>
                          </m:rPr>
                          <a:rPr lang="en-US" sz="2000" b="1" i="1">
                            <a:solidFill>
                              <a:srgbClr val="0070C0"/>
                            </a:solidFill>
                            <a:latin typeface="Cambria Math" panose="02040503050406030204" pitchFamily="18" charset="0"/>
                          </a:rPr>
                          <m:t>𝒋</m:t>
                        </m:r>
                      </m:sub>
                      <m:sup/>
                      <m:e>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𝒒</m:t>
                            </m:r>
                          </m:e>
                          <m: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𝒔</m:t>
                                </m:r>
                              </m:e>
                              <m:sub>
                                <m:r>
                                  <a:rPr lang="en-US" sz="2000" b="1" i="1">
                                    <a:solidFill>
                                      <a:srgbClr val="0070C0"/>
                                    </a:solidFill>
                                    <a:latin typeface="Cambria Math" panose="02040503050406030204" pitchFamily="18" charset="0"/>
                                  </a:rPr>
                                  <m:t>𝒊</m:t>
                                </m:r>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rPr>
                                  <m:t>𝒋</m:t>
                                </m:r>
                              </m:sub>
                            </m:sSub>
                          </m:sub>
                        </m:s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𝒙</m:t>
                            </m:r>
                          </m:e>
                          <m:sub>
                            <m:r>
                              <a:rPr lang="en-US" sz="2000" b="1" i="1">
                                <a:solidFill>
                                  <a:srgbClr val="0070C0"/>
                                </a:solidFill>
                                <a:latin typeface="Cambria Math" panose="02040503050406030204" pitchFamily="18" charset="0"/>
                              </a:rPr>
                              <m:t>𝒋</m:t>
                            </m:r>
                          </m:sub>
                        </m:sSub>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ea typeface="Cambria Math" panose="02040503050406030204" pitchFamily="18" charset="0"/>
                          </a:rPr>
                          <m:t>𝝁</m:t>
                        </m:r>
                        <m:d>
                          <m:dPr>
                            <m:begChr m:val="["/>
                            <m:endChr m:val="]"/>
                            <m:ctrlPr>
                              <a:rPr lang="en-US" sz="2000" b="1" i="1">
                                <a:solidFill>
                                  <a:srgbClr val="0070C0"/>
                                </a:solidFill>
                                <a:latin typeface="Cambria Math" panose="02040503050406030204" pitchFamily="18" charset="0"/>
                                <a:ea typeface="Cambria Math" panose="02040503050406030204" pitchFamily="18" charset="0"/>
                              </a:rPr>
                            </m:ctrlPr>
                          </m:dPr>
                          <m:e>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𝑯𝑫𝑪</m:t>
                                </m:r>
                                <m:r>
                                  <a:rPr lang="en-US" sz="2000" b="1" i="1">
                                    <a:solidFill>
                                      <a:srgbClr val="0070C0"/>
                                    </a:solidFill>
                                    <a:latin typeface="Cambria Math" panose="02040503050406030204" pitchFamily="18" charset="0"/>
                                    <a:ea typeface="Cambria Math" panose="02040503050406030204" pitchFamily="18" charset="0"/>
                                  </a:rPr>
                                  <m:t>𝟏</m:t>
                                </m:r>
                              </m:sub>
                              <m:sup>
                                <m:r>
                                  <a:rPr lang="en-US" sz="2000" b="1" i="1">
                                    <a:solidFill>
                                      <a:srgbClr val="0070C0"/>
                                    </a:solidFill>
                                    <a:latin typeface="Cambria Math" panose="02040503050406030204" pitchFamily="18" charset="0"/>
                                    <a:ea typeface="Cambria Math" panose="02040503050406030204" pitchFamily="18" charset="0"/>
                                  </a:rPr>
                                  <m:t>𝒊</m:t>
                                </m:r>
                              </m:sup>
                            </m:sSubSup>
                            <m:r>
                              <a:rPr lang="en-US" sz="2000" b="1" i="1">
                                <a:solidFill>
                                  <a:srgbClr val="0070C0"/>
                                </a:solidFill>
                                <a:latin typeface="Cambria Math" panose="02040503050406030204" pitchFamily="18" charset="0"/>
                                <a:ea typeface="Cambria Math" panose="02040503050406030204" pitchFamily="18" charset="0"/>
                              </a:rPr>
                              <m:t>−</m:t>
                            </m:r>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𝑮𝑭</m:t>
                                </m:r>
                              </m:sub>
                              <m:sup>
                                <m:r>
                                  <a:rPr lang="en-US" sz="2000" b="1" i="1">
                                    <a:solidFill>
                                      <a:srgbClr val="0070C0"/>
                                    </a:solidFill>
                                    <a:latin typeface="Cambria Math" panose="02040503050406030204" pitchFamily="18" charset="0"/>
                                    <a:ea typeface="Cambria Math" panose="02040503050406030204" pitchFamily="18" charset="0"/>
                                  </a:rPr>
                                  <m:t>𝒊</m:t>
                                </m:r>
                              </m:sup>
                            </m:sSubSup>
                          </m:e>
                        </m:d>
                      </m:e>
                    </m:nary>
                  </m:oMath>
                </a14:m>
                <a:r>
                  <a:rPr lang="en-US" sz="2000" b="1" dirty="0"/>
                  <a:t> </a:t>
                </a:r>
              </a:p>
            </p:txBody>
          </p:sp>
        </mc:Choice>
        <mc:Fallback xmlns="">
          <p:sp>
            <p:nvSpPr>
              <p:cNvPr id="7" name="TextBox 6">
                <a:extLst>
                  <a:ext uri="{FF2B5EF4-FFF2-40B4-BE49-F238E27FC236}">
                    <a16:creationId xmlns:a16="http://schemas.microsoft.com/office/drawing/2014/main" id="{F6958371-F55E-8A5A-FBCF-BC810B6001C0}"/>
                  </a:ext>
                </a:extLst>
              </p:cNvPr>
              <p:cNvSpPr txBox="1">
                <a:spLocks noRot="1" noChangeAspect="1" noMove="1" noResize="1" noEditPoints="1" noAdjustHandles="1" noChangeArrowheads="1" noChangeShapeType="1" noTextEdit="1"/>
              </p:cNvSpPr>
              <p:nvPr/>
            </p:nvSpPr>
            <p:spPr>
              <a:xfrm>
                <a:off x="3003568" y="1534712"/>
                <a:ext cx="6184864" cy="484620"/>
              </a:xfrm>
              <a:prstGeom prst="rect">
                <a:avLst/>
              </a:prstGeom>
              <a:blipFill>
                <a:blip r:embed="rId3"/>
                <a:stretch>
                  <a:fillRect l="-2449" t="-85366" b="-124390"/>
                </a:stretch>
              </a:blipFill>
              <a:ln w="28575">
                <a:solidFill>
                  <a:schemeClr val="tx1"/>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445A7EBF-B061-1712-55C4-F71BC76F3D90}"/>
              </a:ext>
            </a:extLst>
          </p:cNvPr>
          <p:cNvSpPr txBox="1"/>
          <p:nvPr/>
        </p:nvSpPr>
        <p:spPr>
          <a:xfrm>
            <a:off x="175046" y="2067428"/>
            <a:ext cx="3242106" cy="369332"/>
          </a:xfrm>
          <a:prstGeom prst="rect">
            <a:avLst/>
          </a:prstGeom>
          <a:noFill/>
        </p:spPr>
        <p:txBody>
          <a:bodyPr wrap="none" rtlCol="0">
            <a:spAutoFit/>
          </a:bodyPr>
          <a:lstStyle/>
          <a:p>
            <a:r>
              <a:rPr lang="en-US" dirty="0"/>
              <a:t>Add the following as constraints: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9EF5D9B-799A-E193-4739-60CF68C03D2D}"/>
                  </a:ext>
                </a:extLst>
              </p:cNvPr>
              <p:cNvSpPr txBox="1"/>
              <p:nvPr/>
            </p:nvSpPr>
            <p:spPr>
              <a:xfrm>
                <a:off x="175046" y="2467414"/>
                <a:ext cx="4493346" cy="1029834"/>
              </a:xfrm>
              <a:prstGeom prst="rect">
                <a:avLst/>
              </a:prstGeom>
              <a:noFill/>
            </p:spPr>
            <p:txBody>
              <a:bodyPr wrap="none" rtlCol="0">
                <a:spAutoFit/>
              </a:bodyPr>
              <a:lstStyle/>
              <a:p>
                <a14:m>
                  <m:oMath xmlns:m="http://schemas.openxmlformats.org/officeDocument/2006/math">
                    <m:nary>
                      <m:naryPr>
                        <m:chr m:val="∑"/>
                        <m:supHide m:val="on"/>
                        <m:ctrlPr>
                          <a:rPr lang="en-CA" sz="1600" b="0" i="1" smtClean="0">
                            <a:solidFill>
                              <a:schemeClr val="accent2">
                                <a:lumMod val="75000"/>
                              </a:schemeClr>
                            </a:solidFill>
                            <a:latin typeface="Cambria Math" panose="02040503050406030204" pitchFamily="18" charset="0"/>
                          </a:rPr>
                        </m:ctrlPr>
                      </m:naryPr>
                      <m:sub>
                        <m:r>
                          <m:rPr>
                            <m:brk m:alnAt="7"/>
                          </m:rPr>
                          <a:rPr lang="en-CA" sz="1600" b="0" i="1" smtClean="0">
                            <a:solidFill>
                              <a:schemeClr val="accent2">
                                <a:lumMod val="75000"/>
                              </a:schemeClr>
                            </a:solidFill>
                            <a:latin typeface="Cambria Math" panose="02040503050406030204" pitchFamily="18" charset="0"/>
                          </a:rPr>
                          <m:t>𝑘</m:t>
                        </m:r>
                        <m:r>
                          <a:rPr lang="en-CA" sz="1600" b="0" i="1" smtClean="0">
                            <a:solidFill>
                              <a:schemeClr val="accent2">
                                <a:lumMod val="75000"/>
                              </a:schemeClr>
                            </a:solidFill>
                            <a:latin typeface="Cambria Math" panose="02040503050406030204" pitchFamily="18" charset="0"/>
                            <a:ea typeface="Cambria Math" panose="02040503050406030204" pitchFamily="18" charset="0"/>
                          </a:rPr>
                          <m:t>∈</m:t>
                        </m:r>
                        <m:r>
                          <a:rPr lang="en-CA" sz="1600" b="0" i="1" smtClean="0">
                            <a:solidFill>
                              <a:schemeClr val="accent2">
                                <a:lumMod val="75000"/>
                              </a:schemeClr>
                            </a:solidFill>
                            <a:latin typeface="Cambria Math" panose="02040503050406030204" pitchFamily="18" charset="0"/>
                            <a:ea typeface="Cambria Math" panose="02040503050406030204" pitchFamily="18" charset="0"/>
                          </a:rPr>
                          <m:t>𝐾</m:t>
                        </m:r>
                      </m:sub>
                      <m:sup/>
                      <m:e>
                        <m:sSubSup>
                          <m:sSubSupPr>
                            <m:ctrlPr>
                              <a:rPr lang="en-CA" sz="1600" b="0" i="1" smtClean="0">
                                <a:solidFill>
                                  <a:schemeClr val="accent2">
                                    <a:lumMod val="75000"/>
                                  </a:schemeClr>
                                </a:solidFill>
                                <a:latin typeface="Cambria Math" panose="02040503050406030204" pitchFamily="18" charset="0"/>
                              </a:rPr>
                            </m:ctrlPr>
                          </m:sSubSupPr>
                          <m:e>
                            <m:r>
                              <a:rPr lang="en-CA" sz="1600" b="0" i="1" smtClean="0">
                                <a:solidFill>
                                  <a:schemeClr val="accent2">
                                    <a:lumMod val="75000"/>
                                  </a:schemeClr>
                                </a:solidFill>
                                <a:latin typeface="Cambria Math" panose="02040503050406030204" pitchFamily="18" charset="0"/>
                              </a:rPr>
                              <m:t>𝑉</m:t>
                            </m:r>
                          </m:e>
                          <m:sub>
                            <m:r>
                              <a:rPr lang="en-CA" sz="1600" b="0" i="1" smtClean="0">
                                <a:solidFill>
                                  <a:schemeClr val="accent2">
                                    <a:lumMod val="75000"/>
                                  </a:schemeClr>
                                </a:solidFill>
                                <a:latin typeface="Cambria Math" panose="02040503050406030204" pitchFamily="18" charset="0"/>
                              </a:rPr>
                              <m:t>𝑒𝑥</m:t>
                            </m:r>
                            <m:r>
                              <a:rPr lang="en-CA" sz="1600" b="0" i="1" smtClean="0">
                                <a:solidFill>
                                  <a:schemeClr val="accent2">
                                    <a:lumMod val="75000"/>
                                  </a:schemeClr>
                                </a:solidFill>
                                <a:latin typeface="Cambria Math" panose="02040503050406030204" pitchFamily="18" charset="0"/>
                              </a:rPr>
                              <m:t>(</m:t>
                            </m:r>
                            <m:r>
                              <a:rPr lang="en-CA" sz="1600" b="0" i="1" smtClean="0">
                                <a:solidFill>
                                  <a:schemeClr val="accent2">
                                    <a:lumMod val="75000"/>
                                  </a:schemeClr>
                                </a:solidFill>
                                <a:latin typeface="Cambria Math" panose="02040503050406030204" pitchFamily="18" charset="0"/>
                              </a:rPr>
                              <m:t>𝑖</m:t>
                            </m:r>
                            <m:r>
                              <a:rPr lang="en-CA" sz="1600" b="0" i="1" smtClean="0">
                                <a:solidFill>
                                  <a:schemeClr val="accent2">
                                    <a:lumMod val="75000"/>
                                  </a:schemeClr>
                                </a:solidFill>
                                <a:latin typeface="Cambria Math" panose="02040503050406030204" pitchFamily="18" charset="0"/>
                              </a:rPr>
                              <m:t>)</m:t>
                            </m:r>
                          </m:sub>
                          <m:sup>
                            <m:r>
                              <a:rPr lang="en-CA" sz="1600" b="0" i="1" smtClean="0">
                                <a:solidFill>
                                  <a:schemeClr val="accent2">
                                    <a:lumMod val="75000"/>
                                  </a:schemeClr>
                                </a:solidFill>
                                <a:latin typeface="Cambria Math" panose="02040503050406030204" pitchFamily="18" charset="0"/>
                              </a:rPr>
                              <m:t>𝑘</m:t>
                            </m:r>
                          </m:sup>
                        </m:sSubSup>
                        <m:r>
                          <a:rPr lang="en-CA" sz="1600" b="0" i="1" smtClean="0">
                            <a:solidFill>
                              <a:schemeClr val="accent2">
                                <a:lumMod val="75000"/>
                              </a:schemeClr>
                            </a:solidFill>
                            <a:latin typeface="Cambria Math" panose="02040503050406030204" pitchFamily="18" charset="0"/>
                          </a:rPr>
                          <m:t>=(10−30</m:t>
                        </m:r>
                      </m:e>
                    </m:nary>
                  </m:oMath>
                </a14:m>
                <a:r>
                  <a:rPr lang="en-US" sz="1600" dirty="0">
                    <a:solidFill>
                      <a:schemeClr val="accent2">
                        <a:lumMod val="75000"/>
                      </a:schemeClr>
                    </a:solidFill>
                  </a:rPr>
                  <a:t>)μ	for metabolite B</a:t>
                </a:r>
              </a:p>
              <a:p>
                <a14:m>
                  <m:oMath xmlns:m="http://schemas.openxmlformats.org/officeDocument/2006/math">
                    <m:nary>
                      <m:naryPr>
                        <m:chr m:val="∑"/>
                        <m:supHide m:val="on"/>
                        <m:ctrlPr>
                          <a:rPr lang="en-CA" sz="1600" b="0" i="1" smtClean="0">
                            <a:solidFill>
                              <a:srgbClr val="FF2F92"/>
                            </a:solidFill>
                            <a:latin typeface="Cambria Math" panose="02040503050406030204" pitchFamily="18" charset="0"/>
                          </a:rPr>
                        </m:ctrlPr>
                      </m:naryPr>
                      <m:sub>
                        <m:r>
                          <m:rPr>
                            <m:brk m:alnAt="7"/>
                          </m:rPr>
                          <a:rPr lang="en-CA" sz="1600" b="0" i="1" smtClean="0">
                            <a:solidFill>
                              <a:srgbClr val="FF2F92"/>
                            </a:solidFill>
                            <a:latin typeface="Cambria Math" panose="02040503050406030204" pitchFamily="18" charset="0"/>
                          </a:rPr>
                          <m:t>𝑘</m:t>
                        </m:r>
                        <m:r>
                          <a:rPr lang="en-CA" sz="1600" b="0" i="1" smtClean="0">
                            <a:solidFill>
                              <a:srgbClr val="FF2F92"/>
                            </a:solidFill>
                            <a:latin typeface="Cambria Math" panose="02040503050406030204" pitchFamily="18" charset="0"/>
                            <a:ea typeface="Cambria Math" panose="02040503050406030204" pitchFamily="18" charset="0"/>
                          </a:rPr>
                          <m:t>∈</m:t>
                        </m:r>
                        <m:r>
                          <a:rPr lang="en-CA" sz="1600" b="0" i="1" smtClean="0">
                            <a:solidFill>
                              <a:srgbClr val="FF2F92"/>
                            </a:solidFill>
                            <a:latin typeface="Cambria Math" panose="02040503050406030204" pitchFamily="18" charset="0"/>
                            <a:ea typeface="Cambria Math" panose="02040503050406030204" pitchFamily="18" charset="0"/>
                          </a:rPr>
                          <m:t>𝐾</m:t>
                        </m:r>
                      </m:sub>
                      <m:sup/>
                      <m:e>
                        <m:sSubSup>
                          <m:sSubSupPr>
                            <m:ctrlPr>
                              <a:rPr lang="en-CA" sz="1600" b="0" i="1" smtClean="0">
                                <a:solidFill>
                                  <a:srgbClr val="FF2F92"/>
                                </a:solidFill>
                                <a:latin typeface="Cambria Math" panose="02040503050406030204" pitchFamily="18" charset="0"/>
                              </a:rPr>
                            </m:ctrlPr>
                          </m:sSubSupPr>
                          <m:e>
                            <m:r>
                              <a:rPr lang="en-CA" sz="1600" b="0" i="1" smtClean="0">
                                <a:solidFill>
                                  <a:srgbClr val="FF2F92"/>
                                </a:solidFill>
                                <a:latin typeface="Cambria Math" panose="02040503050406030204" pitchFamily="18" charset="0"/>
                              </a:rPr>
                              <m:t>𝑉</m:t>
                            </m:r>
                          </m:e>
                          <m:sub>
                            <m:r>
                              <a:rPr lang="en-CA" sz="1600" b="0" i="1" smtClean="0">
                                <a:solidFill>
                                  <a:srgbClr val="FF2F92"/>
                                </a:solidFill>
                                <a:latin typeface="Cambria Math" panose="02040503050406030204" pitchFamily="18" charset="0"/>
                              </a:rPr>
                              <m:t>𝑒𝑥</m:t>
                            </m:r>
                            <m:r>
                              <a:rPr lang="en-CA" sz="1600" b="0" i="1" smtClean="0">
                                <a:solidFill>
                                  <a:srgbClr val="FF2F92"/>
                                </a:solidFill>
                                <a:latin typeface="Cambria Math" panose="02040503050406030204" pitchFamily="18" charset="0"/>
                              </a:rPr>
                              <m:t>(</m:t>
                            </m:r>
                            <m:r>
                              <a:rPr lang="en-CA" sz="1600" b="0" i="1" smtClean="0">
                                <a:solidFill>
                                  <a:srgbClr val="FF2F92"/>
                                </a:solidFill>
                                <a:latin typeface="Cambria Math" panose="02040503050406030204" pitchFamily="18" charset="0"/>
                              </a:rPr>
                              <m:t>𝑖</m:t>
                            </m:r>
                            <m:r>
                              <a:rPr lang="en-CA" sz="1600" b="0" i="1" smtClean="0">
                                <a:solidFill>
                                  <a:srgbClr val="FF2F92"/>
                                </a:solidFill>
                                <a:latin typeface="Cambria Math" panose="02040503050406030204" pitchFamily="18" charset="0"/>
                              </a:rPr>
                              <m:t>)</m:t>
                            </m:r>
                          </m:sub>
                          <m:sup>
                            <m:r>
                              <a:rPr lang="en-CA" sz="1600" b="0" i="1" smtClean="0">
                                <a:solidFill>
                                  <a:srgbClr val="FF2F92"/>
                                </a:solidFill>
                                <a:latin typeface="Cambria Math" panose="02040503050406030204" pitchFamily="18" charset="0"/>
                              </a:rPr>
                              <m:t>𝑘</m:t>
                            </m:r>
                          </m:sup>
                        </m:sSubSup>
                        <m:r>
                          <a:rPr lang="en-CA" sz="1600" b="0" i="1" smtClean="0">
                            <a:solidFill>
                              <a:srgbClr val="FF2F92"/>
                            </a:solidFill>
                            <a:latin typeface="Cambria Math" panose="02040503050406030204" pitchFamily="18" charset="0"/>
                          </a:rPr>
                          <m:t>=(10−10</m:t>
                        </m:r>
                      </m:e>
                    </m:nary>
                  </m:oMath>
                </a14:m>
                <a:r>
                  <a:rPr lang="en-US" sz="1600" dirty="0">
                    <a:solidFill>
                      <a:srgbClr val="FF2F92"/>
                    </a:solidFill>
                  </a:rPr>
                  <a:t>)μ	for metabolite D</a:t>
                </a:r>
              </a:p>
              <a:p>
                <a14:m>
                  <m:oMath xmlns:m="http://schemas.openxmlformats.org/officeDocument/2006/math">
                    <m:nary>
                      <m:naryPr>
                        <m:chr m:val="∑"/>
                        <m:supHide m:val="on"/>
                        <m:ctrlPr>
                          <a:rPr lang="en-CA" sz="1600" b="0" i="1" smtClean="0">
                            <a:solidFill>
                              <a:schemeClr val="accent2">
                                <a:lumMod val="75000"/>
                              </a:schemeClr>
                            </a:solidFill>
                            <a:latin typeface="Cambria Math" panose="02040503050406030204" pitchFamily="18" charset="0"/>
                          </a:rPr>
                        </m:ctrlPr>
                      </m:naryPr>
                      <m:sub>
                        <m:r>
                          <m:rPr>
                            <m:brk m:alnAt="7"/>
                          </m:rPr>
                          <a:rPr lang="en-CA" sz="1600" b="0" i="1" smtClean="0">
                            <a:solidFill>
                              <a:schemeClr val="accent2">
                                <a:lumMod val="75000"/>
                              </a:schemeClr>
                            </a:solidFill>
                            <a:latin typeface="Cambria Math" panose="02040503050406030204" pitchFamily="18" charset="0"/>
                          </a:rPr>
                          <m:t>𝑘</m:t>
                        </m:r>
                        <m:r>
                          <a:rPr lang="en-CA" sz="1600" b="0" i="1" smtClean="0">
                            <a:solidFill>
                              <a:schemeClr val="accent2">
                                <a:lumMod val="75000"/>
                              </a:schemeClr>
                            </a:solidFill>
                            <a:latin typeface="Cambria Math" panose="02040503050406030204" pitchFamily="18" charset="0"/>
                            <a:ea typeface="Cambria Math" panose="02040503050406030204" pitchFamily="18" charset="0"/>
                          </a:rPr>
                          <m:t>∈</m:t>
                        </m:r>
                        <m:r>
                          <a:rPr lang="en-CA" sz="1600" b="0" i="1" smtClean="0">
                            <a:solidFill>
                              <a:schemeClr val="accent2">
                                <a:lumMod val="75000"/>
                              </a:schemeClr>
                            </a:solidFill>
                            <a:latin typeface="Cambria Math" panose="02040503050406030204" pitchFamily="18" charset="0"/>
                            <a:ea typeface="Cambria Math" panose="02040503050406030204" pitchFamily="18" charset="0"/>
                          </a:rPr>
                          <m:t>𝐾</m:t>
                        </m:r>
                      </m:sub>
                      <m:sup/>
                      <m:e>
                        <m:sSubSup>
                          <m:sSubSupPr>
                            <m:ctrlPr>
                              <a:rPr lang="en-CA" sz="1600" b="0" i="1" smtClean="0">
                                <a:solidFill>
                                  <a:schemeClr val="accent2">
                                    <a:lumMod val="75000"/>
                                  </a:schemeClr>
                                </a:solidFill>
                                <a:latin typeface="Cambria Math" panose="02040503050406030204" pitchFamily="18" charset="0"/>
                              </a:rPr>
                            </m:ctrlPr>
                          </m:sSubSupPr>
                          <m:e>
                            <m:r>
                              <a:rPr lang="en-CA" sz="1600" b="0" i="1" smtClean="0">
                                <a:solidFill>
                                  <a:schemeClr val="accent2">
                                    <a:lumMod val="75000"/>
                                  </a:schemeClr>
                                </a:solidFill>
                                <a:latin typeface="Cambria Math" panose="02040503050406030204" pitchFamily="18" charset="0"/>
                              </a:rPr>
                              <m:t>𝑉</m:t>
                            </m:r>
                          </m:e>
                          <m:sub>
                            <m:r>
                              <a:rPr lang="en-CA" sz="1600" b="0" i="1" smtClean="0">
                                <a:solidFill>
                                  <a:schemeClr val="accent2">
                                    <a:lumMod val="75000"/>
                                  </a:schemeClr>
                                </a:solidFill>
                                <a:latin typeface="Cambria Math" panose="02040503050406030204" pitchFamily="18" charset="0"/>
                              </a:rPr>
                              <m:t>𝑒𝑥</m:t>
                            </m:r>
                            <m:r>
                              <a:rPr lang="en-CA" sz="1600" b="0" i="1" smtClean="0">
                                <a:solidFill>
                                  <a:schemeClr val="accent2">
                                    <a:lumMod val="75000"/>
                                  </a:schemeClr>
                                </a:solidFill>
                                <a:latin typeface="Cambria Math" panose="02040503050406030204" pitchFamily="18" charset="0"/>
                              </a:rPr>
                              <m:t>(</m:t>
                            </m:r>
                            <m:r>
                              <a:rPr lang="en-CA" sz="1600" b="0" i="1" smtClean="0">
                                <a:solidFill>
                                  <a:schemeClr val="accent2">
                                    <a:lumMod val="75000"/>
                                  </a:schemeClr>
                                </a:solidFill>
                                <a:latin typeface="Cambria Math" panose="02040503050406030204" pitchFamily="18" charset="0"/>
                              </a:rPr>
                              <m:t>𝑖</m:t>
                            </m:r>
                            <m:r>
                              <a:rPr lang="en-CA" sz="1600" b="0" i="1" smtClean="0">
                                <a:solidFill>
                                  <a:schemeClr val="accent2">
                                    <a:lumMod val="75000"/>
                                  </a:schemeClr>
                                </a:solidFill>
                                <a:latin typeface="Cambria Math" panose="02040503050406030204" pitchFamily="18" charset="0"/>
                              </a:rPr>
                              <m:t>)</m:t>
                            </m:r>
                          </m:sub>
                          <m:sup>
                            <m:r>
                              <a:rPr lang="en-CA" sz="1600" b="0" i="1" smtClean="0">
                                <a:solidFill>
                                  <a:schemeClr val="accent2">
                                    <a:lumMod val="75000"/>
                                  </a:schemeClr>
                                </a:solidFill>
                                <a:latin typeface="Cambria Math" panose="02040503050406030204" pitchFamily="18" charset="0"/>
                              </a:rPr>
                              <m:t>𝑘</m:t>
                            </m:r>
                          </m:sup>
                        </m:sSubSup>
                        <m:r>
                          <a:rPr lang="en-CA" sz="1600" b="0" i="1" smtClean="0">
                            <a:solidFill>
                              <a:schemeClr val="accent2">
                                <a:lumMod val="75000"/>
                              </a:schemeClr>
                            </a:solidFill>
                            <a:latin typeface="Cambria Math" panose="02040503050406030204" pitchFamily="18" charset="0"/>
                          </a:rPr>
                          <m:t>=(3−50</m:t>
                        </m:r>
                      </m:e>
                    </m:nary>
                  </m:oMath>
                </a14:m>
                <a:r>
                  <a:rPr lang="en-US" sz="1600" dirty="0">
                    <a:solidFill>
                      <a:schemeClr val="accent2">
                        <a:lumMod val="75000"/>
                      </a:schemeClr>
                    </a:solidFill>
                  </a:rPr>
                  <a:t>)μ	for metabolite E</a:t>
                </a:r>
              </a:p>
            </p:txBody>
          </p:sp>
        </mc:Choice>
        <mc:Fallback xmlns="">
          <p:sp>
            <p:nvSpPr>
              <p:cNvPr id="10" name="TextBox 9">
                <a:extLst>
                  <a:ext uri="{FF2B5EF4-FFF2-40B4-BE49-F238E27FC236}">
                    <a16:creationId xmlns:a16="http://schemas.microsoft.com/office/drawing/2014/main" id="{89EF5D9B-799A-E193-4739-60CF68C03D2D}"/>
                  </a:ext>
                </a:extLst>
              </p:cNvPr>
              <p:cNvSpPr txBox="1">
                <a:spLocks noRot="1" noChangeAspect="1" noMove="1" noResize="1" noEditPoints="1" noAdjustHandles="1" noChangeArrowheads="1" noChangeShapeType="1" noTextEdit="1"/>
              </p:cNvSpPr>
              <p:nvPr/>
            </p:nvSpPr>
            <p:spPr>
              <a:xfrm>
                <a:off x="175046" y="2467414"/>
                <a:ext cx="4493346" cy="1029834"/>
              </a:xfrm>
              <a:prstGeom prst="rect">
                <a:avLst/>
              </a:prstGeom>
              <a:blipFill>
                <a:blip r:embed="rId4"/>
                <a:stretch>
                  <a:fillRect l="-6479" t="-34146" b="-524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ABD5A42-E1A6-D90A-D630-642058DEB0EC}"/>
                  </a:ext>
                </a:extLst>
              </p:cNvPr>
              <p:cNvSpPr txBox="1"/>
              <p:nvPr/>
            </p:nvSpPr>
            <p:spPr>
              <a:xfrm>
                <a:off x="358781" y="3767775"/>
                <a:ext cx="5737219" cy="1260794"/>
              </a:xfrm>
              <a:prstGeom prst="rect">
                <a:avLst/>
              </a:prstGeom>
              <a:noFill/>
            </p:spPr>
            <p:txBody>
              <a:bodyPr wrap="square" rtlCol="0">
                <a:spAutoFit/>
              </a:bodyPr>
              <a:lstStyle/>
              <a:p>
                <a:r>
                  <a:rPr lang="en-US" dirty="0"/>
                  <a:t>Then… ask the model what is </a:t>
                </a:r>
                <a14:m>
                  <m:oMath xmlns:m="http://schemas.openxmlformats.org/officeDocument/2006/math">
                    <m:nary>
                      <m:naryPr>
                        <m:chr m:val="∑"/>
                        <m:supHide m:val="on"/>
                        <m:ctrlPr>
                          <a:rPr lang="en-CA" sz="1800" b="0" i="1" smtClean="0">
                            <a:solidFill>
                              <a:schemeClr val="tx1"/>
                            </a:solidFill>
                            <a:latin typeface="Cambria Math" panose="02040503050406030204" pitchFamily="18" charset="0"/>
                          </a:rPr>
                        </m:ctrlPr>
                      </m:naryPr>
                      <m:sub>
                        <m:r>
                          <m:rPr>
                            <m:brk m:alnAt="7"/>
                          </m:rPr>
                          <a:rPr lang="en-CA" sz="1800" b="0" i="1" smtClean="0">
                            <a:solidFill>
                              <a:schemeClr val="tx1"/>
                            </a:solidFill>
                            <a:latin typeface="Cambria Math" panose="02040503050406030204" pitchFamily="18" charset="0"/>
                          </a:rPr>
                          <m:t>𝑘</m:t>
                        </m:r>
                        <m:r>
                          <a:rPr lang="en-CA" sz="1800" b="0" i="1" smtClean="0">
                            <a:solidFill>
                              <a:schemeClr val="tx1"/>
                            </a:solidFill>
                            <a:latin typeface="Cambria Math" panose="02040503050406030204" pitchFamily="18" charset="0"/>
                            <a:ea typeface="Cambria Math" panose="02040503050406030204" pitchFamily="18" charset="0"/>
                          </a:rPr>
                          <m:t>∈</m:t>
                        </m:r>
                        <m:r>
                          <a:rPr lang="en-CA" sz="1800" b="0" i="1" smtClean="0">
                            <a:solidFill>
                              <a:schemeClr val="tx1"/>
                            </a:solidFill>
                            <a:latin typeface="Cambria Math" panose="02040503050406030204" pitchFamily="18" charset="0"/>
                            <a:ea typeface="Cambria Math" panose="02040503050406030204" pitchFamily="18" charset="0"/>
                          </a:rPr>
                          <m:t>𝐾</m:t>
                        </m:r>
                      </m:sub>
                      <m:sup/>
                      <m:e>
                        <m:sSubSup>
                          <m:sSubSupPr>
                            <m:ctrlPr>
                              <a:rPr lang="en-CA" sz="1800" b="0" i="1" smtClean="0">
                                <a:solidFill>
                                  <a:schemeClr val="tx1"/>
                                </a:solidFill>
                                <a:latin typeface="Cambria Math" panose="02040503050406030204" pitchFamily="18" charset="0"/>
                              </a:rPr>
                            </m:ctrlPr>
                          </m:sSubSupPr>
                          <m:e>
                            <m:r>
                              <a:rPr lang="en-CA" sz="1800" b="0" i="1" smtClean="0">
                                <a:solidFill>
                                  <a:schemeClr val="tx1"/>
                                </a:solidFill>
                                <a:latin typeface="Cambria Math" panose="02040503050406030204" pitchFamily="18" charset="0"/>
                              </a:rPr>
                              <m:t>𝑉</m:t>
                            </m:r>
                          </m:e>
                          <m:sub>
                            <m:r>
                              <a:rPr lang="en-CA" sz="1800" b="0" i="1" smtClean="0">
                                <a:solidFill>
                                  <a:schemeClr val="tx1"/>
                                </a:solidFill>
                                <a:latin typeface="Cambria Math" panose="02040503050406030204" pitchFamily="18" charset="0"/>
                              </a:rPr>
                              <m:t>𝑒𝑥</m:t>
                            </m:r>
                            <m:r>
                              <a:rPr lang="en-CA" sz="1800" b="0" i="1" smtClean="0">
                                <a:solidFill>
                                  <a:schemeClr val="tx1"/>
                                </a:solidFill>
                                <a:latin typeface="Cambria Math" panose="02040503050406030204" pitchFamily="18" charset="0"/>
                              </a:rPr>
                              <m:t>(</m:t>
                            </m:r>
                            <m:r>
                              <a:rPr lang="en-CA" sz="1800" b="0" i="1" smtClean="0">
                                <a:solidFill>
                                  <a:schemeClr val="tx1"/>
                                </a:solidFill>
                                <a:latin typeface="Cambria Math" panose="02040503050406030204" pitchFamily="18" charset="0"/>
                              </a:rPr>
                              <m:t>𝑖</m:t>
                            </m:r>
                            <m:r>
                              <a:rPr lang="en-CA" sz="1800" b="0" i="1" smtClean="0">
                                <a:solidFill>
                                  <a:schemeClr val="tx1"/>
                                </a:solidFill>
                                <a:latin typeface="Cambria Math" panose="02040503050406030204" pitchFamily="18" charset="0"/>
                              </a:rPr>
                              <m:t>)</m:t>
                            </m:r>
                          </m:sub>
                          <m:sup>
                            <m:r>
                              <a:rPr lang="en-CA" sz="1800" b="0" i="1" smtClean="0">
                                <a:solidFill>
                                  <a:schemeClr val="tx1"/>
                                </a:solidFill>
                                <a:latin typeface="Cambria Math" panose="02040503050406030204" pitchFamily="18" charset="0"/>
                              </a:rPr>
                              <m:t>𝑘</m:t>
                            </m:r>
                          </m:sup>
                        </m:sSubSup>
                      </m:e>
                    </m:nary>
                  </m:oMath>
                </a14:m>
                <a:r>
                  <a:rPr lang="en-US" dirty="0"/>
                  <a:t> for produced metabolites:</a:t>
                </a:r>
              </a:p>
              <a:p>
                <a14:m>
                  <m:oMath xmlns:m="http://schemas.openxmlformats.org/officeDocument/2006/math">
                    <m:r>
                      <a:rPr lang="en-CA" sz="1800" b="0" i="1" smtClean="0">
                        <a:solidFill>
                          <a:srgbClr val="7030A0"/>
                        </a:solidFill>
                        <a:latin typeface="Cambria Math" panose="02040503050406030204" pitchFamily="18" charset="0"/>
                      </a:rPr>
                      <m:t>𝑖</m:t>
                    </m:r>
                  </m:oMath>
                </a14:m>
                <a:r>
                  <a:rPr lang="en-US" dirty="0">
                    <a:solidFill>
                      <a:srgbClr val="7030A0"/>
                    </a:solidFill>
                  </a:rPr>
                  <a:t> = A</a:t>
                </a:r>
              </a:p>
              <a:p>
                <a14:m>
                  <m:oMath xmlns:m="http://schemas.openxmlformats.org/officeDocument/2006/math">
                    <m:r>
                      <a:rPr lang="en-CA" sz="1800" b="0" i="1" smtClean="0">
                        <a:solidFill>
                          <a:srgbClr val="7030A0"/>
                        </a:solidFill>
                        <a:latin typeface="Cambria Math" panose="02040503050406030204" pitchFamily="18" charset="0"/>
                      </a:rPr>
                      <m:t>𝑖</m:t>
                    </m:r>
                  </m:oMath>
                </a14:m>
                <a:r>
                  <a:rPr lang="en-US" dirty="0">
                    <a:solidFill>
                      <a:srgbClr val="7030A0"/>
                    </a:solidFill>
                  </a:rPr>
                  <a:t> = C</a:t>
                </a:r>
              </a:p>
            </p:txBody>
          </p:sp>
        </mc:Choice>
        <mc:Fallback xmlns="">
          <p:sp>
            <p:nvSpPr>
              <p:cNvPr id="11" name="TextBox 10">
                <a:extLst>
                  <a:ext uri="{FF2B5EF4-FFF2-40B4-BE49-F238E27FC236}">
                    <a16:creationId xmlns:a16="http://schemas.microsoft.com/office/drawing/2014/main" id="{AABD5A42-E1A6-D90A-D630-642058DEB0EC}"/>
                  </a:ext>
                </a:extLst>
              </p:cNvPr>
              <p:cNvSpPr txBox="1">
                <a:spLocks noRot="1" noChangeAspect="1" noMove="1" noResize="1" noEditPoints="1" noAdjustHandles="1" noChangeArrowheads="1" noChangeShapeType="1" noTextEdit="1"/>
              </p:cNvSpPr>
              <p:nvPr/>
            </p:nvSpPr>
            <p:spPr>
              <a:xfrm>
                <a:off x="358781" y="3767775"/>
                <a:ext cx="5737219" cy="1260794"/>
              </a:xfrm>
              <a:prstGeom prst="rect">
                <a:avLst/>
              </a:prstGeom>
              <a:blipFill>
                <a:blip r:embed="rId5"/>
                <a:stretch>
                  <a:fillRect l="-883" t="-31000" b="-7000"/>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94CDDBAC-9B54-85D8-27A1-ED10C38D6EBB}"/>
              </a:ext>
            </a:extLst>
          </p:cNvPr>
          <p:cNvSpPr txBox="1"/>
          <p:nvPr/>
        </p:nvSpPr>
        <p:spPr>
          <a:xfrm>
            <a:off x="358781" y="5293773"/>
            <a:ext cx="2226187" cy="369332"/>
          </a:xfrm>
          <a:prstGeom prst="rect">
            <a:avLst/>
          </a:prstGeom>
          <a:noFill/>
        </p:spPr>
        <p:txBody>
          <a:bodyPr wrap="none" rtlCol="0">
            <a:spAutoFit/>
          </a:bodyPr>
          <a:lstStyle/>
          <a:p>
            <a:r>
              <a:rPr lang="en-US" dirty="0"/>
              <a:t>Toy modelling results: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8746E12-D9EC-ADEA-450D-484AC4956E9E}"/>
                  </a:ext>
                </a:extLst>
              </p:cNvPr>
              <p:cNvSpPr txBox="1"/>
              <p:nvPr/>
            </p:nvSpPr>
            <p:spPr>
              <a:xfrm>
                <a:off x="443346" y="5789381"/>
                <a:ext cx="1777987" cy="767261"/>
              </a:xfrm>
              <a:prstGeom prst="rect">
                <a:avLst/>
              </a:prstGeom>
              <a:noFill/>
            </p:spPr>
            <p:txBody>
              <a:bodyPr wrap="none" rtlCol="0">
                <a:spAutoFit/>
              </a:bodyPr>
              <a:lstStyle/>
              <a:p>
                <a14:m>
                  <m:oMath xmlns:m="http://schemas.openxmlformats.org/officeDocument/2006/math">
                    <m:nary>
                      <m:naryPr>
                        <m:chr m:val="∑"/>
                        <m:supHide m:val="on"/>
                        <m:ctrlPr>
                          <a:rPr lang="en-CA" sz="1800" b="0" i="1" smtClean="0">
                            <a:solidFill>
                              <a:srgbClr val="7030A0"/>
                            </a:solidFill>
                            <a:latin typeface="Cambria Math" panose="02040503050406030204" pitchFamily="18" charset="0"/>
                          </a:rPr>
                        </m:ctrlPr>
                      </m:naryPr>
                      <m:sub>
                        <m:r>
                          <m:rPr>
                            <m:brk m:alnAt="7"/>
                          </m:rPr>
                          <a:rPr lang="en-CA" sz="1800" b="0" i="1" smtClean="0">
                            <a:solidFill>
                              <a:srgbClr val="7030A0"/>
                            </a:solidFill>
                            <a:latin typeface="Cambria Math" panose="02040503050406030204" pitchFamily="18" charset="0"/>
                          </a:rPr>
                          <m:t>𝑘</m:t>
                        </m:r>
                        <m:r>
                          <a:rPr lang="en-CA" sz="1800" b="0" i="1" smtClean="0">
                            <a:solidFill>
                              <a:srgbClr val="7030A0"/>
                            </a:solidFill>
                            <a:latin typeface="Cambria Math" panose="02040503050406030204" pitchFamily="18" charset="0"/>
                            <a:ea typeface="Cambria Math" panose="02040503050406030204" pitchFamily="18" charset="0"/>
                          </a:rPr>
                          <m:t>∈</m:t>
                        </m:r>
                        <m:r>
                          <a:rPr lang="en-CA" sz="1800" b="0" i="1" smtClean="0">
                            <a:solidFill>
                              <a:srgbClr val="7030A0"/>
                            </a:solidFill>
                            <a:latin typeface="Cambria Math" panose="02040503050406030204" pitchFamily="18" charset="0"/>
                            <a:ea typeface="Cambria Math" panose="02040503050406030204" pitchFamily="18" charset="0"/>
                          </a:rPr>
                          <m:t>𝐾</m:t>
                        </m:r>
                      </m:sub>
                      <m:sup/>
                      <m:e>
                        <m:sSubSup>
                          <m:sSubSupPr>
                            <m:ctrlPr>
                              <a:rPr lang="en-CA" sz="1800" b="0" i="1" smtClean="0">
                                <a:solidFill>
                                  <a:srgbClr val="7030A0"/>
                                </a:solidFill>
                                <a:latin typeface="Cambria Math" panose="02040503050406030204" pitchFamily="18" charset="0"/>
                              </a:rPr>
                            </m:ctrlPr>
                          </m:sSubSupPr>
                          <m:e>
                            <m:r>
                              <a:rPr lang="en-CA" sz="1800" b="0" i="1" smtClean="0">
                                <a:solidFill>
                                  <a:srgbClr val="7030A0"/>
                                </a:solidFill>
                                <a:latin typeface="Cambria Math" panose="02040503050406030204" pitchFamily="18" charset="0"/>
                              </a:rPr>
                              <m:t>𝑉</m:t>
                            </m:r>
                          </m:e>
                          <m:sub>
                            <m:r>
                              <a:rPr lang="en-CA" sz="1800" b="0" i="1" smtClean="0">
                                <a:solidFill>
                                  <a:srgbClr val="7030A0"/>
                                </a:solidFill>
                                <a:latin typeface="Cambria Math" panose="02040503050406030204" pitchFamily="18" charset="0"/>
                              </a:rPr>
                              <m:t>𝑒𝑥</m:t>
                            </m:r>
                            <m:r>
                              <a:rPr lang="en-CA" sz="1800" b="0" i="1" smtClean="0">
                                <a:solidFill>
                                  <a:srgbClr val="7030A0"/>
                                </a:solidFill>
                                <a:latin typeface="Cambria Math" panose="02040503050406030204" pitchFamily="18" charset="0"/>
                              </a:rPr>
                              <m:t>(</m:t>
                            </m:r>
                            <m:r>
                              <a:rPr lang="en-CA" sz="1800" b="0" i="1" smtClean="0">
                                <a:solidFill>
                                  <a:srgbClr val="7030A0"/>
                                </a:solidFill>
                                <a:latin typeface="Cambria Math" panose="02040503050406030204" pitchFamily="18" charset="0"/>
                              </a:rPr>
                              <m:t>𝐴</m:t>
                            </m:r>
                            <m:r>
                              <a:rPr lang="en-CA" sz="1800" b="0" i="1" smtClean="0">
                                <a:solidFill>
                                  <a:srgbClr val="7030A0"/>
                                </a:solidFill>
                                <a:latin typeface="Cambria Math" panose="02040503050406030204" pitchFamily="18" charset="0"/>
                              </a:rPr>
                              <m:t>)</m:t>
                            </m:r>
                          </m:sub>
                          <m:sup>
                            <m:r>
                              <a:rPr lang="en-CA" sz="1800" b="0" i="1" smtClean="0">
                                <a:solidFill>
                                  <a:srgbClr val="7030A0"/>
                                </a:solidFill>
                                <a:latin typeface="Cambria Math" panose="02040503050406030204" pitchFamily="18" charset="0"/>
                              </a:rPr>
                              <m:t>𝑘</m:t>
                            </m:r>
                          </m:sup>
                        </m:sSubSup>
                      </m:e>
                    </m:nary>
                  </m:oMath>
                </a14:m>
                <a:r>
                  <a:rPr lang="en-US" dirty="0">
                    <a:solidFill>
                      <a:srgbClr val="7030A0"/>
                    </a:solidFill>
                  </a:rPr>
                  <a:t> = R</a:t>
                </a:r>
                <a:r>
                  <a:rPr lang="en-US" baseline="-25000" dirty="0">
                    <a:solidFill>
                      <a:srgbClr val="7030A0"/>
                    </a:solidFill>
                  </a:rPr>
                  <a:t>A</a:t>
                </a:r>
                <a:endParaRPr lang="en-US" dirty="0">
                  <a:solidFill>
                    <a:srgbClr val="7030A0"/>
                  </a:solidFill>
                </a:endParaRPr>
              </a:p>
              <a:p>
                <a14:m>
                  <m:oMath xmlns:m="http://schemas.openxmlformats.org/officeDocument/2006/math">
                    <m:nary>
                      <m:naryPr>
                        <m:chr m:val="∑"/>
                        <m:supHide m:val="on"/>
                        <m:ctrlPr>
                          <a:rPr lang="en-CA" sz="1800" b="0" i="1" smtClean="0">
                            <a:solidFill>
                              <a:srgbClr val="7030A0"/>
                            </a:solidFill>
                            <a:latin typeface="Cambria Math" panose="02040503050406030204" pitchFamily="18" charset="0"/>
                          </a:rPr>
                        </m:ctrlPr>
                      </m:naryPr>
                      <m:sub>
                        <m:r>
                          <m:rPr>
                            <m:brk m:alnAt="7"/>
                          </m:rPr>
                          <a:rPr lang="en-CA" sz="1800" b="0" i="1" smtClean="0">
                            <a:solidFill>
                              <a:srgbClr val="7030A0"/>
                            </a:solidFill>
                            <a:latin typeface="Cambria Math" panose="02040503050406030204" pitchFamily="18" charset="0"/>
                          </a:rPr>
                          <m:t>𝑘</m:t>
                        </m:r>
                        <m:r>
                          <a:rPr lang="en-CA" sz="1800" b="0" i="1" smtClean="0">
                            <a:solidFill>
                              <a:srgbClr val="7030A0"/>
                            </a:solidFill>
                            <a:latin typeface="Cambria Math" panose="02040503050406030204" pitchFamily="18" charset="0"/>
                            <a:ea typeface="Cambria Math" panose="02040503050406030204" pitchFamily="18" charset="0"/>
                          </a:rPr>
                          <m:t>∈</m:t>
                        </m:r>
                        <m:r>
                          <a:rPr lang="en-CA" sz="1800" b="0" i="1" smtClean="0">
                            <a:solidFill>
                              <a:srgbClr val="7030A0"/>
                            </a:solidFill>
                            <a:latin typeface="Cambria Math" panose="02040503050406030204" pitchFamily="18" charset="0"/>
                            <a:ea typeface="Cambria Math" panose="02040503050406030204" pitchFamily="18" charset="0"/>
                          </a:rPr>
                          <m:t>𝐾</m:t>
                        </m:r>
                      </m:sub>
                      <m:sup/>
                      <m:e>
                        <m:sSubSup>
                          <m:sSubSupPr>
                            <m:ctrlPr>
                              <a:rPr lang="en-CA" sz="1800" b="0" i="1" smtClean="0">
                                <a:solidFill>
                                  <a:srgbClr val="7030A0"/>
                                </a:solidFill>
                                <a:latin typeface="Cambria Math" panose="02040503050406030204" pitchFamily="18" charset="0"/>
                              </a:rPr>
                            </m:ctrlPr>
                          </m:sSubSupPr>
                          <m:e>
                            <m:r>
                              <a:rPr lang="en-CA" sz="1800" b="0" i="1" smtClean="0">
                                <a:solidFill>
                                  <a:srgbClr val="7030A0"/>
                                </a:solidFill>
                                <a:latin typeface="Cambria Math" panose="02040503050406030204" pitchFamily="18" charset="0"/>
                              </a:rPr>
                              <m:t>𝑉</m:t>
                            </m:r>
                          </m:e>
                          <m:sub>
                            <m:r>
                              <a:rPr lang="en-CA" sz="1800" b="0" i="1" smtClean="0">
                                <a:solidFill>
                                  <a:srgbClr val="7030A0"/>
                                </a:solidFill>
                                <a:latin typeface="Cambria Math" panose="02040503050406030204" pitchFamily="18" charset="0"/>
                              </a:rPr>
                              <m:t>𝑒𝑥</m:t>
                            </m:r>
                            <m:r>
                              <a:rPr lang="en-CA" sz="1800" b="0" i="1" smtClean="0">
                                <a:solidFill>
                                  <a:srgbClr val="7030A0"/>
                                </a:solidFill>
                                <a:latin typeface="Cambria Math" panose="02040503050406030204" pitchFamily="18" charset="0"/>
                              </a:rPr>
                              <m:t>(</m:t>
                            </m:r>
                            <m:r>
                              <a:rPr lang="en-CA" sz="1800" b="0" i="1" smtClean="0">
                                <a:solidFill>
                                  <a:srgbClr val="7030A0"/>
                                </a:solidFill>
                                <a:latin typeface="Cambria Math" panose="02040503050406030204" pitchFamily="18" charset="0"/>
                              </a:rPr>
                              <m:t>𝐶</m:t>
                            </m:r>
                            <m:r>
                              <a:rPr lang="en-CA" sz="1800" b="0" i="1" smtClean="0">
                                <a:solidFill>
                                  <a:srgbClr val="7030A0"/>
                                </a:solidFill>
                                <a:latin typeface="Cambria Math" panose="02040503050406030204" pitchFamily="18" charset="0"/>
                              </a:rPr>
                              <m:t>)</m:t>
                            </m:r>
                          </m:sub>
                          <m:sup>
                            <m:r>
                              <a:rPr lang="en-CA" sz="1800" b="0" i="1" smtClean="0">
                                <a:solidFill>
                                  <a:srgbClr val="7030A0"/>
                                </a:solidFill>
                                <a:latin typeface="Cambria Math" panose="02040503050406030204" pitchFamily="18" charset="0"/>
                              </a:rPr>
                              <m:t>𝑘</m:t>
                            </m:r>
                          </m:sup>
                        </m:sSubSup>
                      </m:e>
                    </m:nary>
                  </m:oMath>
                </a14:m>
                <a:r>
                  <a:rPr lang="en-US" dirty="0">
                    <a:solidFill>
                      <a:srgbClr val="7030A0"/>
                    </a:solidFill>
                  </a:rPr>
                  <a:t> = R</a:t>
                </a:r>
                <a:r>
                  <a:rPr lang="en-US" baseline="-25000" dirty="0">
                    <a:solidFill>
                      <a:srgbClr val="7030A0"/>
                    </a:solidFill>
                  </a:rPr>
                  <a:t>C</a:t>
                </a:r>
                <a:endParaRPr lang="en-US" dirty="0">
                  <a:solidFill>
                    <a:srgbClr val="7030A0"/>
                  </a:solidFill>
                </a:endParaRPr>
              </a:p>
            </p:txBody>
          </p:sp>
        </mc:Choice>
        <mc:Fallback xmlns="">
          <p:sp>
            <p:nvSpPr>
              <p:cNvPr id="13" name="TextBox 12">
                <a:extLst>
                  <a:ext uri="{FF2B5EF4-FFF2-40B4-BE49-F238E27FC236}">
                    <a16:creationId xmlns:a16="http://schemas.microsoft.com/office/drawing/2014/main" id="{18746E12-D9EC-ADEA-450D-484AC4956E9E}"/>
                  </a:ext>
                </a:extLst>
              </p:cNvPr>
              <p:cNvSpPr txBox="1">
                <a:spLocks noRot="1" noChangeAspect="1" noMove="1" noResize="1" noEditPoints="1" noAdjustHandles="1" noChangeArrowheads="1" noChangeShapeType="1" noTextEdit="1"/>
              </p:cNvSpPr>
              <p:nvPr/>
            </p:nvSpPr>
            <p:spPr>
              <a:xfrm>
                <a:off x="443346" y="5789381"/>
                <a:ext cx="1777987" cy="767261"/>
              </a:xfrm>
              <a:prstGeom prst="rect">
                <a:avLst/>
              </a:prstGeom>
              <a:blipFill>
                <a:blip r:embed="rId6"/>
                <a:stretch>
                  <a:fillRect l="-17857" t="-52459" b="-77049"/>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65FE1B82-ABA0-56BF-DF11-6B37EA52008A}"/>
              </a:ext>
            </a:extLst>
          </p:cNvPr>
          <p:cNvCxnSpPr>
            <a:cxnSpLocks/>
          </p:cNvCxnSpPr>
          <p:nvPr/>
        </p:nvCxnSpPr>
        <p:spPr>
          <a:xfrm>
            <a:off x="2272029" y="6161923"/>
            <a:ext cx="170638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70A7A54-41CC-63CA-5FB6-CD38B6677130}"/>
                  </a:ext>
                </a:extLst>
              </p:cNvPr>
              <p:cNvSpPr txBox="1"/>
              <p:nvPr/>
            </p:nvSpPr>
            <p:spPr>
              <a:xfrm>
                <a:off x="4135611" y="5967991"/>
                <a:ext cx="7885701" cy="664862"/>
              </a:xfrm>
              <a:prstGeom prst="rect">
                <a:avLst/>
              </a:prstGeom>
              <a:noFill/>
            </p:spPr>
            <p:txBody>
              <a:bodyPr wrap="square" rtlCol="0">
                <a:spAutoFit/>
              </a:bodyPr>
              <a:lstStyle/>
              <a:p>
                <a:r>
                  <a:rPr lang="en-US" dirty="0">
                    <a:solidFill>
                      <a:schemeClr val="tx1"/>
                    </a:solidFill>
                  </a:rPr>
                  <a:t>Determine predicted </a:t>
                </a:r>
                <a14:m>
                  <m:oMath xmlns:m="http://schemas.openxmlformats.org/officeDocument/2006/math">
                    <m:sSubSup>
                      <m:sSubSupPr>
                        <m:ctrlPr>
                          <a:rPr lang="en-US" sz="1800" i="1" smtClean="0">
                            <a:solidFill>
                              <a:schemeClr val="tx1"/>
                            </a:solidFill>
                            <a:latin typeface="Cambria Math" panose="02040503050406030204" pitchFamily="18" charset="0"/>
                            <a:ea typeface="Cambria Math" panose="02040503050406030204" pitchFamily="18" charset="0"/>
                          </a:rPr>
                        </m:ctrlPr>
                      </m:sSubSupPr>
                      <m:e>
                        <m:r>
                          <a:rPr lang="en-US" sz="1800" i="1">
                            <a:solidFill>
                              <a:schemeClr val="tx1"/>
                            </a:solidFill>
                            <a:latin typeface="Cambria Math" panose="02040503050406030204" pitchFamily="18" charset="0"/>
                            <a:ea typeface="Cambria Math" panose="02040503050406030204" pitchFamily="18" charset="0"/>
                          </a:rPr>
                          <m:t>𝑠</m:t>
                        </m:r>
                      </m:e>
                      <m:sub>
                        <m:r>
                          <a:rPr lang="en-US" sz="1800" i="1">
                            <a:solidFill>
                              <a:schemeClr val="tx1"/>
                            </a:solidFill>
                            <a:latin typeface="Cambria Math" panose="02040503050406030204" pitchFamily="18" charset="0"/>
                            <a:ea typeface="Cambria Math" panose="02040503050406030204" pitchFamily="18" charset="0"/>
                          </a:rPr>
                          <m:t>𝐻𝐷𝐶</m:t>
                        </m:r>
                        <m:r>
                          <a:rPr lang="en-US" sz="1800" i="1">
                            <a:solidFill>
                              <a:schemeClr val="tx1"/>
                            </a:solidFill>
                            <a:latin typeface="Cambria Math" panose="02040503050406030204" pitchFamily="18" charset="0"/>
                            <a:ea typeface="Cambria Math" panose="02040503050406030204" pitchFamily="18" charset="0"/>
                          </a:rPr>
                          <m:t>1</m:t>
                        </m:r>
                      </m:sub>
                      <m:sup>
                        <m:r>
                          <a:rPr lang="en-US" sz="1800" i="1">
                            <a:solidFill>
                              <a:schemeClr val="tx1"/>
                            </a:solidFill>
                            <a:latin typeface="Cambria Math" panose="02040503050406030204" pitchFamily="18" charset="0"/>
                            <a:ea typeface="Cambria Math" panose="02040503050406030204" pitchFamily="18" charset="0"/>
                          </a:rPr>
                          <m:t>𝑖</m:t>
                        </m:r>
                      </m:sup>
                    </m:sSubSup>
                  </m:oMath>
                </a14:m>
                <a:r>
                  <a:rPr lang="en-US" dirty="0">
                    <a:solidFill>
                      <a:schemeClr val="tx1"/>
                    </a:solidFill>
                  </a:rPr>
                  <a:t> in mmol per g of fecal matter for comparison to experimental results </a:t>
                </a:r>
              </a:p>
            </p:txBody>
          </p:sp>
        </mc:Choice>
        <mc:Fallback xmlns="">
          <p:sp>
            <p:nvSpPr>
              <p:cNvPr id="15" name="TextBox 14">
                <a:extLst>
                  <a:ext uri="{FF2B5EF4-FFF2-40B4-BE49-F238E27FC236}">
                    <a16:creationId xmlns:a16="http://schemas.microsoft.com/office/drawing/2014/main" id="{570A7A54-41CC-63CA-5FB6-CD38B6677130}"/>
                  </a:ext>
                </a:extLst>
              </p:cNvPr>
              <p:cNvSpPr txBox="1">
                <a:spLocks noRot="1" noChangeAspect="1" noMove="1" noResize="1" noEditPoints="1" noAdjustHandles="1" noChangeArrowheads="1" noChangeShapeType="1" noTextEdit="1"/>
              </p:cNvSpPr>
              <p:nvPr/>
            </p:nvSpPr>
            <p:spPr>
              <a:xfrm>
                <a:off x="4135611" y="5967991"/>
                <a:ext cx="7885701" cy="664862"/>
              </a:xfrm>
              <a:prstGeom prst="rect">
                <a:avLst/>
              </a:prstGeom>
              <a:blipFill>
                <a:blip r:embed="rId7"/>
                <a:stretch>
                  <a:fillRect l="-643" t="-1852" b="-12963"/>
                </a:stretch>
              </a:blipFill>
            </p:spPr>
            <p:txBody>
              <a:bodyPr/>
              <a:lstStyle/>
              <a:p>
                <a:r>
                  <a:rPr lang="en-US">
                    <a:noFill/>
                  </a:rPr>
                  <a:t> </a:t>
                </a:r>
              </a:p>
            </p:txBody>
          </p:sp>
        </mc:Fallback>
      </mc:AlternateContent>
      <p:sp>
        <p:nvSpPr>
          <p:cNvPr id="17" name="Title 31">
            <a:extLst>
              <a:ext uri="{FF2B5EF4-FFF2-40B4-BE49-F238E27FC236}">
                <a16:creationId xmlns:a16="http://schemas.microsoft.com/office/drawing/2014/main" id="{B6ABBADC-B059-EE22-B671-3E1600E278E7}"/>
              </a:ext>
            </a:extLst>
          </p:cNvPr>
          <p:cNvSpPr>
            <a:spLocks noGrp="1"/>
          </p:cNvSpPr>
          <p:nvPr>
            <p:ph type="title"/>
          </p:nvPr>
        </p:nvSpPr>
        <p:spPr>
          <a:xfrm>
            <a:off x="238195" y="365125"/>
            <a:ext cx="11115605" cy="1127631"/>
          </a:xfrm>
        </p:spPr>
        <p:txBody>
          <a:bodyPr>
            <a:noAutofit/>
          </a:bodyPr>
          <a:lstStyle/>
          <a:p>
            <a:r>
              <a:rPr lang="en-US" sz="3600" b="1" dirty="0"/>
              <a:t>Community Metabolic Modelling and Validation Framework</a:t>
            </a:r>
            <a:endParaRPr lang="en-US" sz="3600" dirty="0"/>
          </a:p>
        </p:txBody>
      </p:sp>
    </p:spTree>
    <p:extLst>
      <p:ext uri="{BB962C8B-B14F-4D97-AF65-F5344CB8AC3E}">
        <p14:creationId xmlns:p14="http://schemas.microsoft.com/office/powerpoint/2010/main" val="3537765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6B85F0E-320B-7F7A-B828-2A4F7ED19602}"/>
              </a:ext>
            </a:extLst>
          </p:cNvPr>
          <p:cNvGraphicFramePr>
            <a:graphicFrameLocks noGrp="1"/>
          </p:cNvGraphicFramePr>
          <p:nvPr/>
        </p:nvGraphicFramePr>
        <p:xfrm>
          <a:off x="6566662" y="2293364"/>
          <a:ext cx="4942586" cy="2672890"/>
        </p:xfrm>
        <a:graphic>
          <a:graphicData uri="http://schemas.openxmlformats.org/drawingml/2006/table">
            <a:tbl>
              <a:tblPr>
                <a:tableStyleId>{D7AC3CCA-C797-4891-BE02-D94E43425B78}</a:tableStyleId>
              </a:tblPr>
              <a:tblGrid>
                <a:gridCol w="1087639">
                  <a:extLst>
                    <a:ext uri="{9D8B030D-6E8A-4147-A177-3AD203B41FA5}">
                      <a16:colId xmlns:a16="http://schemas.microsoft.com/office/drawing/2014/main" val="275546752"/>
                    </a:ext>
                  </a:extLst>
                </a:gridCol>
                <a:gridCol w="1098261">
                  <a:extLst>
                    <a:ext uri="{9D8B030D-6E8A-4147-A177-3AD203B41FA5}">
                      <a16:colId xmlns:a16="http://schemas.microsoft.com/office/drawing/2014/main" val="1089004084"/>
                    </a:ext>
                  </a:extLst>
                </a:gridCol>
                <a:gridCol w="1378343">
                  <a:extLst>
                    <a:ext uri="{9D8B030D-6E8A-4147-A177-3AD203B41FA5}">
                      <a16:colId xmlns:a16="http://schemas.microsoft.com/office/drawing/2014/main" val="2760216163"/>
                    </a:ext>
                  </a:extLst>
                </a:gridCol>
                <a:gridCol w="1378343">
                  <a:extLst>
                    <a:ext uri="{9D8B030D-6E8A-4147-A177-3AD203B41FA5}">
                      <a16:colId xmlns:a16="http://schemas.microsoft.com/office/drawing/2014/main" val="463888239"/>
                    </a:ext>
                  </a:extLst>
                </a:gridCol>
              </a:tblGrid>
              <a:tr h="433600">
                <a:tc rowSpan="2">
                  <a:txBody>
                    <a:bodyPr/>
                    <a:lstStyle/>
                    <a:p>
                      <a:r>
                        <a:rPr lang="en-US" sz="1200" b="1" dirty="0"/>
                        <a:t>Metabolite name</a:t>
                      </a:r>
                    </a:p>
                  </a:txBody>
                  <a:tcPr>
                    <a:solidFill>
                      <a:schemeClr val="bg1">
                        <a:lumMod val="65000"/>
                      </a:schemeClr>
                    </a:solidFill>
                  </a:tcPr>
                </a:tc>
                <a:tc gridSpan="2">
                  <a:txBody>
                    <a:bodyPr/>
                    <a:lstStyle/>
                    <a:p>
                      <a:r>
                        <a:rPr lang="en-US" sz="1200" b="1" dirty="0"/>
                        <a:t>Amount of metabolite (mmol per g of fecal matter)</a:t>
                      </a:r>
                    </a:p>
                  </a:txBody>
                  <a:tcPr>
                    <a:solidFill>
                      <a:schemeClr val="bg1">
                        <a:lumMod val="65000"/>
                      </a:schemeClr>
                    </a:solidFill>
                  </a:tcPr>
                </a:tc>
                <a:tc hMerge="1">
                  <a:txBody>
                    <a:bodyPr/>
                    <a:lstStyle/>
                    <a:p>
                      <a:endParaRPr lang="en-US" dirty="0"/>
                    </a:p>
                  </a:txBody>
                  <a:tcPr/>
                </a:tc>
                <a:tc rowSpan="2">
                  <a:txBody>
                    <a:bodyPr/>
                    <a:lstStyle/>
                    <a:p>
                      <a:r>
                        <a:rPr lang="en-US" sz="1200" b="1" dirty="0"/>
                        <a:t>Metabolite consumed or produced?</a:t>
                      </a:r>
                    </a:p>
                  </a:txBody>
                  <a:tcPr>
                    <a:solidFill>
                      <a:schemeClr val="bg1">
                        <a:lumMod val="65000"/>
                      </a:schemeClr>
                    </a:solidFill>
                  </a:tcPr>
                </a:tc>
                <a:extLst>
                  <a:ext uri="{0D108BD9-81ED-4DB2-BD59-A6C34878D82A}">
                    <a16:rowId xmlns:a16="http://schemas.microsoft.com/office/drawing/2014/main" val="2206387683"/>
                  </a:ext>
                </a:extLst>
              </a:tr>
              <a:tr h="351698">
                <a:tc vMerge="1">
                  <a:txBody>
                    <a:bodyPr/>
                    <a:lstStyle/>
                    <a:p>
                      <a:endParaRPr lang="en-US" dirty="0"/>
                    </a:p>
                  </a:txBody>
                  <a:tcPr/>
                </a:tc>
                <a:tc>
                  <a:txBody>
                    <a:bodyPr/>
                    <a:lstStyle/>
                    <a:p>
                      <a:r>
                        <a:rPr lang="en-US" sz="1200" dirty="0"/>
                        <a:t>GF fecal sample</a:t>
                      </a:r>
                    </a:p>
                  </a:txBody>
                  <a:tcPr>
                    <a:solidFill>
                      <a:schemeClr val="bg1">
                        <a:lumMod val="65000"/>
                      </a:schemeClr>
                    </a:solidFill>
                  </a:tcPr>
                </a:tc>
                <a:tc>
                  <a:txBody>
                    <a:bodyPr/>
                    <a:lstStyle/>
                    <a:p>
                      <a:r>
                        <a:rPr lang="en-US" sz="1200" dirty="0"/>
                        <a:t>HDC1 fecal sample</a:t>
                      </a:r>
                    </a:p>
                  </a:txBody>
                  <a:tcPr>
                    <a:solidFill>
                      <a:schemeClr val="bg1">
                        <a:lumMod val="65000"/>
                      </a:schemeClr>
                    </a:solidFill>
                  </a:tcPr>
                </a:tc>
                <a:tc vMerge="1">
                  <a:txBody>
                    <a:bodyPr/>
                    <a:lstStyle/>
                    <a:p>
                      <a:endParaRPr lang="en-US" dirty="0"/>
                    </a:p>
                  </a:txBody>
                  <a:tcPr/>
                </a:tc>
                <a:extLst>
                  <a:ext uri="{0D108BD9-81ED-4DB2-BD59-A6C34878D82A}">
                    <a16:rowId xmlns:a16="http://schemas.microsoft.com/office/drawing/2014/main" val="4267911365"/>
                  </a:ext>
                </a:extLst>
              </a:tr>
              <a:tr h="351698">
                <a:tc>
                  <a:txBody>
                    <a:bodyPr/>
                    <a:lstStyle/>
                    <a:p>
                      <a:r>
                        <a:rPr lang="en-US" sz="1200" dirty="0"/>
                        <a:t>A</a:t>
                      </a:r>
                    </a:p>
                  </a:txBody>
                  <a:tcPr>
                    <a:solidFill>
                      <a:schemeClr val="bg1">
                        <a:lumMod val="65000"/>
                        <a:alpha val="23137"/>
                      </a:schemeClr>
                    </a:solidFill>
                  </a:tcPr>
                </a:tc>
                <a:tc>
                  <a:txBody>
                    <a:bodyPr/>
                    <a:lstStyle/>
                    <a:p>
                      <a:r>
                        <a:rPr lang="en-US" sz="1200" dirty="0"/>
                        <a:t>0</a:t>
                      </a:r>
                    </a:p>
                  </a:txBody>
                  <a:tcPr>
                    <a:solidFill>
                      <a:schemeClr val="bg1">
                        <a:lumMod val="65000"/>
                        <a:alpha val="23137"/>
                      </a:schemeClr>
                    </a:solidFill>
                  </a:tcPr>
                </a:tc>
                <a:tc>
                  <a:txBody>
                    <a:bodyPr/>
                    <a:lstStyle/>
                    <a:p>
                      <a:r>
                        <a:rPr lang="en-US" sz="1200" dirty="0"/>
                        <a:t>20</a:t>
                      </a:r>
                    </a:p>
                  </a:txBody>
                  <a:tcPr>
                    <a:solidFill>
                      <a:srgbClr val="7030A0">
                        <a:alpha val="23137"/>
                      </a:srgbClr>
                    </a:solidFill>
                  </a:tcPr>
                </a:tc>
                <a:tc>
                  <a:txBody>
                    <a:bodyPr/>
                    <a:lstStyle/>
                    <a:p>
                      <a:r>
                        <a:rPr lang="en-US" sz="1200" b="1" dirty="0">
                          <a:solidFill>
                            <a:srgbClr val="7030A0"/>
                          </a:solidFill>
                        </a:rPr>
                        <a:t>Produced</a:t>
                      </a:r>
                    </a:p>
                  </a:txBody>
                  <a:tcPr>
                    <a:solidFill>
                      <a:schemeClr val="bg1">
                        <a:lumMod val="65000"/>
                        <a:alpha val="23137"/>
                      </a:schemeClr>
                    </a:solidFill>
                  </a:tcPr>
                </a:tc>
                <a:extLst>
                  <a:ext uri="{0D108BD9-81ED-4DB2-BD59-A6C34878D82A}">
                    <a16:rowId xmlns:a16="http://schemas.microsoft.com/office/drawing/2014/main" val="1552149961"/>
                  </a:ext>
                </a:extLst>
              </a:tr>
              <a:tr h="351698">
                <a:tc>
                  <a:txBody>
                    <a:bodyPr/>
                    <a:lstStyle/>
                    <a:p>
                      <a:r>
                        <a:rPr lang="en-US" sz="1200" dirty="0"/>
                        <a:t>B</a:t>
                      </a:r>
                    </a:p>
                  </a:txBody>
                  <a:tcPr/>
                </a:tc>
                <a:tc>
                  <a:txBody>
                    <a:bodyPr/>
                    <a:lstStyle/>
                    <a:p>
                      <a:r>
                        <a:rPr lang="en-US" sz="1200" dirty="0"/>
                        <a:t>30</a:t>
                      </a:r>
                    </a:p>
                  </a:txBody>
                  <a:tcPr/>
                </a:tc>
                <a:tc>
                  <a:txBody>
                    <a:bodyPr/>
                    <a:lstStyle/>
                    <a:p>
                      <a:r>
                        <a:rPr lang="en-US" sz="1200" dirty="0"/>
                        <a:t>10</a:t>
                      </a:r>
                    </a:p>
                  </a:txBody>
                  <a:tcPr/>
                </a:tc>
                <a:tc>
                  <a:txBody>
                    <a:bodyPr/>
                    <a:lstStyle/>
                    <a:p>
                      <a:r>
                        <a:rPr lang="en-US" sz="1200" b="1" dirty="0">
                          <a:solidFill>
                            <a:schemeClr val="accent2">
                              <a:lumMod val="75000"/>
                            </a:schemeClr>
                          </a:solidFill>
                        </a:rPr>
                        <a:t>Consumed</a:t>
                      </a:r>
                    </a:p>
                  </a:txBody>
                  <a:tcPr/>
                </a:tc>
                <a:extLst>
                  <a:ext uri="{0D108BD9-81ED-4DB2-BD59-A6C34878D82A}">
                    <a16:rowId xmlns:a16="http://schemas.microsoft.com/office/drawing/2014/main" val="716195670"/>
                  </a:ext>
                </a:extLst>
              </a:tr>
              <a:tr h="351698">
                <a:tc>
                  <a:txBody>
                    <a:bodyPr/>
                    <a:lstStyle/>
                    <a:p>
                      <a:r>
                        <a:rPr lang="en-US" sz="1200" dirty="0"/>
                        <a:t>C</a:t>
                      </a:r>
                    </a:p>
                  </a:txBody>
                  <a:tcPr>
                    <a:solidFill>
                      <a:schemeClr val="bg1">
                        <a:lumMod val="65000"/>
                        <a:alpha val="25098"/>
                      </a:schemeClr>
                    </a:solidFill>
                  </a:tcPr>
                </a:tc>
                <a:tc>
                  <a:txBody>
                    <a:bodyPr/>
                    <a:lstStyle/>
                    <a:p>
                      <a:r>
                        <a:rPr lang="en-US" sz="1200" dirty="0"/>
                        <a:t>10</a:t>
                      </a:r>
                    </a:p>
                  </a:txBody>
                  <a:tcPr>
                    <a:solidFill>
                      <a:schemeClr val="bg1">
                        <a:lumMod val="65000"/>
                        <a:alpha val="25098"/>
                      </a:schemeClr>
                    </a:solidFill>
                  </a:tcPr>
                </a:tc>
                <a:tc>
                  <a:txBody>
                    <a:bodyPr/>
                    <a:lstStyle/>
                    <a:p>
                      <a:r>
                        <a:rPr lang="en-US" sz="1200" dirty="0"/>
                        <a:t>50</a:t>
                      </a:r>
                    </a:p>
                  </a:txBody>
                  <a:tcPr>
                    <a:solidFill>
                      <a:srgbClr val="7030A0">
                        <a:alpha val="25098"/>
                      </a:srgbClr>
                    </a:solidFill>
                  </a:tcPr>
                </a:tc>
                <a:tc>
                  <a:txBody>
                    <a:bodyPr/>
                    <a:lstStyle/>
                    <a:p>
                      <a:r>
                        <a:rPr lang="en-US" sz="1200" b="1" dirty="0">
                          <a:solidFill>
                            <a:srgbClr val="7030A0"/>
                          </a:solidFill>
                        </a:rPr>
                        <a:t>Produced</a:t>
                      </a:r>
                    </a:p>
                  </a:txBody>
                  <a:tcPr>
                    <a:solidFill>
                      <a:schemeClr val="bg1">
                        <a:lumMod val="65000"/>
                        <a:alpha val="25098"/>
                      </a:schemeClr>
                    </a:solidFill>
                  </a:tcPr>
                </a:tc>
                <a:extLst>
                  <a:ext uri="{0D108BD9-81ED-4DB2-BD59-A6C34878D82A}">
                    <a16:rowId xmlns:a16="http://schemas.microsoft.com/office/drawing/2014/main" val="2057834171"/>
                  </a:ext>
                </a:extLst>
              </a:tr>
              <a:tr h="351698">
                <a:tc>
                  <a:txBody>
                    <a:bodyPr/>
                    <a:lstStyle/>
                    <a:p>
                      <a:r>
                        <a:rPr lang="en-US" sz="1200" dirty="0"/>
                        <a:t>D</a:t>
                      </a:r>
                    </a:p>
                  </a:txBody>
                  <a:tcPr/>
                </a:tc>
                <a:tc>
                  <a:txBody>
                    <a:bodyPr/>
                    <a:lstStyle/>
                    <a:p>
                      <a:r>
                        <a:rPr lang="en-US" sz="1200" dirty="0"/>
                        <a:t>10</a:t>
                      </a:r>
                    </a:p>
                  </a:txBody>
                  <a:tcPr/>
                </a:tc>
                <a:tc>
                  <a:txBody>
                    <a:bodyPr/>
                    <a:lstStyle/>
                    <a:p>
                      <a:r>
                        <a:rPr lang="en-US" sz="1200" dirty="0"/>
                        <a:t>10</a:t>
                      </a:r>
                    </a:p>
                  </a:txBody>
                  <a:tcPr/>
                </a:tc>
                <a:tc>
                  <a:txBody>
                    <a:bodyPr/>
                    <a:lstStyle/>
                    <a:p>
                      <a:r>
                        <a:rPr lang="en-US" sz="1200" b="1" dirty="0">
                          <a:solidFill>
                            <a:srgbClr val="FF2F92"/>
                          </a:solidFill>
                        </a:rPr>
                        <a:t>Unchanging</a:t>
                      </a:r>
                    </a:p>
                  </a:txBody>
                  <a:tcPr/>
                </a:tc>
                <a:extLst>
                  <a:ext uri="{0D108BD9-81ED-4DB2-BD59-A6C34878D82A}">
                    <a16:rowId xmlns:a16="http://schemas.microsoft.com/office/drawing/2014/main" val="3985147620"/>
                  </a:ext>
                </a:extLst>
              </a:tr>
              <a:tr h="351698">
                <a:tc>
                  <a:txBody>
                    <a:bodyPr/>
                    <a:lstStyle/>
                    <a:p>
                      <a:r>
                        <a:rPr lang="en-US" sz="1200" dirty="0"/>
                        <a:t>E</a:t>
                      </a:r>
                    </a:p>
                  </a:txBody>
                  <a:tcPr/>
                </a:tc>
                <a:tc>
                  <a:txBody>
                    <a:bodyPr/>
                    <a:lstStyle/>
                    <a:p>
                      <a:r>
                        <a:rPr lang="en-US" sz="1200" dirty="0"/>
                        <a:t>50</a:t>
                      </a:r>
                    </a:p>
                  </a:txBody>
                  <a:tcPr/>
                </a:tc>
                <a:tc>
                  <a:txBody>
                    <a:bodyPr/>
                    <a:lstStyle/>
                    <a:p>
                      <a:r>
                        <a:rPr lang="en-US" sz="1200" dirty="0"/>
                        <a:t>3</a:t>
                      </a:r>
                    </a:p>
                  </a:txBody>
                  <a:tcPr/>
                </a:tc>
                <a:tc>
                  <a:txBody>
                    <a:bodyPr/>
                    <a:lstStyle/>
                    <a:p>
                      <a:r>
                        <a:rPr lang="en-US" sz="1200" b="1" dirty="0">
                          <a:solidFill>
                            <a:schemeClr val="accent2">
                              <a:lumMod val="75000"/>
                            </a:schemeClr>
                          </a:solidFill>
                        </a:rPr>
                        <a:t>Consumed</a:t>
                      </a:r>
                    </a:p>
                  </a:txBody>
                  <a:tcPr/>
                </a:tc>
                <a:extLst>
                  <a:ext uri="{0D108BD9-81ED-4DB2-BD59-A6C34878D82A}">
                    <a16:rowId xmlns:a16="http://schemas.microsoft.com/office/drawing/2014/main" val="2023687986"/>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6958371-F55E-8A5A-FBCF-BC810B6001C0}"/>
                  </a:ext>
                </a:extLst>
              </p:cNvPr>
              <p:cNvSpPr txBox="1"/>
              <p:nvPr/>
            </p:nvSpPr>
            <p:spPr>
              <a:xfrm>
                <a:off x="3003568" y="1534712"/>
                <a:ext cx="6184864" cy="484620"/>
              </a:xfrm>
              <a:prstGeom prst="rect">
                <a:avLst/>
              </a:prstGeom>
              <a:noFill/>
              <a:ln w="28575">
                <a:solidFill>
                  <a:schemeClr val="tx1"/>
                </a:solidFill>
              </a:ln>
            </p:spPr>
            <p:txBody>
              <a:bodyPr wrap="square">
                <a:spAutoFit/>
              </a:bodyPr>
              <a:lstStyle/>
              <a:p>
                <a:pPr algn="ctr"/>
                <a14:m>
                  <m:oMath xmlns:m="http://schemas.openxmlformats.org/officeDocument/2006/math">
                    <m:nary>
                      <m:naryPr>
                        <m:chr m:val="∑"/>
                        <m:supHide m:val="on"/>
                        <m:ctrlPr>
                          <a:rPr lang="en-CA" sz="2000" b="1" i="1" smtClean="0">
                            <a:solidFill>
                              <a:schemeClr val="accent6">
                                <a:lumMod val="75000"/>
                              </a:schemeClr>
                            </a:solidFill>
                            <a:latin typeface="Cambria Math" panose="02040503050406030204" pitchFamily="18" charset="0"/>
                          </a:rPr>
                        </m:ctrlPr>
                      </m:naryPr>
                      <m:sub>
                        <m:r>
                          <m:rPr>
                            <m:brk m:alnAt="7"/>
                          </m:rPr>
                          <a:rPr lang="en-CA" sz="2000" b="1" i="1" smtClean="0">
                            <a:solidFill>
                              <a:schemeClr val="accent6">
                                <a:lumMod val="75000"/>
                              </a:schemeClr>
                            </a:solidFill>
                            <a:latin typeface="Cambria Math" panose="02040503050406030204" pitchFamily="18" charset="0"/>
                          </a:rPr>
                          <m:t>𝒌</m:t>
                        </m:r>
                        <m:r>
                          <a:rPr lang="en-CA" sz="2000" b="1" i="1" smtClean="0">
                            <a:solidFill>
                              <a:schemeClr val="accent6">
                                <a:lumMod val="75000"/>
                              </a:schemeClr>
                            </a:solidFill>
                            <a:latin typeface="Cambria Math" panose="02040503050406030204" pitchFamily="18" charset="0"/>
                            <a:ea typeface="Cambria Math" panose="02040503050406030204" pitchFamily="18" charset="0"/>
                          </a:rPr>
                          <m:t>∈</m:t>
                        </m:r>
                        <m:r>
                          <a:rPr lang="en-CA" sz="2000" b="1" i="1" smtClean="0">
                            <a:solidFill>
                              <a:schemeClr val="accent6">
                                <a:lumMod val="75000"/>
                              </a:schemeClr>
                            </a:solidFill>
                            <a:latin typeface="Cambria Math" panose="02040503050406030204" pitchFamily="18" charset="0"/>
                            <a:ea typeface="Cambria Math" panose="02040503050406030204" pitchFamily="18" charset="0"/>
                          </a:rPr>
                          <m:t>𝑲</m:t>
                        </m:r>
                      </m:sub>
                      <m:sup/>
                      <m:e>
                        <m:sSubSup>
                          <m:sSubSupPr>
                            <m:ctrlPr>
                              <a:rPr lang="en-CA" sz="2000" b="1" i="1" smtClean="0">
                                <a:solidFill>
                                  <a:schemeClr val="accent6">
                                    <a:lumMod val="75000"/>
                                  </a:schemeClr>
                                </a:solidFill>
                                <a:latin typeface="Cambria Math" panose="02040503050406030204" pitchFamily="18" charset="0"/>
                              </a:rPr>
                            </m:ctrlPr>
                          </m:sSubSupPr>
                          <m:e>
                            <m:r>
                              <a:rPr lang="en-CA" sz="2000" b="1" i="1" smtClean="0">
                                <a:solidFill>
                                  <a:schemeClr val="accent6">
                                    <a:lumMod val="75000"/>
                                  </a:schemeClr>
                                </a:solidFill>
                                <a:latin typeface="Cambria Math" panose="02040503050406030204" pitchFamily="18" charset="0"/>
                              </a:rPr>
                              <m:t>𝑽</m:t>
                            </m:r>
                          </m:e>
                          <m:sub>
                            <m:r>
                              <a:rPr lang="en-CA" sz="2000" b="1" i="1" smtClean="0">
                                <a:solidFill>
                                  <a:schemeClr val="accent6">
                                    <a:lumMod val="75000"/>
                                  </a:schemeClr>
                                </a:solidFill>
                                <a:latin typeface="Cambria Math" panose="02040503050406030204" pitchFamily="18" charset="0"/>
                              </a:rPr>
                              <m:t>𝒆𝒙</m:t>
                            </m:r>
                            <m:r>
                              <a:rPr lang="en-CA" sz="2000" b="1" i="1" smtClean="0">
                                <a:solidFill>
                                  <a:schemeClr val="accent6">
                                    <a:lumMod val="75000"/>
                                  </a:schemeClr>
                                </a:solidFill>
                                <a:latin typeface="Cambria Math" panose="02040503050406030204" pitchFamily="18" charset="0"/>
                              </a:rPr>
                              <m:t>(</m:t>
                            </m:r>
                            <m:r>
                              <a:rPr lang="en-CA" sz="2000" b="1" i="1" smtClean="0">
                                <a:solidFill>
                                  <a:schemeClr val="accent6">
                                    <a:lumMod val="75000"/>
                                  </a:schemeClr>
                                </a:solidFill>
                                <a:latin typeface="Cambria Math" panose="02040503050406030204" pitchFamily="18" charset="0"/>
                              </a:rPr>
                              <m:t>𝒊</m:t>
                            </m:r>
                            <m:r>
                              <a:rPr lang="en-CA" sz="2000" b="1" i="1" smtClean="0">
                                <a:solidFill>
                                  <a:schemeClr val="accent6">
                                    <a:lumMod val="75000"/>
                                  </a:schemeClr>
                                </a:solidFill>
                                <a:latin typeface="Cambria Math" panose="02040503050406030204" pitchFamily="18" charset="0"/>
                              </a:rPr>
                              <m:t>)</m:t>
                            </m:r>
                          </m:sub>
                          <m:sup>
                            <m:r>
                              <a:rPr lang="en-CA" sz="2000" b="1" i="1" smtClean="0">
                                <a:solidFill>
                                  <a:schemeClr val="accent6">
                                    <a:lumMod val="75000"/>
                                  </a:schemeClr>
                                </a:solidFill>
                                <a:latin typeface="Cambria Math" panose="02040503050406030204" pitchFamily="18" charset="0"/>
                              </a:rPr>
                              <m:t>𝒌</m:t>
                            </m:r>
                          </m:sup>
                        </m:sSubSup>
                        <m:r>
                          <a:rPr lang="en-CA" sz="2000" b="1" i="1" smtClean="0">
                            <a:solidFill>
                              <a:schemeClr val="accent6">
                                <a:lumMod val="75000"/>
                              </a:schemeClr>
                            </a:solidFill>
                            <a:latin typeface="Cambria Math" panose="02040503050406030204" pitchFamily="18" charset="0"/>
                          </a:rPr>
                          <m:t>= </m:t>
                        </m:r>
                        <m:sSubSup>
                          <m:sSubSupPr>
                            <m:ctrlPr>
                              <a:rPr lang="en-CA"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𝒆</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r>
                          <a:rPr lang="en-CA" sz="2000" b="1" i="1" smtClean="0">
                            <a:solidFill>
                              <a:schemeClr val="accent6">
                                <a:lumMod val="75000"/>
                              </a:schemeClr>
                            </a:solidFill>
                            <a:latin typeface="Cambria Math" panose="02040503050406030204" pitchFamily="18" charset="0"/>
                          </a:rPr>
                          <m:t>−</m:t>
                        </m:r>
                        <m:sSubSup>
                          <m:sSubSupPr>
                            <m:ctrlPr>
                              <a:rPr lang="en-US" sz="2000" b="1" i="1">
                                <a:solidFill>
                                  <a:schemeClr val="accent6">
                                    <a:lumMod val="75000"/>
                                  </a:schemeClr>
                                </a:solidFill>
                                <a:latin typeface="Cambria Math" panose="02040503050406030204" pitchFamily="18" charset="0"/>
                              </a:rPr>
                            </m:ctrlPr>
                          </m:sSubSupPr>
                          <m:e>
                            <m:r>
                              <a:rPr lang="en-CA" sz="2000" b="1" i="1">
                                <a:solidFill>
                                  <a:schemeClr val="accent6">
                                    <a:lumMod val="75000"/>
                                  </a:schemeClr>
                                </a:solidFill>
                                <a:latin typeface="Cambria Math" panose="02040503050406030204" pitchFamily="18" charset="0"/>
                              </a:rPr>
                              <m:t>𝒖</m:t>
                            </m:r>
                          </m:e>
                          <m:sub>
                            <m:r>
                              <a:rPr lang="en-CA" sz="2000" b="1" i="1">
                                <a:solidFill>
                                  <a:schemeClr val="accent6">
                                    <a:lumMod val="75000"/>
                                  </a:schemeClr>
                                </a:solidFill>
                                <a:latin typeface="Cambria Math" panose="02040503050406030204" pitchFamily="18" charset="0"/>
                              </a:rPr>
                              <m:t>𝒊</m:t>
                            </m:r>
                          </m:sub>
                          <m:sup>
                            <m:r>
                              <a:rPr lang="en-CA" sz="2000" b="1" i="1">
                                <a:solidFill>
                                  <a:schemeClr val="accent6">
                                    <a:lumMod val="75000"/>
                                  </a:schemeClr>
                                </a:solidFill>
                                <a:latin typeface="Cambria Math" panose="02040503050406030204" pitchFamily="18" charset="0"/>
                              </a:rPr>
                              <m:t>𝒄</m:t>
                            </m:r>
                          </m:sup>
                        </m:sSubSup>
                      </m:e>
                    </m:nary>
                  </m:oMath>
                </a14:m>
                <a:r>
                  <a:rPr lang="en-US" sz="2000" b="1" dirty="0"/>
                  <a:t> = </a:t>
                </a:r>
                <a14:m>
                  <m:oMath xmlns:m="http://schemas.openxmlformats.org/officeDocument/2006/math">
                    <m:nary>
                      <m:naryPr>
                        <m:chr m:val="∑"/>
                        <m:supHide m:val="on"/>
                        <m:ctrlPr>
                          <a:rPr lang="en-US" sz="2000" b="1" i="1" smtClean="0">
                            <a:solidFill>
                              <a:srgbClr val="0070C0"/>
                            </a:solidFill>
                            <a:latin typeface="Cambria Math" panose="02040503050406030204" pitchFamily="18" charset="0"/>
                          </a:rPr>
                        </m:ctrlPr>
                      </m:naryPr>
                      <m:sub>
                        <m:r>
                          <m:rPr>
                            <m:brk m:alnAt="7"/>
                          </m:rPr>
                          <a:rPr lang="en-US" sz="2000" b="1" i="1">
                            <a:solidFill>
                              <a:srgbClr val="0070C0"/>
                            </a:solidFill>
                            <a:latin typeface="Cambria Math" panose="02040503050406030204" pitchFamily="18" charset="0"/>
                          </a:rPr>
                          <m:t>𝒋</m:t>
                        </m:r>
                      </m:sub>
                      <m:sup/>
                      <m:e>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𝒒</m:t>
                            </m:r>
                          </m:e>
                          <m: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𝒔</m:t>
                                </m:r>
                              </m:e>
                              <m:sub>
                                <m:r>
                                  <a:rPr lang="en-US" sz="2000" b="1" i="1">
                                    <a:solidFill>
                                      <a:srgbClr val="0070C0"/>
                                    </a:solidFill>
                                    <a:latin typeface="Cambria Math" panose="02040503050406030204" pitchFamily="18" charset="0"/>
                                  </a:rPr>
                                  <m:t>𝒊</m:t>
                                </m:r>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rPr>
                                  <m:t>𝒋</m:t>
                                </m:r>
                              </m:sub>
                            </m:sSub>
                          </m:sub>
                        </m:sSub>
                        <m:sSub>
                          <m:sSubPr>
                            <m:ctrlPr>
                              <a:rPr lang="en-US" sz="2000" b="1" i="1">
                                <a:solidFill>
                                  <a:srgbClr val="0070C0"/>
                                </a:solidFill>
                                <a:latin typeface="Cambria Math" panose="02040503050406030204" pitchFamily="18" charset="0"/>
                              </a:rPr>
                            </m:ctrlPr>
                          </m:sSubPr>
                          <m:e>
                            <m:r>
                              <a:rPr lang="en-US" sz="2000" b="1" i="1">
                                <a:solidFill>
                                  <a:srgbClr val="0070C0"/>
                                </a:solidFill>
                                <a:latin typeface="Cambria Math" panose="02040503050406030204" pitchFamily="18" charset="0"/>
                              </a:rPr>
                              <m:t>𝒙</m:t>
                            </m:r>
                          </m:e>
                          <m:sub>
                            <m:r>
                              <a:rPr lang="en-US" sz="2000" b="1" i="1">
                                <a:solidFill>
                                  <a:srgbClr val="0070C0"/>
                                </a:solidFill>
                                <a:latin typeface="Cambria Math" panose="02040503050406030204" pitchFamily="18" charset="0"/>
                              </a:rPr>
                              <m:t>𝒋</m:t>
                            </m:r>
                          </m:sub>
                        </m:sSub>
                        <m:r>
                          <a:rPr lang="en-US" sz="2000" b="1" i="1">
                            <a:solidFill>
                              <a:srgbClr val="0070C0"/>
                            </a:solidFill>
                            <a:latin typeface="Cambria Math" panose="02040503050406030204" pitchFamily="18" charset="0"/>
                          </a:rPr>
                          <m:t>=</m:t>
                        </m:r>
                        <m:r>
                          <a:rPr lang="en-US" sz="2000" b="1" i="1">
                            <a:solidFill>
                              <a:srgbClr val="0070C0"/>
                            </a:solidFill>
                            <a:latin typeface="Cambria Math" panose="02040503050406030204" pitchFamily="18" charset="0"/>
                            <a:ea typeface="Cambria Math" panose="02040503050406030204" pitchFamily="18" charset="0"/>
                          </a:rPr>
                          <m:t>𝝁</m:t>
                        </m:r>
                        <m:d>
                          <m:dPr>
                            <m:begChr m:val="["/>
                            <m:endChr m:val="]"/>
                            <m:ctrlPr>
                              <a:rPr lang="en-US" sz="2000" b="1" i="1">
                                <a:solidFill>
                                  <a:srgbClr val="0070C0"/>
                                </a:solidFill>
                                <a:latin typeface="Cambria Math" panose="02040503050406030204" pitchFamily="18" charset="0"/>
                                <a:ea typeface="Cambria Math" panose="02040503050406030204" pitchFamily="18" charset="0"/>
                              </a:rPr>
                            </m:ctrlPr>
                          </m:dPr>
                          <m:e>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𝑯𝑫𝑪</m:t>
                                </m:r>
                                <m:r>
                                  <a:rPr lang="en-US" sz="2000" b="1" i="1">
                                    <a:solidFill>
                                      <a:srgbClr val="0070C0"/>
                                    </a:solidFill>
                                    <a:latin typeface="Cambria Math" panose="02040503050406030204" pitchFamily="18" charset="0"/>
                                    <a:ea typeface="Cambria Math" panose="02040503050406030204" pitchFamily="18" charset="0"/>
                                  </a:rPr>
                                  <m:t>𝟏</m:t>
                                </m:r>
                              </m:sub>
                              <m:sup>
                                <m:r>
                                  <a:rPr lang="en-US" sz="2000" b="1" i="1">
                                    <a:solidFill>
                                      <a:srgbClr val="0070C0"/>
                                    </a:solidFill>
                                    <a:latin typeface="Cambria Math" panose="02040503050406030204" pitchFamily="18" charset="0"/>
                                    <a:ea typeface="Cambria Math" panose="02040503050406030204" pitchFamily="18" charset="0"/>
                                  </a:rPr>
                                  <m:t>𝒊</m:t>
                                </m:r>
                              </m:sup>
                            </m:sSubSup>
                            <m:r>
                              <a:rPr lang="en-US" sz="2000" b="1" i="1">
                                <a:solidFill>
                                  <a:srgbClr val="0070C0"/>
                                </a:solidFill>
                                <a:latin typeface="Cambria Math" panose="02040503050406030204" pitchFamily="18" charset="0"/>
                                <a:ea typeface="Cambria Math" panose="02040503050406030204" pitchFamily="18" charset="0"/>
                              </a:rPr>
                              <m:t>−</m:t>
                            </m:r>
                            <m:sSubSup>
                              <m:sSubSupPr>
                                <m:ctrlPr>
                                  <a:rPr lang="en-US" sz="2000" b="1" i="1">
                                    <a:solidFill>
                                      <a:srgbClr val="0070C0"/>
                                    </a:solidFill>
                                    <a:latin typeface="Cambria Math" panose="02040503050406030204" pitchFamily="18" charset="0"/>
                                    <a:ea typeface="Cambria Math" panose="02040503050406030204" pitchFamily="18" charset="0"/>
                                  </a:rPr>
                                </m:ctrlPr>
                              </m:sSubSupPr>
                              <m:e>
                                <m:r>
                                  <a:rPr lang="en-US" sz="2000" b="1" i="1">
                                    <a:solidFill>
                                      <a:srgbClr val="0070C0"/>
                                    </a:solidFill>
                                    <a:latin typeface="Cambria Math" panose="02040503050406030204" pitchFamily="18" charset="0"/>
                                    <a:ea typeface="Cambria Math" panose="02040503050406030204" pitchFamily="18" charset="0"/>
                                  </a:rPr>
                                  <m:t>𝒔</m:t>
                                </m:r>
                              </m:e>
                              <m:sub>
                                <m:r>
                                  <a:rPr lang="en-US" sz="2000" b="1" i="1">
                                    <a:solidFill>
                                      <a:srgbClr val="0070C0"/>
                                    </a:solidFill>
                                    <a:latin typeface="Cambria Math" panose="02040503050406030204" pitchFamily="18" charset="0"/>
                                    <a:ea typeface="Cambria Math" panose="02040503050406030204" pitchFamily="18" charset="0"/>
                                  </a:rPr>
                                  <m:t>𝑮𝑭</m:t>
                                </m:r>
                              </m:sub>
                              <m:sup>
                                <m:r>
                                  <a:rPr lang="en-US" sz="2000" b="1" i="1">
                                    <a:solidFill>
                                      <a:srgbClr val="0070C0"/>
                                    </a:solidFill>
                                    <a:latin typeface="Cambria Math" panose="02040503050406030204" pitchFamily="18" charset="0"/>
                                    <a:ea typeface="Cambria Math" panose="02040503050406030204" pitchFamily="18" charset="0"/>
                                  </a:rPr>
                                  <m:t>𝒊</m:t>
                                </m:r>
                              </m:sup>
                            </m:sSubSup>
                          </m:e>
                        </m:d>
                      </m:e>
                    </m:nary>
                  </m:oMath>
                </a14:m>
                <a:r>
                  <a:rPr lang="en-US" sz="2000" b="1" dirty="0"/>
                  <a:t> </a:t>
                </a:r>
              </a:p>
            </p:txBody>
          </p:sp>
        </mc:Choice>
        <mc:Fallback xmlns="">
          <p:sp>
            <p:nvSpPr>
              <p:cNvPr id="7" name="TextBox 6">
                <a:extLst>
                  <a:ext uri="{FF2B5EF4-FFF2-40B4-BE49-F238E27FC236}">
                    <a16:creationId xmlns:a16="http://schemas.microsoft.com/office/drawing/2014/main" id="{F6958371-F55E-8A5A-FBCF-BC810B6001C0}"/>
                  </a:ext>
                </a:extLst>
              </p:cNvPr>
              <p:cNvSpPr txBox="1">
                <a:spLocks noRot="1" noChangeAspect="1" noMove="1" noResize="1" noEditPoints="1" noAdjustHandles="1" noChangeArrowheads="1" noChangeShapeType="1" noTextEdit="1"/>
              </p:cNvSpPr>
              <p:nvPr/>
            </p:nvSpPr>
            <p:spPr>
              <a:xfrm>
                <a:off x="3003568" y="1534712"/>
                <a:ext cx="6184864" cy="484620"/>
              </a:xfrm>
              <a:prstGeom prst="rect">
                <a:avLst/>
              </a:prstGeom>
              <a:blipFill>
                <a:blip r:embed="rId2"/>
                <a:stretch>
                  <a:fillRect l="-2449" t="-85366" b="-124390"/>
                </a:stretch>
              </a:blipFill>
              <a:ln w="28575">
                <a:solidFill>
                  <a:schemeClr val="tx1"/>
                </a:solidFill>
              </a:ln>
            </p:spPr>
            <p:txBody>
              <a:bodyPr/>
              <a:lstStyle/>
              <a:p>
                <a:r>
                  <a:rPr lang="en-US">
                    <a:noFill/>
                  </a:rPr>
                  <a:t> </a:t>
                </a:r>
              </a:p>
            </p:txBody>
          </p:sp>
        </mc:Fallback>
      </mc:AlternateContent>
      <p:sp>
        <p:nvSpPr>
          <p:cNvPr id="12" name="TextBox 11">
            <a:extLst>
              <a:ext uri="{FF2B5EF4-FFF2-40B4-BE49-F238E27FC236}">
                <a16:creationId xmlns:a16="http://schemas.microsoft.com/office/drawing/2014/main" id="{94CDDBAC-9B54-85D8-27A1-ED10C38D6EBB}"/>
              </a:ext>
            </a:extLst>
          </p:cNvPr>
          <p:cNvSpPr txBox="1"/>
          <p:nvPr/>
        </p:nvSpPr>
        <p:spPr>
          <a:xfrm>
            <a:off x="321056" y="2202424"/>
            <a:ext cx="2226187" cy="369332"/>
          </a:xfrm>
          <a:prstGeom prst="rect">
            <a:avLst/>
          </a:prstGeom>
          <a:noFill/>
        </p:spPr>
        <p:txBody>
          <a:bodyPr wrap="none" rtlCol="0">
            <a:spAutoFit/>
          </a:bodyPr>
          <a:lstStyle/>
          <a:p>
            <a:r>
              <a:rPr lang="en-US" dirty="0"/>
              <a:t>Toy modelling results: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8746E12-D9EC-ADEA-450D-484AC4956E9E}"/>
                  </a:ext>
                </a:extLst>
              </p:cNvPr>
              <p:cNvSpPr txBox="1"/>
              <p:nvPr/>
            </p:nvSpPr>
            <p:spPr>
              <a:xfrm>
                <a:off x="374097" y="2566871"/>
                <a:ext cx="1777987" cy="767261"/>
              </a:xfrm>
              <a:prstGeom prst="rect">
                <a:avLst/>
              </a:prstGeom>
              <a:noFill/>
            </p:spPr>
            <p:txBody>
              <a:bodyPr wrap="none" rtlCol="0">
                <a:spAutoFit/>
              </a:bodyPr>
              <a:lstStyle/>
              <a:p>
                <a14:m>
                  <m:oMath xmlns:m="http://schemas.openxmlformats.org/officeDocument/2006/math">
                    <m:nary>
                      <m:naryPr>
                        <m:chr m:val="∑"/>
                        <m:supHide m:val="on"/>
                        <m:ctrlPr>
                          <a:rPr lang="en-CA" sz="1800" b="0" i="1" smtClean="0">
                            <a:solidFill>
                              <a:srgbClr val="7030A0"/>
                            </a:solidFill>
                            <a:latin typeface="Cambria Math" panose="02040503050406030204" pitchFamily="18" charset="0"/>
                          </a:rPr>
                        </m:ctrlPr>
                      </m:naryPr>
                      <m:sub>
                        <m:r>
                          <m:rPr>
                            <m:brk m:alnAt="7"/>
                          </m:rPr>
                          <a:rPr lang="en-CA" sz="1800" b="0" i="1" smtClean="0">
                            <a:solidFill>
                              <a:srgbClr val="7030A0"/>
                            </a:solidFill>
                            <a:latin typeface="Cambria Math" panose="02040503050406030204" pitchFamily="18" charset="0"/>
                          </a:rPr>
                          <m:t>𝑘</m:t>
                        </m:r>
                        <m:r>
                          <a:rPr lang="en-CA" sz="1800" b="0" i="1" smtClean="0">
                            <a:solidFill>
                              <a:srgbClr val="7030A0"/>
                            </a:solidFill>
                            <a:latin typeface="Cambria Math" panose="02040503050406030204" pitchFamily="18" charset="0"/>
                            <a:ea typeface="Cambria Math" panose="02040503050406030204" pitchFamily="18" charset="0"/>
                          </a:rPr>
                          <m:t>∈</m:t>
                        </m:r>
                        <m:r>
                          <a:rPr lang="en-CA" sz="1800" b="0" i="1" smtClean="0">
                            <a:solidFill>
                              <a:srgbClr val="7030A0"/>
                            </a:solidFill>
                            <a:latin typeface="Cambria Math" panose="02040503050406030204" pitchFamily="18" charset="0"/>
                            <a:ea typeface="Cambria Math" panose="02040503050406030204" pitchFamily="18" charset="0"/>
                          </a:rPr>
                          <m:t>𝐾</m:t>
                        </m:r>
                      </m:sub>
                      <m:sup/>
                      <m:e>
                        <m:sSubSup>
                          <m:sSubSupPr>
                            <m:ctrlPr>
                              <a:rPr lang="en-CA" sz="1800" b="0" i="1" smtClean="0">
                                <a:solidFill>
                                  <a:srgbClr val="7030A0"/>
                                </a:solidFill>
                                <a:latin typeface="Cambria Math" panose="02040503050406030204" pitchFamily="18" charset="0"/>
                              </a:rPr>
                            </m:ctrlPr>
                          </m:sSubSupPr>
                          <m:e>
                            <m:r>
                              <a:rPr lang="en-CA" sz="1800" b="0" i="1" smtClean="0">
                                <a:solidFill>
                                  <a:srgbClr val="7030A0"/>
                                </a:solidFill>
                                <a:latin typeface="Cambria Math" panose="02040503050406030204" pitchFamily="18" charset="0"/>
                              </a:rPr>
                              <m:t>𝑉</m:t>
                            </m:r>
                          </m:e>
                          <m:sub>
                            <m:r>
                              <a:rPr lang="en-CA" sz="1800" b="0" i="1" smtClean="0">
                                <a:solidFill>
                                  <a:srgbClr val="7030A0"/>
                                </a:solidFill>
                                <a:latin typeface="Cambria Math" panose="02040503050406030204" pitchFamily="18" charset="0"/>
                              </a:rPr>
                              <m:t>𝑒𝑥</m:t>
                            </m:r>
                            <m:r>
                              <a:rPr lang="en-CA" sz="1800" b="0" i="1" smtClean="0">
                                <a:solidFill>
                                  <a:srgbClr val="7030A0"/>
                                </a:solidFill>
                                <a:latin typeface="Cambria Math" panose="02040503050406030204" pitchFamily="18" charset="0"/>
                              </a:rPr>
                              <m:t>(</m:t>
                            </m:r>
                            <m:r>
                              <a:rPr lang="en-CA" sz="1800" b="0" i="1" smtClean="0">
                                <a:solidFill>
                                  <a:srgbClr val="7030A0"/>
                                </a:solidFill>
                                <a:latin typeface="Cambria Math" panose="02040503050406030204" pitchFamily="18" charset="0"/>
                              </a:rPr>
                              <m:t>𝐴</m:t>
                            </m:r>
                            <m:r>
                              <a:rPr lang="en-CA" sz="1800" b="0" i="1" smtClean="0">
                                <a:solidFill>
                                  <a:srgbClr val="7030A0"/>
                                </a:solidFill>
                                <a:latin typeface="Cambria Math" panose="02040503050406030204" pitchFamily="18" charset="0"/>
                              </a:rPr>
                              <m:t>)</m:t>
                            </m:r>
                          </m:sub>
                          <m:sup>
                            <m:r>
                              <a:rPr lang="en-CA" sz="1800" b="0" i="1" smtClean="0">
                                <a:solidFill>
                                  <a:srgbClr val="7030A0"/>
                                </a:solidFill>
                                <a:latin typeface="Cambria Math" panose="02040503050406030204" pitchFamily="18" charset="0"/>
                              </a:rPr>
                              <m:t>𝑘</m:t>
                            </m:r>
                          </m:sup>
                        </m:sSubSup>
                      </m:e>
                    </m:nary>
                  </m:oMath>
                </a14:m>
                <a:r>
                  <a:rPr lang="en-US" dirty="0">
                    <a:solidFill>
                      <a:srgbClr val="7030A0"/>
                    </a:solidFill>
                  </a:rPr>
                  <a:t> = R</a:t>
                </a:r>
                <a:r>
                  <a:rPr lang="en-US" baseline="-25000" dirty="0">
                    <a:solidFill>
                      <a:srgbClr val="7030A0"/>
                    </a:solidFill>
                  </a:rPr>
                  <a:t>A</a:t>
                </a:r>
                <a:endParaRPr lang="en-US" dirty="0">
                  <a:solidFill>
                    <a:srgbClr val="7030A0"/>
                  </a:solidFill>
                </a:endParaRPr>
              </a:p>
              <a:p>
                <a14:m>
                  <m:oMath xmlns:m="http://schemas.openxmlformats.org/officeDocument/2006/math">
                    <m:nary>
                      <m:naryPr>
                        <m:chr m:val="∑"/>
                        <m:supHide m:val="on"/>
                        <m:ctrlPr>
                          <a:rPr lang="en-CA" sz="1800" b="0" i="1" smtClean="0">
                            <a:solidFill>
                              <a:srgbClr val="7030A0"/>
                            </a:solidFill>
                            <a:latin typeface="Cambria Math" panose="02040503050406030204" pitchFamily="18" charset="0"/>
                          </a:rPr>
                        </m:ctrlPr>
                      </m:naryPr>
                      <m:sub>
                        <m:r>
                          <m:rPr>
                            <m:brk m:alnAt="7"/>
                          </m:rPr>
                          <a:rPr lang="en-CA" sz="1800" b="0" i="1" smtClean="0">
                            <a:solidFill>
                              <a:srgbClr val="7030A0"/>
                            </a:solidFill>
                            <a:latin typeface="Cambria Math" panose="02040503050406030204" pitchFamily="18" charset="0"/>
                          </a:rPr>
                          <m:t>𝑘</m:t>
                        </m:r>
                        <m:r>
                          <a:rPr lang="en-CA" sz="1800" b="0" i="1" smtClean="0">
                            <a:solidFill>
                              <a:srgbClr val="7030A0"/>
                            </a:solidFill>
                            <a:latin typeface="Cambria Math" panose="02040503050406030204" pitchFamily="18" charset="0"/>
                            <a:ea typeface="Cambria Math" panose="02040503050406030204" pitchFamily="18" charset="0"/>
                          </a:rPr>
                          <m:t>∈</m:t>
                        </m:r>
                        <m:r>
                          <a:rPr lang="en-CA" sz="1800" b="0" i="1" smtClean="0">
                            <a:solidFill>
                              <a:srgbClr val="7030A0"/>
                            </a:solidFill>
                            <a:latin typeface="Cambria Math" panose="02040503050406030204" pitchFamily="18" charset="0"/>
                            <a:ea typeface="Cambria Math" panose="02040503050406030204" pitchFamily="18" charset="0"/>
                          </a:rPr>
                          <m:t>𝐾</m:t>
                        </m:r>
                      </m:sub>
                      <m:sup/>
                      <m:e>
                        <m:sSubSup>
                          <m:sSubSupPr>
                            <m:ctrlPr>
                              <a:rPr lang="en-CA" sz="1800" b="0" i="1" smtClean="0">
                                <a:solidFill>
                                  <a:srgbClr val="7030A0"/>
                                </a:solidFill>
                                <a:latin typeface="Cambria Math" panose="02040503050406030204" pitchFamily="18" charset="0"/>
                              </a:rPr>
                            </m:ctrlPr>
                          </m:sSubSupPr>
                          <m:e>
                            <m:r>
                              <a:rPr lang="en-CA" sz="1800" b="0" i="1" smtClean="0">
                                <a:solidFill>
                                  <a:srgbClr val="7030A0"/>
                                </a:solidFill>
                                <a:latin typeface="Cambria Math" panose="02040503050406030204" pitchFamily="18" charset="0"/>
                              </a:rPr>
                              <m:t>𝑉</m:t>
                            </m:r>
                          </m:e>
                          <m:sub>
                            <m:r>
                              <a:rPr lang="en-CA" sz="1800" b="0" i="1" smtClean="0">
                                <a:solidFill>
                                  <a:srgbClr val="7030A0"/>
                                </a:solidFill>
                                <a:latin typeface="Cambria Math" panose="02040503050406030204" pitchFamily="18" charset="0"/>
                              </a:rPr>
                              <m:t>𝑒𝑥</m:t>
                            </m:r>
                            <m:r>
                              <a:rPr lang="en-CA" sz="1800" b="0" i="1" smtClean="0">
                                <a:solidFill>
                                  <a:srgbClr val="7030A0"/>
                                </a:solidFill>
                                <a:latin typeface="Cambria Math" panose="02040503050406030204" pitchFamily="18" charset="0"/>
                              </a:rPr>
                              <m:t>(</m:t>
                            </m:r>
                            <m:r>
                              <a:rPr lang="en-CA" sz="1800" b="0" i="1" smtClean="0">
                                <a:solidFill>
                                  <a:srgbClr val="7030A0"/>
                                </a:solidFill>
                                <a:latin typeface="Cambria Math" panose="02040503050406030204" pitchFamily="18" charset="0"/>
                              </a:rPr>
                              <m:t>𝐶</m:t>
                            </m:r>
                            <m:r>
                              <a:rPr lang="en-CA" sz="1800" b="0" i="1" smtClean="0">
                                <a:solidFill>
                                  <a:srgbClr val="7030A0"/>
                                </a:solidFill>
                                <a:latin typeface="Cambria Math" panose="02040503050406030204" pitchFamily="18" charset="0"/>
                              </a:rPr>
                              <m:t>)</m:t>
                            </m:r>
                          </m:sub>
                          <m:sup>
                            <m:r>
                              <a:rPr lang="en-CA" sz="1800" b="0" i="1" smtClean="0">
                                <a:solidFill>
                                  <a:srgbClr val="7030A0"/>
                                </a:solidFill>
                                <a:latin typeface="Cambria Math" panose="02040503050406030204" pitchFamily="18" charset="0"/>
                              </a:rPr>
                              <m:t>𝑘</m:t>
                            </m:r>
                          </m:sup>
                        </m:sSubSup>
                      </m:e>
                    </m:nary>
                  </m:oMath>
                </a14:m>
                <a:r>
                  <a:rPr lang="en-US" dirty="0">
                    <a:solidFill>
                      <a:srgbClr val="7030A0"/>
                    </a:solidFill>
                  </a:rPr>
                  <a:t> = R</a:t>
                </a:r>
                <a:r>
                  <a:rPr lang="en-US" baseline="-25000" dirty="0">
                    <a:solidFill>
                      <a:srgbClr val="7030A0"/>
                    </a:solidFill>
                  </a:rPr>
                  <a:t>C</a:t>
                </a:r>
                <a:endParaRPr lang="en-US" dirty="0">
                  <a:solidFill>
                    <a:srgbClr val="7030A0"/>
                  </a:solidFill>
                </a:endParaRPr>
              </a:p>
            </p:txBody>
          </p:sp>
        </mc:Choice>
        <mc:Fallback xmlns="">
          <p:sp>
            <p:nvSpPr>
              <p:cNvPr id="13" name="TextBox 12">
                <a:extLst>
                  <a:ext uri="{FF2B5EF4-FFF2-40B4-BE49-F238E27FC236}">
                    <a16:creationId xmlns:a16="http://schemas.microsoft.com/office/drawing/2014/main" id="{18746E12-D9EC-ADEA-450D-484AC4956E9E}"/>
                  </a:ext>
                </a:extLst>
              </p:cNvPr>
              <p:cNvSpPr txBox="1">
                <a:spLocks noRot="1" noChangeAspect="1" noMove="1" noResize="1" noEditPoints="1" noAdjustHandles="1" noChangeArrowheads="1" noChangeShapeType="1" noTextEdit="1"/>
              </p:cNvSpPr>
              <p:nvPr/>
            </p:nvSpPr>
            <p:spPr>
              <a:xfrm>
                <a:off x="374097" y="2566871"/>
                <a:ext cx="1777987" cy="767261"/>
              </a:xfrm>
              <a:prstGeom prst="rect">
                <a:avLst/>
              </a:prstGeom>
              <a:blipFill>
                <a:blip r:embed="rId3"/>
                <a:stretch>
                  <a:fillRect l="-17730" t="-52459" b="-770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741FD14-D192-2F50-E399-D2BC0B791817}"/>
                  </a:ext>
                </a:extLst>
              </p:cNvPr>
              <p:cNvSpPr txBox="1"/>
              <p:nvPr/>
            </p:nvSpPr>
            <p:spPr>
              <a:xfrm>
                <a:off x="344927" y="3235068"/>
                <a:ext cx="5858830" cy="664862"/>
              </a:xfrm>
              <a:prstGeom prst="rect">
                <a:avLst/>
              </a:prstGeom>
              <a:noFill/>
            </p:spPr>
            <p:txBody>
              <a:bodyPr wrap="square" rtlCol="0">
                <a:spAutoFit/>
              </a:bodyPr>
              <a:lstStyle/>
              <a:p>
                <a:r>
                  <a:rPr lang="en-US" dirty="0">
                    <a:solidFill>
                      <a:schemeClr val="tx1"/>
                    </a:solidFill>
                  </a:rPr>
                  <a:t>Determining predicted </a:t>
                </a:r>
                <a14:m>
                  <m:oMath xmlns:m="http://schemas.openxmlformats.org/officeDocument/2006/math">
                    <m:sSubSup>
                      <m:sSubSupPr>
                        <m:ctrlPr>
                          <a:rPr lang="en-US" sz="1800" i="1" smtClean="0">
                            <a:solidFill>
                              <a:schemeClr val="tx1"/>
                            </a:solidFill>
                            <a:latin typeface="Cambria Math" panose="02040503050406030204" pitchFamily="18" charset="0"/>
                            <a:ea typeface="Cambria Math" panose="02040503050406030204" pitchFamily="18" charset="0"/>
                          </a:rPr>
                        </m:ctrlPr>
                      </m:sSubSupPr>
                      <m:e>
                        <m:r>
                          <a:rPr lang="en-US" sz="1800" i="1">
                            <a:solidFill>
                              <a:schemeClr val="tx1"/>
                            </a:solidFill>
                            <a:latin typeface="Cambria Math" panose="02040503050406030204" pitchFamily="18" charset="0"/>
                            <a:ea typeface="Cambria Math" panose="02040503050406030204" pitchFamily="18" charset="0"/>
                          </a:rPr>
                          <m:t>𝑠</m:t>
                        </m:r>
                      </m:e>
                      <m:sub>
                        <m:r>
                          <a:rPr lang="en-US" sz="1800" i="1">
                            <a:solidFill>
                              <a:schemeClr val="tx1"/>
                            </a:solidFill>
                            <a:latin typeface="Cambria Math" panose="02040503050406030204" pitchFamily="18" charset="0"/>
                            <a:ea typeface="Cambria Math" panose="02040503050406030204" pitchFamily="18" charset="0"/>
                          </a:rPr>
                          <m:t>𝐻𝐷𝐶</m:t>
                        </m:r>
                        <m:r>
                          <a:rPr lang="en-US" sz="1800" i="1">
                            <a:solidFill>
                              <a:schemeClr val="tx1"/>
                            </a:solidFill>
                            <a:latin typeface="Cambria Math" panose="02040503050406030204" pitchFamily="18" charset="0"/>
                            <a:ea typeface="Cambria Math" panose="02040503050406030204" pitchFamily="18" charset="0"/>
                          </a:rPr>
                          <m:t>1</m:t>
                        </m:r>
                      </m:sub>
                      <m:sup>
                        <m:r>
                          <a:rPr lang="en-US" sz="1800" i="1">
                            <a:solidFill>
                              <a:schemeClr val="tx1"/>
                            </a:solidFill>
                            <a:latin typeface="Cambria Math" panose="02040503050406030204" pitchFamily="18" charset="0"/>
                            <a:ea typeface="Cambria Math" panose="02040503050406030204" pitchFamily="18" charset="0"/>
                          </a:rPr>
                          <m:t>𝑖</m:t>
                        </m:r>
                      </m:sup>
                    </m:sSubSup>
                  </m:oMath>
                </a14:m>
                <a:r>
                  <a:rPr lang="en-US" dirty="0">
                    <a:solidFill>
                      <a:schemeClr val="tx1"/>
                    </a:solidFill>
                  </a:rPr>
                  <a:t> in mmol per g of fecal matter for comparison to experimental results:</a:t>
                </a:r>
              </a:p>
            </p:txBody>
          </p:sp>
        </mc:Choice>
        <mc:Fallback xmlns="">
          <p:sp>
            <p:nvSpPr>
              <p:cNvPr id="5" name="TextBox 4">
                <a:extLst>
                  <a:ext uri="{FF2B5EF4-FFF2-40B4-BE49-F238E27FC236}">
                    <a16:creationId xmlns:a16="http://schemas.microsoft.com/office/drawing/2014/main" id="{1741FD14-D192-2F50-E399-D2BC0B791817}"/>
                  </a:ext>
                </a:extLst>
              </p:cNvPr>
              <p:cNvSpPr txBox="1">
                <a:spLocks noRot="1" noChangeAspect="1" noMove="1" noResize="1" noEditPoints="1" noAdjustHandles="1" noChangeArrowheads="1" noChangeShapeType="1" noTextEdit="1"/>
              </p:cNvSpPr>
              <p:nvPr/>
            </p:nvSpPr>
            <p:spPr>
              <a:xfrm>
                <a:off x="344927" y="3235068"/>
                <a:ext cx="5858830" cy="664862"/>
              </a:xfrm>
              <a:prstGeom prst="rect">
                <a:avLst/>
              </a:prstGeom>
              <a:blipFill>
                <a:blip r:embed="rId4"/>
                <a:stretch>
                  <a:fillRect l="-866" t="-1852" b="-129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33431FF-AD24-6948-BDCD-2ED03D7C3D59}"/>
                  </a:ext>
                </a:extLst>
              </p:cNvPr>
              <p:cNvSpPr txBox="1"/>
              <p:nvPr/>
            </p:nvSpPr>
            <p:spPr>
              <a:xfrm>
                <a:off x="686201" y="4099852"/>
                <a:ext cx="4878038" cy="504625"/>
              </a:xfrm>
              <a:prstGeom prst="rect">
                <a:avLst/>
              </a:prstGeom>
              <a:noFill/>
              <a:ln w="28575">
                <a:solidFill>
                  <a:schemeClr val="tx1"/>
                </a:solidFill>
              </a:ln>
            </p:spPr>
            <p:txBody>
              <a:bodyPr wrap="square">
                <a:spAutoFit/>
              </a:bodyPr>
              <a:lstStyle/>
              <a:p>
                <a:pPr algn="ctr"/>
                <a:r>
                  <a:rPr lang="en-US" sz="2000" dirty="0">
                    <a:solidFill>
                      <a:schemeClr val="tx1"/>
                    </a:solidFill>
                  </a:rPr>
                  <a:t> </a:t>
                </a:r>
                <a14:m>
                  <m:oMath xmlns:m="http://schemas.openxmlformats.org/officeDocument/2006/math">
                    <m:nary>
                      <m:naryPr>
                        <m:chr m:val="∑"/>
                        <m:supHide m:val="on"/>
                        <m:ctrlPr>
                          <a:rPr lang="en-US" sz="2000" i="1" smtClean="0">
                            <a:solidFill>
                              <a:schemeClr val="tx1"/>
                            </a:solidFill>
                            <a:latin typeface="Cambria Math" panose="02040503050406030204" pitchFamily="18" charset="0"/>
                          </a:rPr>
                        </m:ctrlPr>
                      </m:naryPr>
                      <m:sub>
                        <m:r>
                          <m:rPr>
                            <m:brk m:alnAt="7"/>
                          </m:rPr>
                          <a:rPr lang="en-US" sz="2000" i="1">
                            <a:solidFill>
                              <a:schemeClr val="tx1"/>
                            </a:solidFill>
                            <a:latin typeface="Cambria Math" panose="02040503050406030204" pitchFamily="18" charset="0"/>
                          </a:rPr>
                          <m:t>𝑗</m:t>
                        </m:r>
                      </m:sub>
                      <m:sup/>
                      <m:e>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𝑞</m:t>
                            </m:r>
                          </m:e>
                          <m:sub>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𝑠</m:t>
                                </m:r>
                              </m:e>
                              <m:sub>
                                <m:r>
                                  <a:rPr lang="en-US" sz="2000" i="1">
                                    <a:solidFill>
                                      <a:schemeClr val="tx1"/>
                                    </a:solidFill>
                                    <a:latin typeface="Cambria Math" panose="02040503050406030204" pitchFamily="18" charset="0"/>
                                  </a:rPr>
                                  <m:t>𝑖</m:t>
                                </m:r>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𝑗</m:t>
                                </m:r>
                              </m:sub>
                            </m:sSub>
                          </m:sub>
                        </m:sSub>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𝑥</m:t>
                            </m:r>
                          </m:e>
                          <m:sub>
                            <m:r>
                              <a:rPr lang="en-US" sz="2000" i="1">
                                <a:solidFill>
                                  <a:schemeClr val="tx1"/>
                                </a:solidFill>
                                <a:latin typeface="Cambria Math" panose="02040503050406030204" pitchFamily="18" charset="0"/>
                              </a:rPr>
                              <m:t>𝑗</m:t>
                            </m:r>
                          </m:sub>
                        </m:sSub>
                        <m:r>
                          <a:rPr lang="en-CA" sz="2000" b="0" i="1" smtClean="0">
                            <a:solidFill>
                              <a:schemeClr val="tx1"/>
                            </a:solidFill>
                            <a:latin typeface="Cambria Math" panose="02040503050406030204" pitchFamily="18" charset="0"/>
                          </a:rPr>
                          <m:t>=</m:t>
                        </m:r>
                        <m:nary>
                          <m:naryPr>
                            <m:chr m:val="∑"/>
                            <m:supHide m:val="on"/>
                            <m:ctrlPr>
                              <a:rPr lang="en-CA" sz="2000" i="1" smtClean="0">
                                <a:solidFill>
                                  <a:schemeClr val="tx1"/>
                                </a:solidFill>
                                <a:latin typeface="Cambria Math" panose="02040503050406030204" pitchFamily="18" charset="0"/>
                              </a:rPr>
                            </m:ctrlPr>
                          </m:naryPr>
                          <m:sub>
                            <m:r>
                              <m:rPr>
                                <m:brk m:alnAt="7"/>
                              </m:rPr>
                              <a:rPr lang="en-CA" sz="2000" i="1">
                                <a:solidFill>
                                  <a:schemeClr val="tx1"/>
                                </a:solidFill>
                                <a:latin typeface="Cambria Math" panose="02040503050406030204" pitchFamily="18" charset="0"/>
                              </a:rPr>
                              <m:t>𝑘</m:t>
                            </m:r>
                            <m:r>
                              <a:rPr lang="en-CA" sz="2000" i="1">
                                <a:solidFill>
                                  <a:schemeClr val="tx1"/>
                                </a:solidFill>
                                <a:latin typeface="Cambria Math" panose="02040503050406030204" pitchFamily="18" charset="0"/>
                                <a:ea typeface="Cambria Math" panose="02040503050406030204" pitchFamily="18" charset="0"/>
                              </a:rPr>
                              <m:t>∈</m:t>
                            </m:r>
                            <m:r>
                              <a:rPr lang="en-CA" sz="2000" i="1">
                                <a:solidFill>
                                  <a:schemeClr val="tx1"/>
                                </a:solidFill>
                                <a:latin typeface="Cambria Math" panose="02040503050406030204" pitchFamily="18" charset="0"/>
                                <a:ea typeface="Cambria Math" panose="02040503050406030204" pitchFamily="18" charset="0"/>
                              </a:rPr>
                              <m:t>𝐾</m:t>
                            </m:r>
                          </m:sub>
                          <m:sup/>
                          <m:e>
                            <m:sSubSup>
                              <m:sSubSupPr>
                                <m:ctrlPr>
                                  <a:rPr lang="en-CA" sz="2000" i="1">
                                    <a:solidFill>
                                      <a:schemeClr val="tx1"/>
                                    </a:solidFill>
                                    <a:latin typeface="Cambria Math" panose="02040503050406030204" pitchFamily="18" charset="0"/>
                                  </a:rPr>
                                </m:ctrlPr>
                              </m:sSubSupPr>
                              <m:e>
                                <m:r>
                                  <a:rPr lang="en-CA" sz="2000" i="1">
                                    <a:solidFill>
                                      <a:schemeClr val="tx1"/>
                                    </a:solidFill>
                                    <a:latin typeface="Cambria Math" panose="02040503050406030204" pitchFamily="18" charset="0"/>
                                  </a:rPr>
                                  <m:t>𝑉</m:t>
                                </m:r>
                              </m:e>
                              <m:sub>
                                <m:r>
                                  <a:rPr lang="en-CA" sz="2000" i="1">
                                    <a:solidFill>
                                      <a:schemeClr val="tx1"/>
                                    </a:solidFill>
                                    <a:latin typeface="Cambria Math" panose="02040503050406030204" pitchFamily="18" charset="0"/>
                                  </a:rPr>
                                  <m:t>𝑒𝑥</m:t>
                                </m:r>
                                <m:r>
                                  <a:rPr lang="en-CA" sz="2000" i="1">
                                    <a:solidFill>
                                      <a:schemeClr val="tx1"/>
                                    </a:solidFill>
                                    <a:latin typeface="Cambria Math" panose="02040503050406030204" pitchFamily="18" charset="0"/>
                                  </a:rPr>
                                  <m:t>(</m:t>
                                </m:r>
                                <m:r>
                                  <a:rPr lang="en-CA" sz="2000" i="1">
                                    <a:solidFill>
                                      <a:schemeClr val="tx1"/>
                                    </a:solidFill>
                                    <a:latin typeface="Cambria Math" panose="02040503050406030204" pitchFamily="18" charset="0"/>
                                  </a:rPr>
                                  <m:t>𝑖</m:t>
                                </m:r>
                                <m:r>
                                  <a:rPr lang="en-CA" sz="2000" i="1">
                                    <a:solidFill>
                                      <a:schemeClr val="tx1"/>
                                    </a:solidFill>
                                    <a:latin typeface="Cambria Math" panose="02040503050406030204" pitchFamily="18" charset="0"/>
                                  </a:rPr>
                                  <m:t>)</m:t>
                                </m:r>
                              </m:sub>
                              <m:sup>
                                <m:r>
                                  <a:rPr lang="en-CA" sz="2000" i="1">
                                    <a:solidFill>
                                      <a:schemeClr val="tx1"/>
                                    </a:solidFill>
                                    <a:latin typeface="Cambria Math" panose="02040503050406030204" pitchFamily="18" charset="0"/>
                                  </a:rPr>
                                  <m:t>𝑘</m:t>
                                </m:r>
                              </m:sup>
                            </m:sSubSup>
                            <m:r>
                              <a:rPr lang="en-CA" sz="2000" i="1">
                                <a:solidFill>
                                  <a:schemeClr val="tx1"/>
                                </a:solidFill>
                                <a:latin typeface="Cambria Math" panose="02040503050406030204" pitchFamily="18" charset="0"/>
                              </a:rPr>
                              <m:t>= </m:t>
                            </m:r>
                          </m:e>
                        </m:nary>
                        <m:r>
                          <a:rPr lang="en-US" sz="2000" i="1">
                            <a:solidFill>
                              <a:schemeClr val="tx1"/>
                            </a:solidFill>
                            <a:latin typeface="Cambria Math" panose="02040503050406030204" pitchFamily="18" charset="0"/>
                            <a:ea typeface="Cambria Math" panose="02040503050406030204" pitchFamily="18" charset="0"/>
                          </a:rPr>
                          <m:t>𝜇</m:t>
                        </m:r>
                        <m:d>
                          <m:dPr>
                            <m:begChr m:val="["/>
                            <m:endChr m:val="]"/>
                            <m:ctrlPr>
                              <a:rPr lang="en-US" sz="2000" i="1">
                                <a:solidFill>
                                  <a:schemeClr val="tx1"/>
                                </a:solidFill>
                                <a:latin typeface="Cambria Math" panose="02040503050406030204" pitchFamily="18" charset="0"/>
                                <a:ea typeface="Cambria Math" panose="02040503050406030204" pitchFamily="18" charset="0"/>
                              </a:rPr>
                            </m:ctrlPr>
                          </m:dPr>
                          <m:e>
                            <m:sSubSup>
                              <m:sSubSupPr>
                                <m:ctrlPr>
                                  <a:rPr lang="en-US" sz="2000" i="1">
                                    <a:solidFill>
                                      <a:schemeClr val="tx1"/>
                                    </a:solidFill>
                                    <a:latin typeface="Cambria Math" panose="02040503050406030204" pitchFamily="18" charset="0"/>
                                    <a:ea typeface="Cambria Math" panose="02040503050406030204" pitchFamily="18" charset="0"/>
                                  </a:rPr>
                                </m:ctrlPr>
                              </m:sSubSupPr>
                              <m:e>
                                <m:r>
                                  <a:rPr lang="en-US" sz="2000" i="1">
                                    <a:solidFill>
                                      <a:schemeClr val="tx1"/>
                                    </a:solidFill>
                                    <a:latin typeface="Cambria Math" panose="02040503050406030204" pitchFamily="18" charset="0"/>
                                    <a:ea typeface="Cambria Math" panose="02040503050406030204" pitchFamily="18" charset="0"/>
                                  </a:rPr>
                                  <m:t>𝑠</m:t>
                                </m:r>
                              </m:e>
                              <m:sub>
                                <m:r>
                                  <a:rPr lang="en-US" sz="2000" i="1">
                                    <a:solidFill>
                                      <a:schemeClr val="tx1"/>
                                    </a:solidFill>
                                    <a:latin typeface="Cambria Math" panose="02040503050406030204" pitchFamily="18" charset="0"/>
                                    <a:ea typeface="Cambria Math" panose="02040503050406030204" pitchFamily="18" charset="0"/>
                                  </a:rPr>
                                  <m:t>𝐻𝐷𝐶</m:t>
                                </m:r>
                                <m:r>
                                  <a:rPr lang="en-US" sz="2000" i="1">
                                    <a:solidFill>
                                      <a:schemeClr val="tx1"/>
                                    </a:solidFill>
                                    <a:latin typeface="Cambria Math" panose="02040503050406030204" pitchFamily="18" charset="0"/>
                                    <a:ea typeface="Cambria Math" panose="02040503050406030204" pitchFamily="18" charset="0"/>
                                  </a:rPr>
                                  <m:t>1</m:t>
                                </m:r>
                              </m:sub>
                              <m:sup>
                                <m:r>
                                  <a:rPr lang="en-US" sz="2000" i="1">
                                    <a:solidFill>
                                      <a:schemeClr val="tx1"/>
                                    </a:solidFill>
                                    <a:latin typeface="Cambria Math" panose="02040503050406030204" pitchFamily="18" charset="0"/>
                                    <a:ea typeface="Cambria Math" panose="02040503050406030204" pitchFamily="18" charset="0"/>
                                  </a:rPr>
                                  <m:t>𝑖</m:t>
                                </m:r>
                              </m:sup>
                            </m:sSubSup>
                            <m:r>
                              <a:rPr lang="en-US" sz="2000" i="1">
                                <a:solidFill>
                                  <a:schemeClr val="tx1"/>
                                </a:solidFill>
                                <a:latin typeface="Cambria Math" panose="02040503050406030204" pitchFamily="18" charset="0"/>
                                <a:ea typeface="Cambria Math" panose="02040503050406030204" pitchFamily="18" charset="0"/>
                              </a:rPr>
                              <m:t>−</m:t>
                            </m:r>
                            <m:sSubSup>
                              <m:sSubSupPr>
                                <m:ctrlPr>
                                  <a:rPr lang="en-US" sz="2000" i="1">
                                    <a:solidFill>
                                      <a:schemeClr val="tx1"/>
                                    </a:solidFill>
                                    <a:latin typeface="Cambria Math" panose="02040503050406030204" pitchFamily="18" charset="0"/>
                                    <a:ea typeface="Cambria Math" panose="02040503050406030204" pitchFamily="18" charset="0"/>
                                  </a:rPr>
                                </m:ctrlPr>
                              </m:sSubSupPr>
                              <m:e>
                                <m:r>
                                  <a:rPr lang="en-US" sz="2000" i="1">
                                    <a:solidFill>
                                      <a:schemeClr val="tx1"/>
                                    </a:solidFill>
                                    <a:latin typeface="Cambria Math" panose="02040503050406030204" pitchFamily="18" charset="0"/>
                                    <a:ea typeface="Cambria Math" panose="02040503050406030204" pitchFamily="18" charset="0"/>
                                  </a:rPr>
                                  <m:t>𝑠</m:t>
                                </m:r>
                              </m:e>
                              <m:sub>
                                <m:r>
                                  <a:rPr lang="en-US" sz="2000" i="1">
                                    <a:solidFill>
                                      <a:schemeClr val="tx1"/>
                                    </a:solidFill>
                                    <a:latin typeface="Cambria Math" panose="02040503050406030204" pitchFamily="18" charset="0"/>
                                    <a:ea typeface="Cambria Math" panose="02040503050406030204" pitchFamily="18" charset="0"/>
                                  </a:rPr>
                                  <m:t>𝐺𝐹</m:t>
                                </m:r>
                              </m:sub>
                              <m:sup>
                                <m:r>
                                  <a:rPr lang="en-US" sz="2000" i="1">
                                    <a:solidFill>
                                      <a:schemeClr val="tx1"/>
                                    </a:solidFill>
                                    <a:latin typeface="Cambria Math" panose="02040503050406030204" pitchFamily="18" charset="0"/>
                                    <a:ea typeface="Cambria Math" panose="02040503050406030204" pitchFamily="18" charset="0"/>
                                  </a:rPr>
                                  <m:t>𝑖</m:t>
                                </m:r>
                              </m:sup>
                            </m:sSubSup>
                          </m:e>
                        </m:d>
                      </m:e>
                    </m:nary>
                  </m:oMath>
                </a14:m>
                <a:r>
                  <a:rPr lang="en-US" sz="2000" dirty="0">
                    <a:solidFill>
                      <a:schemeClr val="tx1"/>
                    </a:solidFill>
                  </a:rPr>
                  <a:t> </a:t>
                </a:r>
              </a:p>
            </p:txBody>
          </p:sp>
        </mc:Choice>
        <mc:Fallback xmlns="">
          <p:sp>
            <p:nvSpPr>
              <p:cNvPr id="6" name="TextBox 5">
                <a:extLst>
                  <a:ext uri="{FF2B5EF4-FFF2-40B4-BE49-F238E27FC236}">
                    <a16:creationId xmlns:a16="http://schemas.microsoft.com/office/drawing/2014/main" id="{833431FF-AD24-6948-BDCD-2ED03D7C3D59}"/>
                  </a:ext>
                </a:extLst>
              </p:cNvPr>
              <p:cNvSpPr txBox="1">
                <a:spLocks noRot="1" noChangeAspect="1" noMove="1" noResize="1" noEditPoints="1" noAdjustHandles="1" noChangeArrowheads="1" noChangeShapeType="1" noTextEdit="1"/>
              </p:cNvSpPr>
              <p:nvPr/>
            </p:nvSpPr>
            <p:spPr>
              <a:xfrm>
                <a:off x="686201" y="4099852"/>
                <a:ext cx="4878038" cy="504625"/>
              </a:xfrm>
              <a:prstGeom prst="rect">
                <a:avLst/>
              </a:prstGeom>
              <a:blipFill>
                <a:blip r:embed="rId5"/>
                <a:stretch>
                  <a:fillRect l="-3876" t="-83333" b="-119048"/>
                </a:stretch>
              </a:blipFill>
              <a:ln w="28575">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E940875-8AC2-F96A-B714-CCBC82244EBF}"/>
                  </a:ext>
                </a:extLst>
              </p:cNvPr>
              <p:cNvSpPr txBox="1"/>
              <p:nvPr/>
            </p:nvSpPr>
            <p:spPr>
              <a:xfrm>
                <a:off x="463818" y="4886073"/>
                <a:ext cx="2508692" cy="456856"/>
              </a:xfrm>
              <a:prstGeom prst="rect">
                <a:avLst/>
              </a:prstGeom>
              <a:noFill/>
              <a:ln w="28575">
                <a:noFill/>
              </a:ln>
            </p:spPr>
            <p:txBody>
              <a:bodyPr wrap="square">
                <a:spAutoFit/>
              </a:bodyPr>
              <a:lstStyle/>
              <a:p>
                <a:pPr algn="ctr"/>
                <a:r>
                  <a:rPr lang="en-US" sz="2000" dirty="0">
                    <a:solidFill>
                      <a:schemeClr val="tx1"/>
                    </a:solidFill>
                  </a:rPr>
                  <a:t> </a:t>
                </a:r>
                <a:r>
                  <a:rPr lang="en-US" sz="2000" dirty="0"/>
                  <a:t> R</a:t>
                </a:r>
                <a:r>
                  <a:rPr lang="en-US" sz="2000" baseline="-25000" dirty="0"/>
                  <a:t>A</a:t>
                </a:r>
                <a:r>
                  <a:rPr lang="en-US" sz="2000" dirty="0">
                    <a:solidFill>
                      <a:schemeClr val="tx1"/>
                    </a:solidFill>
                  </a:rPr>
                  <a:t> = </a:t>
                </a:r>
                <a14:m>
                  <m:oMath xmlns:m="http://schemas.openxmlformats.org/officeDocument/2006/math">
                    <m:r>
                      <a:rPr lang="en-US" sz="2000" i="1" smtClean="0">
                        <a:solidFill>
                          <a:schemeClr val="tx1"/>
                        </a:solidFill>
                        <a:latin typeface="Cambria Math" panose="02040503050406030204" pitchFamily="18" charset="0"/>
                        <a:ea typeface="Cambria Math" panose="02040503050406030204" pitchFamily="18" charset="0"/>
                      </a:rPr>
                      <m:t>𝜇</m:t>
                    </m:r>
                    <m:d>
                      <m:dPr>
                        <m:begChr m:val="["/>
                        <m:endChr m:val="]"/>
                        <m:ctrlPr>
                          <a:rPr lang="en-US" sz="2000" i="1">
                            <a:solidFill>
                              <a:schemeClr val="tx1"/>
                            </a:solidFill>
                            <a:latin typeface="Cambria Math" panose="02040503050406030204" pitchFamily="18" charset="0"/>
                            <a:ea typeface="Cambria Math" panose="02040503050406030204" pitchFamily="18" charset="0"/>
                          </a:rPr>
                        </m:ctrlPr>
                      </m:dPr>
                      <m:e>
                        <m:sSubSup>
                          <m:sSubSupPr>
                            <m:ctrlPr>
                              <a:rPr lang="en-US" sz="2000" i="1">
                                <a:solidFill>
                                  <a:schemeClr val="tx1"/>
                                </a:solidFill>
                                <a:latin typeface="Cambria Math" panose="02040503050406030204" pitchFamily="18" charset="0"/>
                                <a:ea typeface="Cambria Math" panose="02040503050406030204" pitchFamily="18" charset="0"/>
                              </a:rPr>
                            </m:ctrlPr>
                          </m:sSubSupPr>
                          <m:e>
                            <m:r>
                              <a:rPr lang="en-US" sz="2000" i="1">
                                <a:solidFill>
                                  <a:schemeClr val="tx1"/>
                                </a:solidFill>
                                <a:latin typeface="Cambria Math" panose="02040503050406030204" pitchFamily="18" charset="0"/>
                                <a:ea typeface="Cambria Math" panose="02040503050406030204" pitchFamily="18" charset="0"/>
                              </a:rPr>
                              <m:t>𝑠</m:t>
                            </m:r>
                          </m:e>
                          <m:sub>
                            <m:r>
                              <a:rPr lang="en-US" sz="2000" i="1">
                                <a:solidFill>
                                  <a:schemeClr val="tx1"/>
                                </a:solidFill>
                                <a:latin typeface="Cambria Math" panose="02040503050406030204" pitchFamily="18" charset="0"/>
                                <a:ea typeface="Cambria Math" panose="02040503050406030204" pitchFamily="18" charset="0"/>
                              </a:rPr>
                              <m:t>𝐻𝐷𝐶</m:t>
                            </m:r>
                            <m:r>
                              <a:rPr lang="en-US" sz="2000" i="1">
                                <a:solidFill>
                                  <a:schemeClr val="tx1"/>
                                </a:solidFill>
                                <a:latin typeface="Cambria Math" panose="02040503050406030204" pitchFamily="18" charset="0"/>
                                <a:ea typeface="Cambria Math" panose="02040503050406030204" pitchFamily="18" charset="0"/>
                              </a:rPr>
                              <m:t>1</m:t>
                            </m:r>
                          </m:sub>
                          <m:sup>
                            <m:r>
                              <a:rPr lang="en-CA" sz="2000" b="0" i="1" smtClean="0">
                                <a:solidFill>
                                  <a:schemeClr val="tx1"/>
                                </a:solidFill>
                                <a:latin typeface="Cambria Math" panose="02040503050406030204" pitchFamily="18" charset="0"/>
                                <a:ea typeface="Cambria Math" panose="02040503050406030204" pitchFamily="18" charset="0"/>
                              </a:rPr>
                              <m:t>𝐴</m:t>
                            </m:r>
                          </m:sup>
                        </m:sSubSup>
                        <m:r>
                          <a:rPr lang="en-US" sz="2000" i="1">
                            <a:solidFill>
                              <a:schemeClr val="tx1"/>
                            </a:solidFill>
                            <a:latin typeface="Cambria Math" panose="02040503050406030204" pitchFamily="18" charset="0"/>
                            <a:ea typeface="Cambria Math" panose="02040503050406030204" pitchFamily="18" charset="0"/>
                          </a:rPr>
                          <m:t>−</m:t>
                        </m:r>
                        <m:r>
                          <a:rPr lang="en-CA" sz="2000" b="0" i="1" smtClean="0">
                            <a:solidFill>
                              <a:schemeClr val="tx1"/>
                            </a:solidFill>
                            <a:latin typeface="Cambria Math" panose="02040503050406030204" pitchFamily="18" charset="0"/>
                            <a:ea typeface="Cambria Math" panose="02040503050406030204" pitchFamily="18" charset="0"/>
                          </a:rPr>
                          <m:t>0</m:t>
                        </m:r>
                      </m:e>
                    </m:d>
                  </m:oMath>
                </a14:m>
                <a:r>
                  <a:rPr lang="en-US" sz="2000" dirty="0">
                    <a:solidFill>
                      <a:schemeClr val="tx1"/>
                    </a:solidFill>
                  </a:rPr>
                  <a:t>  </a:t>
                </a:r>
              </a:p>
            </p:txBody>
          </p:sp>
        </mc:Choice>
        <mc:Fallback xmlns="">
          <p:sp>
            <p:nvSpPr>
              <p:cNvPr id="8" name="TextBox 7">
                <a:extLst>
                  <a:ext uri="{FF2B5EF4-FFF2-40B4-BE49-F238E27FC236}">
                    <a16:creationId xmlns:a16="http://schemas.microsoft.com/office/drawing/2014/main" id="{CE940875-8AC2-F96A-B714-CCBC82244EBF}"/>
                  </a:ext>
                </a:extLst>
              </p:cNvPr>
              <p:cNvSpPr txBox="1">
                <a:spLocks noRot="1" noChangeAspect="1" noMove="1" noResize="1" noEditPoints="1" noAdjustHandles="1" noChangeArrowheads="1" noChangeShapeType="1" noTextEdit="1"/>
              </p:cNvSpPr>
              <p:nvPr/>
            </p:nvSpPr>
            <p:spPr>
              <a:xfrm>
                <a:off x="463818" y="4886073"/>
                <a:ext cx="2508692" cy="456856"/>
              </a:xfrm>
              <a:prstGeom prst="rect">
                <a:avLst/>
              </a:prstGeom>
              <a:blipFill>
                <a:blip r:embed="rId6"/>
                <a:stretch>
                  <a:fillRect b="-16216"/>
                </a:stretch>
              </a:blipFill>
              <a:ln w="285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F290CC6-AEBC-1709-8F19-D5B9D0899215}"/>
                  </a:ext>
                </a:extLst>
              </p:cNvPr>
              <p:cNvSpPr txBox="1"/>
              <p:nvPr/>
            </p:nvSpPr>
            <p:spPr>
              <a:xfrm>
                <a:off x="3036260" y="4917619"/>
                <a:ext cx="2508692" cy="456856"/>
              </a:xfrm>
              <a:prstGeom prst="rect">
                <a:avLst/>
              </a:prstGeom>
              <a:noFill/>
              <a:ln w="28575">
                <a:noFill/>
              </a:ln>
            </p:spPr>
            <p:txBody>
              <a:bodyPr wrap="square">
                <a:spAutoFit/>
              </a:bodyPr>
              <a:lstStyle/>
              <a:p>
                <a:pPr algn="ctr"/>
                <a:r>
                  <a:rPr lang="en-US" sz="2000" dirty="0">
                    <a:solidFill>
                      <a:schemeClr val="tx1"/>
                    </a:solidFill>
                  </a:rPr>
                  <a:t> </a:t>
                </a:r>
                <a:r>
                  <a:rPr lang="en-US" sz="2000" dirty="0"/>
                  <a:t> R</a:t>
                </a:r>
                <a:r>
                  <a:rPr lang="en-US" sz="2000" baseline="-25000" dirty="0"/>
                  <a:t>C</a:t>
                </a:r>
                <a:r>
                  <a:rPr lang="en-US" sz="2000" dirty="0">
                    <a:solidFill>
                      <a:schemeClr val="tx1"/>
                    </a:solidFill>
                  </a:rPr>
                  <a:t> = </a:t>
                </a:r>
                <a14:m>
                  <m:oMath xmlns:m="http://schemas.openxmlformats.org/officeDocument/2006/math">
                    <m:r>
                      <a:rPr lang="en-US" sz="2000" i="1" smtClean="0">
                        <a:solidFill>
                          <a:schemeClr val="tx1"/>
                        </a:solidFill>
                        <a:latin typeface="Cambria Math" panose="02040503050406030204" pitchFamily="18" charset="0"/>
                        <a:ea typeface="Cambria Math" panose="02040503050406030204" pitchFamily="18" charset="0"/>
                      </a:rPr>
                      <m:t>𝜇</m:t>
                    </m:r>
                    <m:d>
                      <m:dPr>
                        <m:begChr m:val="["/>
                        <m:endChr m:val="]"/>
                        <m:ctrlPr>
                          <a:rPr lang="en-US" sz="2000" i="1">
                            <a:solidFill>
                              <a:schemeClr val="tx1"/>
                            </a:solidFill>
                            <a:latin typeface="Cambria Math" panose="02040503050406030204" pitchFamily="18" charset="0"/>
                            <a:ea typeface="Cambria Math" panose="02040503050406030204" pitchFamily="18" charset="0"/>
                          </a:rPr>
                        </m:ctrlPr>
                      </m:dPr>
                      <m:e>
                        <m:sSubSup>
                          <m:sSubSupPr>
                            <m:ctrlPr>
                              <a:rPr lang="en-US" sz="2000" i="1">
                                <a:solidFill>
                                  <a:schemeClr val="tx1"/>
                                </a:solidFill>
                                <a:latin typeface="Cambria Math" panose="02040503050406030204" pitchFamily="18" charset="0"/>
                                <a:ea typeface="Cambria Math" panose="02040503050406030204" pitchFamily="18" charset="0"/>
                              </a:rPr>
                            </m:ctrlPr>
                          </m:sSubSupPr>
                          <m:e>
                            <m:r>
                              <a:rPr lang="en-US" sz="2000" i="1">
                                <a:solidFill>
                                  <a:schemeClr val="tx1"/>
                                </a:solidFill>
                                <a:latin typeface="Cambria Math" panose="02040503050406030204" pitchFamily="18" charset="0"/>
                                <a:ea typeface="Cambria Math" panose="02040503050406030204" pitchFamily="18" charset="0"/>
                              </a:rPr>
                              <m:t>𝑠</m:t>
                            </m:r>
                          </m:e>
                          <m:sub>
                            <m:r>
                              <a:rPr lang="en-US" sz="2000" i="1">
                                <a:solidFill>
                                  <a:schemeClr val="tx1"/>
                                </a:solidFill>
                                <a:latin typeface="Cambria Math" panose="02040503050406030204" pitchFamily="18" charset="0"/>
                                <a:ea typeface="Cambria Math" panose="02040503050406030204" pitchFamily="18" charset="0"/>
                              </a:rPr>
                              <m:t>𝐻𝐷𝐶</m:t>
                            </m:r>
                            <m:r>
                              <a:rPr lang="en-US" sz="2000" i="1">
                                <a:solidFill>
                                  <a:schemeClr val="tx1"/>
                                </a:solidFill>
                                <a:latin typeface="Cambria Math" panose="02040503050406030204" pitchFamily="18" charset="0"/>
                                <a:ea typeface="Cambria Math" panose="02040503050406030204" pitchFamily="18" charset="0"/>
                              </a:rPr>
                              <m:t>1</m:t>
                            </m:r>
                          </m:sub>
                          <m:sup>
                            <m:r>
                              <a:rPr lang="en-CA" sz="2000" b="0" i="1" smtClean="0">
                                <a:solidFill>
                                  <a:schemeClr val="tx1"/>
                                </a:solidFill>
                                <a:latin typeface="Cambria Math" panose="02040503050406030204" pitchFamily="18" charset="0"/>
                                <a:ea typeface="Cambria Math" panose="02040503050406030204" pitchFamily="18" charset="0"/>
                              </a:rPr>
                              <m:t>𝐶</m:t>
                            </m:r>
                          </m:sup>
                        </m:sSubSup>
                        <m:r>
                          <a:rPr lang="en-US" sz="2000" i="1">
                            <a:solidFill>
                              <a:schemeClr val="tx1"/>
                            </a:solidFill>
                            <a:latin typeface="Cambria Math" panose="02040503050406030204" pitchFamily="18" charset="0"/>
                            <a:ea typeface="Cambria Math" panose="02040503050406030204" pitchFamily="18" charset="0"/>
                          </a:rPr>
                          <m:t>−</m:t>
                        </m:r>
                        <m:r>
                          <a:rPr lang="en-CA" sz="2000" b="0" i="1" smtClean="0">
                            <a:solidFill>
                              <a:schemeClr val="tx1"/>
                            </a:solidFill>
                            <a:latin typeface="Cambria Math" panose="02040503050406030204" pitchFamily="18" charset="0"/>
                            <a:ea typeface="Cambria Math" panose="02040503050406030204" pitchFamily="18" charset="0"/>
                          </a:rPr>
                          <m:t>10</m:t>
                        </m:r>
                      </m:e>
                    </m:d>
                  </m:oMath>
                </a14:m>
                <a:r>
                  <a:rPr lang="en-US" sz="2000" dirty="0">
                    <a:solidFill>
                      <a:schemeClr val="tx1"/>
                    </a:solidFill>
                  </a:rPr>
                  <a:t>  </a:t>
                </a:r>
              </a:p>
            </p:txBody>
          </p:sp>
        </mc:Choice>
        <mc:Fallback xmlns="">
          <p:sp>
            <p:nvSpPr>
              <p:cNvPr id="16" name="TextBox 15">
                <a:extLst>
                  <a:ext uri="{FF2B5EF4-FFF2-40B4-BE49-F238E27FC236}">
                    <a16:creationId xmlns:a16="http://schemas.microsoft.com/office/drawing/2014/main" id="{3F290CC6-AEBC-1709-8F19-D5B9D0899215}"/>
                  </a:ext>
                </a:extLst>
              </p:cNvPr>
              <p:cNvSpPr txBox="1">
                <a:spLocks noRot="1" noChangeAspect="1" noMove="1" noResize="1" noEditPoints="1" noAdjustHandles="1" noChangeArrowheads="1" noChangeShapeType="1" noTextEdit="1"/>
              </p:cNvSpPr>
              <p:nvPr/>
            </p:nvSpPr>
            <p:spPr>
              <a:xfrm>
                <a:off x="3036260" y="4917619"/>
                <a:ext cx="2508692" cy="456856"/>
              </a:xfrm>
              <a:prstGeom prst="rect">
                <a:avLst/>
              </a:prstGeom>
              <a:blipFill>
                <a:blip r:embed="rId7"/>
                <a:stretch>
                  <a:fillRect t="-2703" b="-16216"/>
                </a:stretch>
              </a:blipFill>
              <a:ln w="285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B9AEC78-6D58-E45A-1718-55DF0E994D90}"/>
                  </a:ext>
                </a:extLst>
              </p:cNvPr>
              <p:cNvSpPr txBox="1"/>
              <p:nvPr/>
            </p:nvSpPr>
            <p:spPr>
              <a:xfrm>
                <a:off x="3436091" y="5588023"/>
                <a:ext cx="1760097" cy="517001"/>
              </a:xfrm>
              <a:prstGeom prst="rect">
                <a:avLst/>
              </a:prstGeom>
              <a:noFill/>
            </p:spPr>
            <p:txBody>
              <a:bodyPr wrap="none" rtlCol="0">
                <a:spAutoFit/>
              </a:bodyPr>
              <a:lstStyle/>
              <a:p>
                <a14:m>
                  <m:oMath xmlns:m="http://schemas.openxmlformats.org/officeDocument/2006/math">
                    <m:sSubSup>
                      <m:sSubSupPr>
                        <m:ctrlPr>
                          <a:rPr lang="en-US" i="1" smtClean="0">
                            <a:latin typeface="Cambria Math" panose="02040503050406030204" pitchFamily="18" charset="0"/>
                          </a:rPr>
                        </m:ctrlPr>
                      </m:sSubSupPr>
                      <m:e>
                        <m:r>
                          <a:rPr lang="en-CA" b="0" i="1" smtClean="0">
                            <a:latin typeface="Cambria Math" panose="02040503050406030204" pitchFamily="18" charset="0"/>
                          </a:rPr>
                          <m:t>𝑠</m:t>
                        </m:r>
                      </m:e>
                      <m:sub>
                        <m:r>
                          <a:rPr lang="en-CA" b="0" i="1" smtClean="0">
                            <a:latin typeface="Cambria Math" panose="02040503050406030204" pitchFamily="18" charset="0"/>
                          </a:rPr>
                          <m:t>𝐻𝐷𝐶</m:t>
                        </m:r>
                        <m:r>
                          <a:rPr lang="en-CA" b="0" i="1" smtClean="0">
                            <a:latin typeface="Cambria Math" panose="02040503050406030204" pitchFamily="18" charset="0"/>
                          </a:rPr>
                          <m:t>1</m:t>
                        </m:r>
                      </m:sub>
                      <m:sup>
                        <m:r>
                          <a:rPr lang="en-CA" b="0" i="1" smtClean="0">
                            <a:latin typeface="Cambria Math" panose="02040503050406030204" pitchFamily="18" charset="0"/>
                          </a:rPr>
                          <m:t>𝐶</m:t>
                        </m:r>
                      </m:sup>
                    </m:sSubSup>
                    <m:r>
                      <a:rPr lang="en-CA" b="0" i="1" smtClean="0">
                        <a:latin typeface="Cambria Math" panose="02040503050406030204" pitchFamily="18" charset="0"/>
                      </a:rPr>
                      <m:t>= </m:t>
                    </m:r>
                    <m:f>
                      <m:fPr>
                        <m:ctrlPr>
                          <a:rPr lang="en-CA" b="0" i="1" smtClean="0">
                            <a:latin typeface="Cambria Math" panose="02040503050406030204" pitchFamily="18" charset="0"/>
                          </a:rPr>
                        </m:ctrlPr>
                      </m:fPr>
                      <m:num>
                        <m:sSub>
                          <m:sSubPr>
                            <m:ctrlPr>
                              <a:rPr lang="en-CA" b="0" i="1" smtClean="0">
                                <a:latin typeface="Cambria Math" panose="02040503050406030204" pitchFamily="18" charset="0"/>
                              </a:rPr>
                            </m:ctrlPr>
                          </m:sSubPr>
                          <m:e>
                            <m:r>
                              <a:rPr lang="en-CA" b="0" i="1" smtClean="0">
                                <a:latin typeface="Cambria Math" panose="02040503050406030204" pitchFamily="18" charset="0"/>
                              </a:rPr>
                              <m:t>𝑅</m:t>
                            </m:r>
                          </m:e>
                          <m:sub>
                            <m:r>
                              <a:rPr lang="en-CA" b="0" i="1" smtClean="0">
                                <a:latin typeface="Cambria Math" panose="02040503050406030204" pitchFamily="18" charset="0"/>
                              </a:rPr>
                              <m:t>𝐶</m:t>
                            </m:r>
                          </m:sub>
                        </m:sSub>
                      </m:num>
                      <m:den>
                        <m:r>
                          <a:rPr lang="en-CA" b="0" i="1" smtClean="0">
                            <a:latin typeface="Cambria Math" panose="02040503050406030204" pitchFamily="18" charset="0"/>
                            <a:ea typeface="Cambria Math" panose="02040503050406030204" pitchFamily="18" charset="0"/>
                          </a:rPr>
                          <m:t>𝜇</m:t>
                        </m:r>
                      </m:den>
                    </m:f>
                  </m:oMath>
                </a14:m>
                <a:r>
                  <a:rPr lang="en-US" dirty="0"/>
                  <a:t> + 10</a:t>
                </a:r>
              </a:p>
            </p:txBody>
          </p:sp>
        </mc:Choice>
        <mc:Fallback xmlns="">
          <p:sp>
            <p:nvSpPr>
              <p:cNvPr id="17" name="TextBox 16">
                <a:extLst>
                  <a:ext uri="{FF2B5EF4-FFF2-40B4-BE49-F238E27FC236}">
                    <a16:creationId xmlns:a16="http://schemas.microsoft.com/office/drawing/2014/main" id="{2B9AEC78-6D58-E45A-1718-55DF0E994D90}"/>
                  </a:ext>
                </a:extLst>
              </p:cNvPr>
              <p:cNvSpPr txBox="1">
                <a:spLocks noRot="1" noChangeAspect="1" noMove="1" noResize="1" noEditPoints="1" noAdjustHandles="1" noChangeArrowheads="1" noChangeShapeType="1" noTextEdit="1"/>
              </p:cNvSpPr>
              <p:nvPr/>
            </p:nvSpPr>
            <p:spPr>
              <a:xfrm>
                <a:off x="3436091" y="5588023"/>
                <a:ext cx="1760097" cy="517001"/>
              </a:xfrm>
              <a:prstGeom prst="rect">
                <a:avLst/>
              </a:prstGeom>
              <a:blipFill>
                <a:blip r:embed="rId8"/>
                <a:stretch>
                  <a:fillRect r="-2158" b="-4878"/>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A46BC8C2-6AEE-5A3E-722E-A9E5693CB190}"/>
              </a:ext>
            </a:extLst>
          </p:cNvPr>
          <p:cNvSpPr/>
          <p:nvPr/>
        </p:nvSpPr>
        <p:spPr>
          <a:xfrm>
            <a:off x="999496" y="5433523"/>
            <a:ext cx="1499646" cy="825999"/>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28367489-D356-AD77-4CB9-3F3F833A20C7}"/>
              </a:ext>
            </a:extLst>
          </p:cNvPr>
          <p:cNvGrpSpPr/>
          <p:nvPr/>
        </p:nvGrpSpPr>
        <p:grpSpPr>
          <a:xfrm>
            <a:off x="1749319" y="6271498"/>
            <a:ext cx="2618872" cy="235230"/>
            <a:chOff x="2926080" y="4255125"/>
            <a:chExt cx="6234249" cy="486692"/>
          </a:xfrm>
        </p:grpSpPr>
        <p:cxnSp>
          <p:nvCxnSpPr>
            <p:cNvPr id="20" name="Straight Connector 19">
              <a:extLst>
                <a:ext uri="{FF2B5EF4-FFF2-40B4-BE49-F238E27FC236}">
                  <a16:creationId xmlns:a16="http://schemas.microsoft.com/office/drawing/2014/main" id="{8A42FF21-3B2C-AC08-4FE8-D6791EB16761}"/>
                </a:ext>
              </a:extLst>
            </p:cNvPr>
            <p:cNvCxnSpPr>
              <a:cxnSpLocks/>
            </p:cNvCxnSpPr>
            <p:nvPr/>
          </p:nvCxnSpPr>
          <p:spPr>
            <a:xfrm flipV="1">
              <a:off x="2926080" y="4741816"/>
              <a:ext cx="6234249" cy="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CB061A6-8A80-B60C-CA7E-AAFD28AA70BD}"/>
                </a:ext>
              </a:extLst>
            </p:cNvPr>
            <p:cNvCxnSpPr>
              <a:cxnSpLocks/>
            </p:cNvCxnSpPr>
            <p:nvPr/>
          </p:nvCxnSpPr>
          <p:spPr>
            <a:xfrm>
              <a:off x="2939913" y="4255126"/>
              <a:ext cx="0" cy="48669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2A0CEE1-17C2-654A-43AA-B952D01EE53A}"/>
                </a:ext>
              </a:extLst>
            </p:cNvPr>
            <p:cNvCxnSpPr>
              <a:cxnSpLocks/>
            </p:cNvCxnSpPr>
            <p:nvPr/>
          </p:nvCxnSpPr>
          <p:spPr>
            <a:xfrm>
              <a:off x="9160329" y="4255125"/>
              <a:ext cx="0" cy="48669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grpSp>
      <p:cxnSp>
        <p:nvCxnSpPr>
          <p:cNvPr id="23" name="Straight Connector 22">
            <a:extLst>
              <a:ext uri="{FF2B5EF4-FFF2-40B4-BE49-F238E27FC236}">
                <a16:creationId xmlns:a16="http://schemas.microsoft.com/office/drawing/2014/main" id="{15CC48BE-58EF-E26F-3428-DA98356DA8E9}"/>
              </a:ext>
            </a:extLst>
          </p:cNvPr>
          <p:cNvCxnSpPr>
            <a:cxnSpLocks/>
          </p:cNvCxnSpPr>
          <p:nvPr/>
        </p:nvCxnSpPr>
        <p:spPr>
          <a:xfrm>
            <a:off x="3006763" y="6700477"/>
            <a:ext cx="6300523"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32CAFD4-6E44-0659-B278-1640EA4524CD}"/>
              </a:ext>
            </a:extLst>
          </p:cNvPr>
          <p:cNvSpPr txBox="1"/>
          <p:nvPr/>
        </p:nvSpPr>
        <p:spPr>
          <a:xfrm>
            <a:off x="5897217" y="6271498"/>
            <a:ext cx="1514710" cy="369332"/>
          </a:xfrm>
          <a:prstGeom prst="rect">
            <a:avLst/>
          </a:prstGeom>
          <a:noFill/>
        </p:spPr>
        <p:txBody>
          <a:bodyPr wrap="none" rtlCol="0">
            <a:spAutoFit/>
          </a:bodyPr>
          <a:lstStyle/>
          <a:p>
            <a:r>
              <a:rPr lang="en-US" dirty="0">
                <a:solidFill>
                  <a:srgbClr val="7030A0"/>
                </a:solidFill>
              </a:rPr>
              <a:t>Compare to …</a:t>
            </a:r>
          </a:p>
        </p:txBody>
      </p:sp>
      <p:cxnSp>
        <p:nvCxnSpPr>
          <p:cNvPr id="25" name="Straight Connector 24">
            <a:extLst>
              <a:ext uri="{FF2B5EF4-FFF2-40B4-BE49-F238E27FC236}">
                <a16:creationId xmlns:a16="http://schemas.microsoft.com/office/drawing/2014/main" id="{C431CE77-8115-81BF-014B-7372E9836552}"/>
              </a:ext>
            </a:extLst>
          </p:cNvPr>
          <p:cNvCxnSpPr>
            <a:cxnSpLocks/>
          </p:cNvCxnSpPr>
          <p:nvPr/>
        </p:nvCxnSpPr>
        <p:spPr>
          <a:xfrm>
            <a:off x="3006763" y="6506728"/>
            <a:ext cx="0" cy="193749"/>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39EAEFE-11CD-3A9D-1F2B-DEFD70C39D09}"/>
              </a:ext>
            </a:extLst>
          </p:cNvPr>
          <p:cNvCxnSpPr/>
          <p:nvPr/>
        </p:nvCxnSpPr>
        <p:spPr>
          <a:xfrm flipV="1">
            <a:off x="9307286" y="5045432"/>
            <a:ext cx="0" cy="1655045"/>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9189F4B-778F-A6A3-876E-570D078D6A55}"/>
                  </a:ext>
                </a:extLst>
              </p:cNvPr>
              <p:cNvSpPr txBox="1"/>
              <p:nvPr/>
            </p:nvSpPr>
            <p:spPr>
              <a:xfrm>
                <a:off x="1016049" y="5519383"/>
                <a:ext cx="1404231" cy="6542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CA" b="0" i="1" smtClean="0">
                              <a:latin typeface="Cambria Math" panose="02040503050406030204" pitchFamily="18" charset="0"/>
                            </a:rPr>
                            <m:t>𝑠</m:t>
                          </m:r>
                        </m:e>
                        <m:sub>
                          <m:r>
                            <a:rPr lang="en-CA" b="0" i="1" smtClean="0">
                              <a:latin typeface="Cambria Math" panose="02040503050406030204" pitchFamily="18" charset="0"/>
                            </a:rPr>
                            <m:t>𝐻𝐷𝐶</m:t>
                          </m:r>
                          <m:r>
                            <a:rPr lang="en-CA" b="0" i="1" smtClean="0">
                              <a:latin typeface="Cambria Math" panose="02040503050406030204" pitchFamily="18" charset="0"/>
                            </a:rPr>
                            <m:t>1</m:t>
                          </m:r>
                        </m:sub>
                        <m:sup>
                          <m:r>
                            <a:rPr lang="en-CA" b="0" i="1" smtClean="0">
                              <a:latin typeface="Cambria Math" panose="02040503050406030204" pitchFamily="18" charset="0"/>
                            </a:rPr>
                            <m:t>𝐴</m:t>
                          </m:r>
                        </m:sup>
                      </m:sSubSup>
                      <m:r>
                        <a:rPr lang="en-CA" b="0" i="1" smtClean="0">
                          <a:latin typeface="Cambria Math" panose="02040503050406030204" pitchFamily="18" charset="0"/>
                        </a:rPr>
                        <m:t>= </m:t>
                      </m:r>
                      <m:f>
                        <m:fPr>
                          <m:ctrlPr>
                            <a:rPr lang="en-CA" b="0" i="1" smtClean="0">
                              <a:latin typeface="Cambria Math" panose="02040503050406030204" pitchFamily="18" charset="0"/>
                            </a:rPr>
                          </m:ctrlPr>
                        </m:fPr>
                        <m:num>
                          <m:sSub>
                            <m:sSubPr>
                              <m:ctrlPr>
                                <a:rPr lang="en-CA" b="0" i="1" smtClean="0">
                                  <a:latin typeface="Cambria Math" panose="02040503050406030204" pitchFamily="18" charset="0"/>
                                </a:rPr>
                              </m:ctrlPr>
                            </m:sSubPr>
                            <m:e>
                              <m:r>
                                <a:rPr lang="en-CA" b="0" i="1" smtClean="0">
                                  <a:latin typeface="Cambria Math" panose="02040503050406030204" pitchFamily="18" charset="0"/>
                                </a:rPr>
                                <m:t>𝑅</m:t>
                              </m:r>
                            </m:e>
                            <m:sub>
                              <m:r>
                                <a:rPr lang="en-CA" b="0" i="1" smtClean="0">
                                  <a:latin typeface="Cambria Math" panose="02040503050406030204" pitchFamily="18" charset="0"/>
                                </a:rPr>
                                <m:t>𝐴</m:t>
                              </m:r>
                            </m:sub>
                          </m:sSub>
                        </m:num>
                        <m:den>
                          <m:r>
                            <a:rPr lang="en-CA" b="0" i="1" smtClean="0">
                              <a:latin typeface="Cambria Math" panose="02040503050406030204" pitchFamily="18" charset="0"/>
                              <a:ea typeface="Cambria Math" panose="02040503050406030204" pitchFamily="18" charset="0"/>
                            </a:rPr>
                            <m:t>𝜇</m:t>
                          </m:r>
                        </m:den>
                      </m:f>
                    </m:oMath>
                  </m:oMathPara>
                </a14:m>
                <a:endParaRPr lang="en-US" dirty="0"/>
              </a:p>
            </p:txBody>
          </p:sp>
        </mc:Choice>
        <mc:Fallback xmlns="">
          <p:sp>
            <p:nvSpPr>
              <p:cNvPr id="27" name="TextBox 26">
                <a:extLst>
                  <a:ext uri="{FF2B5EF4-FFF2-40B4-BE49-F238E27FC236}">
                    <a16:creationId xmlns:a16="http://schemas.microsoft.com/office/drawing/2014/main" id="{B9189F4B-778F-A6A3-876E-570D078D6A55}"/>
                  </a:ext>
                </a:extLst>
              </p:cNvPr>
              <p:cNvSpPr txBox="1">
                <a:spLocks noRot="1" noChangeAspect="1" noMove="1" noResize="1" noEditPoints="1" noAdjustHandles="1" noChangeArrowheads="1" noChangeShapeType="1" noTextEdit="1"/>
              </p:cNvSpPr>
              <p:nvPr/>
            </p:nvSpPr>
            <p:spPr>
              <a:xfrm>
                <a:off x="1016049" y="5519383"/>
                <a:ext cx="1404231" cy="654282"/>
              </a:xfrm>
              <a:prstGeom prst="rect">
                <a:avLst/>
              </a:prstGeom>
              <a:blipFill>
                <a:blip r:embed="rId9"/>
                <a:stretch>
                  <a:fillRect b="-1887"/>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CBB1CB25-9549-6AAD-B4E2-F0432B69D87D}"/>
              </a:ext>
            </a:extLst>
          </p:cNvPr>
          <p:cNvSpPr/>
          <p:nvPr/>
        </p:nvSpPr>
        <p:spPr>
          <a:xfrm>
            <a:off x="3346696" y="5445499"/>
            <a:ext cx="1915585" cy="825999"/>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31">
            <a:extLst>
              <a:ext uri="{FF2B5EF4-FFF2-40B4-BE49-F238E27FC236}">
                <a16:creationId xmlns:a16="http://schemas.microsoft.com/office/drawing/2014/main" id="{EB53F959-B589-D276-3DA3-0CA3874D0BBB}"/>
              </a:ext>
            </a:extLst>
          </p:cNvPr>
          <p:cNvSpPr>
            <a:spLocks noGrp="1"/>
          </p:cNvSpPr>
          <p:nvPr>
            <p:ph type="title"/>
          </p:nvPr>
        </p:nvSpPr>
        <p:spPr>
          <a:xfrm>
            <a:off x="238195" y="365125"/>
            <a:ext cx="11115605" cy="1127631"/>
          </a:xfrm>
        </p:spPr>
        <p:txBody>
          <a:bodyPr>
            <a:noAutofit/>
          </a:bodyPr>
          <a:lstStyle/>
          <a:p>
            <a:r>
              <a:rPr lang="en-US" sz="3600" b="1" dirty="0"/>
              <a:t>Community Metabolic Modelling and Validation Framework</a:t>
            </a:r>
            <a:endParaRPr lang="en-US" sz="3600" dirty="0"/>
          </a:p>
        </p:txBody>
      </p:sp>
    </p:spTree>
    <p:extLst>
      <p:ext uri="{BB962C8B-B14F-4D97-AF65-F5344CB8AC3E}">
        <p14:creationId xmlns:p14="http://schemas.microsoft.com/office/powerpoint/2010/main" val="848652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E7283-38D1-10DA-10C4-6AED00EC4438}"/>
              </a:ext>
            </a:extLst>
          </p:cNvPr>
          <p:cNvSpPr>
            <a:spLocks noGrp="1"/>
          </p:cNvSpPr>
          <p:nvPr>
            <p:ph type="title"/>
          </p:nvPr>
        </p:nvSpPr>
        <p:spPr/>
        <p:txBody>
          <a:bodyPr/>
          <a:lstStyle/>
          <a:p>
            <a:r>
              <a:rPr lang="en-US" dirty="0"/>
              <a:t>Extra slides</a:t>
            </a:r>
          </a:p>
        </p:txBody>
      </p:sp>
    </p:spTree>
    <p:extLst>
      <p:ext uri="{BB962C8B-B14F-4D97-AF65-F5344CB8AC3E}">
        <p14:creationId xmlns:p14="http://schemas.microsoft.com/office/powerpoint/2010/main" val="2805525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06C1C-E6E0-4ED0-94F8-DF23019C04A2}"/>
              </a:ext>
            </a:extLst>
          </p:cNvPr>
          <p:cNvSpPr>
            <a:spLocks noGrp="1"/>
          </p:cNvSpPr>
          <p:nvPr>
            <p:ph type="title"/>
          </p:nvPr>
        </p:nvSpPr>
        <p:spPr>
          <a:xfrm>
            <a:off x="838200" y="167061"/>
            <a:ext cx="10515600" cy="1325563"/>
          </a:xfrm>
        </p:spPr>
        <p:txBody>
          <a:bodyPr/>
          <a:lstStyle/>
          <a:p>
            <a:r>
              <a:rPr lang="en-US" dirty="0"/>
              <a:t>Modelling framework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3A7606-2162-46F7-94B4-5C4DF2E07E92}"/>
                  </a:ext>
                </a:extLst>
              </p:cNvPr>
              <p:cNvSpPr>
                <a:spLocks noGrp="1"/>
              </p:cNvSpPr>
              <p:nvPr>
                <p:ph idx="1"/>
              </p:nvPr>
            </p:nvSpPr>
            <p:spPr>
              <a:xfrm>
                <a:off x="272590" y="1424318"/>
                <a:ext cx="9354671" cy="5175063"/>
              </a:xfrm>
            </p:spPr>
            <p:txBody>
              <a:bodyPr>
                <a:normAutofit fontScale="70000" lnSpcReduction="20000"/>
              </a:bodyPr>
              <a:lstStyle/>
              <a:p>
                <a:pPr marL="0" indent="0">
                  <a:buNone/>
                </a:pPr>
                <a14:m>
                  <m:oMath xmlns:m="http://schemas.openxmlformats.org/officeDocument/2006/math">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d>
                          <m:dPr>
                            <m:begChr m:val="["/>
                            <m:endChr m:val="]"/>
                            <m:ctrlPr>
                              <a:rPr lang="en-US" b="0" i="1" smtClean="0">
                                <a:latin typeface="Cambria Math" panose="02040503050406030204" pitchFamily="18" charset="0"/>
                                <a:ea typeface="Cambria Math" panose="02040503050406030204" pitchFamily="18" charset="0"/>
                              </a:rPr>
                            </m:ctrlPr>
                          </m:dPr>
                          <m:e>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𝐻𝐷𝐶</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𝑖</m:t>
                                </m:r>
                              </m:sup>
                            </m:sSubSup>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𝐺𝐹</m:t>
                                </m:r>
                              </m:sub>
                              <m:sup>
                                <m:r>
                                  <a:rPr lang="en-US" b="0" i="1" smtClean="0">
                                    <a:latin typeface="Cambria Math" panose="02040503050406030204" pitchFamily="18" charset="0"/>
                                    <a:ea typeface="Cambria Math" panose="02040503050406030204" pitchFamily="18" charset="0"/>
                                  </a:rPr>
                                  <m:t>𝑖</m:t>
                                </m:r>
                              </m:sup>
                            </m:sSubSup>
                          </m:e>
                        </m:d>
                      </m:e>
                    </m:nary>
                  </m:oMath>
                </a14:m>
                <a:r>
                  <a:rPr lang="en-US" dirty="0"/>
                  <a:t> </a:t>
                </a:r>
                <a:r>
                  <a:rPr lang="en-US" b="1" dirty="0"/>
                  <a:t>(1)</a:t>
                </a:r>
              </a:p>
              <a:p>
                <a:pPr marL="0" indent="0">
                  <a:buNone/>
                </a:pPr>
                <a:r>
                  <a:rPr lang="en-US" dirty="0"/>
                  <a:t>where,</a:t>
                </a:r>
              </a:p>
              <a:p>
                <a:pPr marL="0" indent="0">
                  <a:buNone/>
                </a:pP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𝑞</m:t>
                        </m:r>
                      </m:e>
                      <m:sub>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𝑠</m:t>
                            </m:r>
                          </m:e>
                          <m:sub>
                            <m:r>
                              <a:rPr lang="en-US" sz="2800" b="0" i="1" smtClean="0">
                                <a:latin typeface="Cambria Math" panose="02040503050406030204" pitchFamily="18" charset="0"/>
                              </a:rPr>
                              <m:t>𝑖</m:t>
                            </m:r>
                            <m:r>
                              <a:rPr lang="en-US" sz="2800" b="0" i="1" smtClean="0">
                                <a:latin typeface="Cambria Math" panose="02040503050406030204" pitchFamily="18" charset="0"/>
                              </a:rPr>
                              <m:t>,</m:t>
                            </m:r>
                            <m:r>
                              <a:rPr lang="en-US" sz="2800" b="0" i="1" smtClean="0">
                                <a:latin typeface="Cambria Math" panose="02040503050406030204" pitchFamily="18" charset="0"/>
                              </a:rPr>
                              <m:t>𝑗</m:t>
                            </m:r>
                          </m:sub>
                        </m:sSub>
                      </m:sub>
                    </m:sSub>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𝑗</m:t>
                        </m:r>
                      </m:sub>
                    </m:sSub>
                  </m:oMath>
                </a14:m>
                <a:r>
                  <a:rPr lang="en-US" sz="2800" dirty="0"/>
                  <a:t> = flux in mmol per </a:t>
                </a:r>
                <a:r>
                  <a:rPr lang="en-US" sz="2800" dirty="0" err="1"/>
                  <a:t>hr</a:t>
                </a:r>
                <a:r>
                  <a:rPr lang="en-US" sz="2800" dirty="0"/>
                  <a:t> per L (</a:t>
                </a:r>
                <a:r>
                  <a:rPr lang="en-US" sz="2800" dirty="0">
                    <a:highlight>
                      <a:srgbClr val="FFFF00"/>
                    </a:highlight>
                  </a:rPr>
                  <a:t>scaling factor </a:t>
                </a:r>
                <a:r>
                  <a:rPr lang="en-US" sz="2800" dirty="0"/>
                  <a:t>should get rid of L-1)</a:t>
                </a:r>
                <a:endParaRPr lang="en-US" dirty="0"/>
              </a:p>
              <a:p>
                <a:pPr marL="0" indent="0">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sub>
                    </m:sSub>
                  </m:oMath>
                </a14:m>
                <a:r>
                  <a:rPr lang="en-US" sz="2800" dirty="0"/>
                  <a:t> = flux (mmol per </a:t>
                </a:r>
                <a:r>
                  <a:rPr lang="en-US" sz="2800" dirty="0" err="1"/>
                  <a:t>gDW</a:t>
                </a:r>
                <a:r>
                  <a:rPr lang="en-US" sz="2800" dirty="0"/>
                  <a:t> per </a:t>
                </a:r>
                <a:r>
                  <a:rPr lang="en-US" sz="2800" dirty="0" err="1"/>
                  <a:t>hr</a:t>
                </a:r>
                <a:r>
                  <a:rPr lang="en-US" sz="2800" dirty="0"/>
                  <a:t>) of metabolite </a:t>
                </a:r>
                <a:r>
                  <a:rPr lang="en-US" sz="2800" dirty="0" err="1"/>
                  <a:t>i</a:t>
                </a:r>
                <a:r>
                  <a:rPr lang="en-US" sz="2800" dirty="0"/>
                  <a:t> for bacteria j</a:t>
                </a:r>
              </a:p>
              <a:p>
                <a:pPr marL="0" indent="0">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oMath>
                </a14:m>
                <a:r>
                  <a:rPr lang="en-US" dirty="0"/>
                  <a:t> = abundance of bacteria j (</a:t>
                </a:r>
                <a:r>
                  <a:rPr lang="en-US" dirty="0" err="1"/>
                  <a:t>gdW</a:t>
                </a:r>
                <a:r>
                  <a:rPr lang="en-US" dirty="0"/>
                  <a:t> per </a:t>
                </a:r>
                <a:r>
                  <a:rPr lang="en-US" dirty="0" err="1"/>
                  <a:t>litre</a:t>
                </a:r>
                <a:r>
                  <a:rPr lang="en-US" dirty="0"/>
                  <a:t> L)</a:t>
                </a:r>
              </a:p>
              <a:p>
                <a:pPr marL="0" indent="0">
                  <a:buNone/>
                </a:pPr>
                <a14:m>
                  <m:oMath xmlns:m="http://schemas.openxmlformats.org/officeDocument/2006/math">
                    <m:r>
                      <a:rPr lang="en-US" b="0" i="1" smtClean="0">
                        <a:latin typeface="Cambria Math" panose="02040503050406030204" pitchFamily="18" charset="0"/>
                        <a:ea typeface="Cambria Math" panose="02040503050406030204" pitchFamily="18" charset="0"/>
                      </a:rPr>
                      <m:t>𝜇</m:t>
                    </m:r>
                  </m:oMath>
                </a14:m>
                <a:r>
                  <a:rPr lang="en-US" dirty="0"/>
                  <a:t> = growth rate of cells = dilution rate = </a:t>
                </a:r>
                <a14:m>
                  <m:oMath xmlns:m="http://schemas.openxmlformats.org/officeDocument/2006/math">
                    <m:r>
                      <a:rPr lang="en-US" b="0" i="1" smtClean="0">
                        <a:latin typeface="Cambria Math" panose="02040503050406030204" pitchFamily="18" charset="0"/>
                        <a:ea typeface="Cambria Math" panose="02040503050406030204" pitchFamily="18" charset="0"/>
                      </a:rPr>
                      <m:t>𝐷</m:t>
                    </m:r>
                    <m:r>
                      <a:rPr lang="en-US" b="0" i="1" smtClean="0">
                        <a:latin typeface="Cambria Math" panose="02040503050406030204" pitchFamily="18" charset="0"/>
                        <a:ea typeface="Cambria Math" panose="02040503050406030204" pitchFamily="18" charset="0"/>
                      </a:rPr>
                      <m:t>= </m:t>
                    </m:r>
                    <m:f>
                      <m:fPr>
                        <m:ctrlPr>
                          <a:rPr lang="en-US" i="1" smtClean="0">
                            <a:latin typeface="Cambria Math" panose="02040503050406030204" pitchFamily="18" charset="0"/>
                            <a:ea typeface="Cambria Math" panose="02040503050406030204" pitchFamily="18" charset="0"/>
                          </a:rPr>
                        </m:ctrlPr>
                      </m:fPr>
                      <m:num>
                        <m:acc>
                          <m:accPr>
                            <m:chr m:val="̅"/>
                            <m:ctrlPr>
                              <a:rPr lang="en-US"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𝑣</m:t>
                            </m:r>
                          </m:e>
                        </m:acc>
                      </m:num>
                      <m:den>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𝑐</m:t>
                            </m:r>
                          </m:sub>
                        </m:sSub>
                      </m:den>
                    </m:f>
                  </m:oMath>
                </a14:m>
                <a:r>
                  <a:rPr lang="en-US" dirty="0"/>
                  <a:t> </a:t>
                </a:r>
                <a:r>
                  <a:rPr lang="en-US" b="1" dirty="0"/>
                  <a:t>(5)</a:t>
                </a:r>
              </a:p>
              <a:p>
                <a:pPr marL="0" indent="0">
                  <a:buNone/>
                </a:pPr>
                <a14:m>
                  <m:oMath xmlns:m="http://schemas.openxmlformats.org/officeDocument/2006/math">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𝐻𝐷𝐶</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𝑖</m:t>
                        </m:r>
                      </m:sup>
                    </m:sSubSup>
                  </m:oMath>
                </a14:m>
                <a:r>
                  <a:rPr lang="en-US" dirty="0"/>
                  <a:t> = concentration of metabolite </a:t>
                </a:r>
                <a:r>
                  <a:rPr lang="en-US" dirty="0" err="1"/>
                  <a:t>i</a:t>
                </a:r>
                <a:r>
                  <a:rPr lang="en-US" dirty="0"/>
                  <a:t> in HDC1 poop (in mmol/</a:t>
                </a:r>
                <a:r>
                  <a:rPr lang="en-US" dirty="0" err="1"/>
                  <a:t>litre</a:t>
                </a:r>
                <a:r>
                  <a:rPr lang="en-US" dirty="0"/>
                  <a:t>)</a:t>
                </a:r>
              </a:p>
              <a:p>
                <a:pPr marL="0" indent="0">
                  <a:buNone/>
                </a:pPr>
                <a14:m>
                  <m:oMath xmlns:m="http://schemas.openxmlformats.org/officeDocument/2006/math">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𝐺𝐹</m:t>
                        </m:r>
                      </m:sub>
                      <m:sup>
                        <m:r>
                          <a:rPr lang="en-US" b="0" i="1" smtClean="0">
                            <a:latin typeface="Cambria Math" panose="02040503050406030204" pitchFamily="18" charset="0"/>
                            <a:ea typeface="Cambria Math" panose="02040503050406030204" pitchFamily="18" charset="0"/>
                          </a:rPr>
                          <m:t>𝑖</m:t>
                        </m:r>
                      </m:sup>
                    </m:sSubSup>
                  </m:oMath>
                </a14:m>
                <a:r>
                  <a:rPr lang="en-US" dirty="0"/>
                  <a:t> = concentration of metabolite </a:t>
                </a:r>
                <a:r>
                  <a:rPr lang="en-US" dirty="0" err="1"/>
                  <a:t>i</a:t>
                </a:r>
                <a:r>
                  <a:rPr lang="en-US" dirty="0"/>
                  <a:t> in GF poop (in mmol/</a:t>
                </a:r>
                <a:r>
                  <a:rPr lang="en-US" dirty="0" err="1"/>
                  <a:t>litre</a:t>
                </a:r>
                <a:r>
                  <a:rPr lang="en-US" dirty="0"/>
                  <a:t>)</a:t>
                </a:r>
              </a:p>
              <a:p>
                <a:pPr marL="0" indent="0">
                  <a:buNone/>
                </a:pPr>
                <a:endParaRPr lang="en-US" dirty="0"/>
              </a:p>
              <a:p>
                <a:pPr marL="0" indent="0">
                  <a:buNone/>
                </a:pPr>
                <a:r>
                  <a:rPr lang="en-US" dirty="0"/>
                  <a:t>Using this, if</a:t>
                </a:r>
              </a:p>
              <a:p>
                <a:pPr marL="0" indent="0">
                  <a:buNone/>
                </a:pPr>
                <a:r>
                  <a:rPr lang="en-US" dirty="0"/>
                  <a:t>(a) A metabolite is being </a:t>
                </a:r>
                <a:r>
                  <a:rPr lang="en-US" i="1" dirty="0"/>
                  <a:t>produced</a:t>
                </a:r>
                <a:r>
                  <a:rPr lang="en-US" dirty="0"/>
                  <a:t> in HDC1 compared to GF, then flux will be </a:t>
                </a:r>
                <a:r>
                  <a:rPr lang="en-US" i="1" dirty="0"/>
                  <a:t>positive</a:t>
                </a:r>
                <a:r>
                  <a:rPr lang="en-US" dirty="0"/>
                  <a:t>:</a:t>
                </a:r>
              </a:p>
              <a:p>
                <a:pPr marL="0" indent="0">
                  <a:buNone/>
                </a:pPr>
                <a:r>
                  <a:rPr lang="en-US" dirty="0"/>
                  <a:t>	</a:t>
                </a:r>
                <a14:m>
                  <m:oMath xmlns:m="http://schemas.openxmlformats.org/officeDocument/2006/math">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nary>
                  </m:oMath>
                </a14:m>
                <a:r>
                  <a:rPr lang="en-US" dirty="0"/>
                  <a:t> &gt; 0</a:t>
                </a:r>
              </a:p>
              <a:p>
                <a:pPr marL="0" indent="0">
                  <a:buNone/>
                </a:pPr>
                <a:r>
                  <a:rPr lang="en-US" dirty="0"/>
                  <a:t>(b) A metabolite is being </a:t>
                </a:r>
                <a:r>
                  <a:rPr lang="en-US" i="1" dirty="0"/>
                  <a:t>consumed</a:t>
                </a:r>
                <a:r>
                  <a:rPr lang="en-US" dirty="0"/>
                  <a:t> in HDC1 compared to GF, then flux will be </a:t>
                </a:r>
                <a:r>
                  <a:rPr lang="en-US" i="1" dirty="0"/>
                  <a:t>negative</a:t>
                </a:r>
                <a:r>
                  <a:rPr lang="en-US" dirty="0"/>
                  <a:t>:</a:t>
                </a:r>
              </a:p>
              <a:p>
                <a:pPr marL="0" indent="0">
                  <a:buNone/>
                </a:pPr>
                <a:r>
                  <a:rPr lang="en-US" dirty="0"/>
                  <a:t>	</a:t>
                </a:r>
                <a14:m>
                  <m:oMath xmlns:m="http://schemas.openxmlformats.org/officeDocument/2006/math">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nary>
                  </m:oMath>
                </a14:m>
                <a:r>
                  <a:rPr lang="en-US" dirty="0"/>
                  <a:t> &lt; 0</a:t>
                </a:r>
              </a:p>
            </p:txBody>
          </p:sp>
        </mc:Choice>
        <mc:Fallback xmlns="">
          <p:sp>
            <p:nvSpPr>
              <p:cNvPr id="3" name="Content Placeholder 2">
                <a:extLst>
                  <a:ext uri="{FF2B5EF4-FFF2-40B4-BE49-F238E27FC236}">
                    <a16:creationId xmlns:a16="http://schemas.microsoft.com/office/drawing/2014/main" id="{703A7606-2162-46F7-94B4-5C4DF2E07E92}"/>
                  </a:ext>
                </a:extLst>
              </p:cNvPr>
              <p:cNvSpPr>
                <a:spLocks noGrp="1" noRot="1" noChangeAspect="1" noMove="1" noResize="1" noEditPoints="1" noAdjustHandles="1" noChangeArrowheads="1" noChangeShapeType="1" noTextEdit="1"/>
              </p:cNvSpPr>
              <p:nvPr>
                <p:ph idx="1"/>
              </p:nvPr>
            </p:nvSpPr>
            <p:spPr>
              <a:xfrm>
                <a:off x="272590" y="1424318"/>
                <a:ext cx="9354671" cy="5175063"/>
              </a:xfrm>
              <a:blipFill>
                <a:blip r:embed="rId2"/>
                <a:stretch>
                  <a:fillRect l="-3935" t="-10539" b="-12745"/>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E76FB303-064C-4E1A-8735-0EB3AA7A3C3D}"/>
              </a:ext>
            </a:extLst>
          </p:cNvPr>
          <p:cNvPicPr>
            <a:picLocks noChangeAspect="1"/>
          </p:cNvPicPr>
          <p:nvPr/>
        </p:nvPicPr>
        <p:blipFill>
          <a:blip r:embed="rId3"/>
          <a:stretch>
            <a:fillRect/>
          </a:stretch>
        </p:blipFill>
        <p:spPr>
          <a:xfrm>
            <a:off x="7231687" y="167061"/>
            <a:ext cx="4791147" cy="1642127"/>
          </a:xfrm>
          <a:prstGeom prst="rect">
            <a:avLst/>
          </a:prstGeom>
        </p:spPr>
      </p:pic>
      <p:sp>
        <p:nvSpPr>
          <p:cNvPr id="5" name="TextBox 4">
            <a:extLst>
              <a:ext uri="{FF2B5EF4-FFF2-40B4-BE49-F238E27FC236}">
                <a16:creationId xmlns:a16="http://schemas.microsoft.com/office/drawing/2014/main" id="{EB7E607E-2650-4CDC-97BC-15C5E610D271}"/>
              </a:ext>
            </a:extLst>
          </p:cNvPr>
          <p:cNvSpPr txBox="1"/>
          <p:nvPr/>
        </p:nvSpPr>
        <p:spPr>
          <a:xfrm>
            <a:off x="9366007" y="2043767"/>
            <a:ext cx="2418804" cy="369332"/>
          </a:xfrm>
          <a:prstGeom prst="rect">
            <a:avLst/>
          </a:prstGeom>
          <a:noFill/>
        </p:spPr>
        <p:txBody>
          <a:bodyPr wrap="none" rtlCol="0">
            <a:spAutoFit/>
          </a:bodyPr>
          <a:lstStyle/>
          <a:p>
            <a:r>
              <a:rPr lang="en-US" i="1" dirty="0"/>
              <a:t>Created with </a:t>
            </a:r>
            <a:r>
              <a:rPr lang="en-US" i="1" dirty="0" err="1"/>
              <a:t>BioRender</a:t>
            </a:r>
            <a:endParaRPr lang="en-US" i="1" dirty="0"/>
          </a:p>
        </p:txBody>
      </p:sp>
    </p:spTree>
    <p:extLst>
      <p:ext uri="{BB962C8B-B14F-4D97-AF65-F5344CB8AC3E}">
        <p14:creationId xmlns:p14="http://schemas.microsoft.com/office/powerpoint/2010/main" val="227347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B9D30-370F-693F-D984-D4D676D58909}"/>
              </a:ext>
            </a:extLst>
          </p:cNvPr>
          <p:cNvSpPr>
            <a:spLocks noGrp="1"/>
          </p:cNvSpPr>
          <p:nvPr>
            <p:ph type="title"/>
          </p:nvPr>
        </p:nvSpPr>
        <p:spPr>
          <a:xfrm>
            <a:off x="677718" y="318944"/>
            <a:ext cx="10836564" cy="1012316"/>
          </a:xfrm>
        </p:spPr>
        <p:txBody>
          <a:bodyPr/>
          <a:lstStyle/>
          <a:p>
            <a:r>
              <a:rPr lang="en-US">
                <a:solidFill>
                  <a:schemeClr val="bg1">
                    <a:lumMod val="65000"/>
                  </a:schemeClr>
                </a:solidFill>
              </a:rPr>
              <a:t>Modelling framework (derivation of eqn. 1)</a:t>
            </a:r>
            <a:endParaRPr lang="en-US" b="1">
              <a:solidFill>
                <a:schemeClr val="bg1">
                  <a:lumMod val="65000"/>
                </a:schemeClr>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B3CCC8-108C-E9A4-3BF9-9DDA808BC09C}"/>
                  </a:ext>
                </a:extLst>
              </p:cNvPr>
              <p:cNvSpPr>
                <a:spLocks noGrp="1"/>
              </p:cNvSpPr>
              <p:nvPr>
                <p:ph idx="1"/>
              </p:nvPr>
            </p:nvSpPr>
            <p:spPr>
              <a:xfrm>
                <a:off x="677718" y="1644506"/>
                <a:ext cx="10836564" cy="4713432"/>
              </a:xfrm>
            </p:spPr>
            <p:txBody>
              <a:bodyPr>
                <a:normAutofit fontScale="77500" lnSpcReduction="20000"/>
              </a:bodyPr>
              <a:lstStyle/>
              <a:p>
                <a:pPr marL="0" indent="0">
                  <a:buNone/>
                </a:pPr>
                <a:r>
                  <a:rPr lang="en-US" err="1"/>
                  <a:t>q</a:t>
                </a:r>
                <a:r>
                  <a:rPr lang="en-US" baseline="-25000" err="1"/>
                  <a:t>s</a:t>
                </a:r>
                <a:r>
                  <a:rPr lang="en-US"/>
                  <a:t>= </a:t>
                </a:r>
                <a14:m>
                  <m:oMath xmlns:m="http://schemas.openxmlformats.org/officeDocument/2006/math">
                    <m:f>
                      <m:fPr>
                        <m:ctrlPr>
                          <a:rPr lang="en-US" i="1" smtClean="0">
                            <a:latin typeface="Cambria Math" panose="02040503050406030204" pitchFamily="18" charset="0"/>
                          </a:rPr>
                        </m:ctrlPr>
                      </m:fPr>
                      <m:num>
                        <m:r>
                          <a:rPr lang="en-CA" b="0" i="1" smtClean="0">
                            <a:latin typeface="Cambria Math" panose="02040503050406030204" pitchFamily="18" charset="0"/>
                          </a:rPr>
                          <m:t>(</m:t>
                        </m:r>
                        <m:r>
                          <a:rPr lang="en-CA" b="0" i="1" smtClean="0">
                            <a:latin typeface="Cambria Math" panose="02040503050406030204" pitchFamily="18" charset="0"/>
                          </a:rPr>
                          <m:t>𝑠</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𝑜</m:t>
                            </m:r>
                          </m:sub>
                        </m:sSub>
                        <m:r>
                          <a:rPr lang="en-CA" b="0" i="1" smtClean="0">
                            <a:latin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𝜇</m:t>
                        </m:r>
                      </m:num>
                      <m:den>
                        <m:sSub>
                          <m:sSubPr>
                            <m:ctrlPr>
                              <a:rPr lang="en-US" i="1" smtClean="0">
                                <a:latin typeface="Cambria Math" panose="02040503050406030204" pitchFamily="18" charset="0"/>
                              </a:rPr>
                            </m:ctrlPr>
                          </m:sSubPr>
                          <m:e>
                            <m:r>
                              <a:rPr lang="en-CA" b="0" i="1" smtClean="0">
                                <a:latin typeface="Cambria Math" panose="02040503050406030204" pitchFamily="18" charset="0"/>
                              </a:rPr>
                              <m:t>𝑥</m:t>
                            </m:r>
                          </m:e>
                          <m:sub>
                            <m:r>
                              <a:rPr lang="en-CA" b="0" i="1" smtClean="0">
                                <a:latin typeface="Cambria Math" panose="02040503050406030204" pitchFamily="18" charset="0"/>
                              </a:rPr>
                              <m:t>𝑜</m:t>
                            </m:r>
                          </m:sub>
                        </m:sSub>
                        <m:r>
                          <a:rPr lang="en-CA" b="0" i="1" smtClean="0">
                            <a:latin typeface="Cambria Math" panose="02040503050406030204" pitchFamily="18" charset="0"/>
                          </a:rPr>
                          <m:t>[</m:t>
                        </m:r>
                        <m:sSup>
                          <m:sSupPr>
                            <m:ctrlPr>
                              <a:rPr lang="en-CA" b="0" i="1" smtClean="0">
                                <a:latin typeface="Cambria Math" panose="02040503050406030204" pitchFamily="18" charset="0"/>
                              </a:rPr>
                            </m:ctrlPr>
                          </m:sSupPr>
                          <m:e>
                            <m:r>
                              <a:rPr lang="en-CA" b="0" i="1" smtClean="0">
                                <a:latin typeface="Cambria Math" panose="02040503050406030204" pitchFamily="18" charset="0"/>
                              </a:rPr>
                              <m:t>𝑒</m:t>
                            </m:r>
                          </m:e>
                          <m:sup>
                            <m:r>
                              <a:rPr lang="en-CA" b="0" i="1" smtClean="0">
                                <a:latin typeface="Cambria Math" panose="02040503050406030204" pitchFamily="18" charset="0"/>
                                <a:ea typeface="Cambria Math" panose="02040503050406030204" pitchFamily="18" charset="0"/>
                              </a:rPr>
                              <m:t>𝜇</m:t>
                            </m:r>
                            <m:r>
                              <a:rPr lang="en-CA" b="0" i="1" smtClean="0">
                                <a:latin typeface="Cambria Math" panose="02040503050406030204" pitchFamily="18" charset="0"/>
                                <a:ea typeface="Cambria Math" panose="02040503050406030204" pitchFamily="18" charset="0"/>
                              </a:rPr>
                              <m:t>𝑡</m:t>
                            </m:r>
                          </m:sup>
                        </m:sSup>
                        <m:r>
                          <a:rPr lang="en-CA" b="0" i="1" smtClean="0">
                            <a:latin typeface="Cambria Math" panose="02040503050406030204" pitchFamily="18" charset="0"/>
                          </a:rPr>
                          <m:t>−1]</m:t>
                        </m:r>
                      </m:den>
                    </m:f>
                  </m:oMath>
                </a14:m>
                <a:r>
                  <a:rPr lang="en-US"/>
                  <a:t> </a:t>
                </a:r>
                <a:r>
                  <a:rPr lang="en-US" b="1"/>
                  <a:t>(2)</a:t>
                </a:r>
              </a:p>
              <a:p>
                <a:pPr marL="0" indent="0">
                  <a:buNone/>
                </a:pPr>
                <a:endParaRPr lang="en-US" sz="2400"/>
              </a:p>
              <a:p>
                <a:pPr marL="0" indent="0">
                  <a:buNone/>
                </a:pPr>
                <a:r>
                  <a:rPr lang="en-US" sz="2400" err="1"/>
                  <a:t>q</a:t>
                </a:r>
                <a:r>
                  <a:rPr lang="en-US" sz="2400" baseline="-25000" err="1"/>
                  <a:t>s</a:t>
                </a:r>
                <a:r>
                  <a:rPr lang="en-US" sz="2400"/>
                  <a:t> = flux (mmol per </a:t>
                </a:r>
                <a:r>
                  <a:rPr lang="en-US" sz="2400" err="1"/>
                  <a:t>gDW</a:t>
                </a:r>
                <a:r>
                  <a:rPr lang="en-US" sz="2400"/>
                  <a:t> per hr)</a:t>
                </a:r>
              </a:p>
              <a:p>
                <a:pPr marL="0" indent="0">
                  <a:buNone/>
                </a:pPr>
                <a:r>
                  <a:rPr lang="en-US" sz="2400"/>
                  <a:t>s = final metabolite concentration</a:t>
                </a:r>
              </a:p>
              <a:p>
                <a:pPr marL="0" indent="0">
                  <a:buNone/>
                </a:pPr>
                <a:r>
                  <a:rPr lang="en-US" sz="2400"/>
                  <a:t>s</a:t>
                </a:r>
                <a:r>
                  <a:rPr lang="en-US" sz="2400" baseline="-25000"/>
                  <a:t>o </a:t>
                </a:r>
                <a:r>
                  <a:rPr lang="en-US" sz="2400"/>
                  <a:t>= initial metabolite concentration</a:t>
                </a:r>
              </a:p>
              <a:p>
                <a:pPr marL="0" indent="0">
                  <a:buNone/>
                </a:pPr>
                <a:r>
                  <a:rPr lang="en-US" sz="2400" err="1"/>
                  <a:t>μ</a:t>
                </a:r>
                <a:r>
                  <a:rPr lang="en-US" sz="2400"/>
                  <a:t> = growth rate of cells</a:t>
                </a:r>
              </a:p>
              <a:p>
                <a:pPr marL="0" indent="0">
                  <a:buNone/>
                </a:pPr>
                <a:r>
                  <a:rPr lang="en-US" sz="2400"/>
                  <a:t>x</a:t>
                </a:r>
                <a:r>
                  <a:rPr lang="en-US" sz="2400" baseline="-25000"/>
                  <a:t>o </a:t>
                </a:r>
                <a:r>
                  <a:rPr lang="en-US" sz="2400"/>
                  <a:t>= abundance of bacteria</a:t>
                </a:r>
              </a:p>
              <a:p>
                <a:pPr marL="0" indent="0">
                  <a:buNone/>
                </a:pPr>
                <a:r>
                  <a:rPr lang="en-US" sz="2400"/>
                  <a:t>t = time needed to reach steady state</a:t>
                </a:r>
              </a:p>
              <a:p>
                <a:pPr marL="0" indent="0">
                  <a:buNone/>
                </a:pPr>
                <a:endParaRPr lang="en-US" sz="2400"/>
              </a:p>
              <a:p>
                <a:pPr marL="0" indent="0">
                  <a:buNone/>
                </a:pPr>
                <a:r>
                  <a:rPr lang="en-US" sz="2400" b="1"/>
                  <a:t>(2) </a:t>
                </a:r>
                <a:r>
                  <a:rPr lang="en-US" sz="2400"/>
                  <a:t>is not the best option for static community modelling in the gut for the following reasons:</a:t>
                </a:r>
              </a:p>
              <a:p>
                <a:r>
                  <a:rPr lang="en-US" sz="2400"/>
                  <a:t>It is difficult to determine time needed to reach steady state (t) for individual bacteria in the environment of the gut.</a:t>
                </a:r>
              </a:p>
              <a:p>
                <a:r>
                  <a:rPr lang="en-US" sz="2400"/>
                  <a:t>It is difficult to determine the growth rate of cells (µ) for individual bacteria in the environment of the gut.</a:t>
                </a:r>
              </a:p>
              <a:p>
                <a:r>
                  <a:rPr lang="en-US" sz="2400"/>
                  <a:t>We are modelling a community and not mono-culture/mono-colonization in the gut.</a:t>
                </a:r>
              </a:p>
            </p:txBody>
          </p:sp>
        </mc:Choice>
        <mc:Fallback xmlns="">
          <p:sp>
            <p:nvSpPr>
              <p:cNvPr id="3" name="Content Placeholder 2">
                <a:extLst>
                  <a:ext uri="{FF2B5EF4-FFF2-40B4-BE49-F238E27FC236}">
                    <a16:creationId xmlns:a16="http://schemas.microsoft.com/office/drawing/2014/main" id="{8DB3CCC8-108C-E9A4-3BF9-9DDA808BC09C}"/>
                  </a:ext>
                </a:extLst>
              </p:cNvPr>
              <p:cNvSpPr>
                <a:spLocks noGrp="1" noRot="1" noChangeAspect="1" noMove="1" noResize="1" noEditPoints="1" noAdjustHandles="1" noChangeArrowheads="1" noChangeShapeType="1" noTextEdit="1"/>
              </p:cNvSpPr>
              <p:nvPr>
                <p:ph idx="1"/>
              </p:nvPr>
            </p:nvSpPr>
            <p:spPr>
              <a:xfrm>
                <a:off x="677718" y="1644506"/>
                <a:ext cx="10836564" cy="4713432"/>
              </a:xfrm>
              <a:blipFill>
                <a:blip r:embed="rId3"/>
                <a:stretch>
                  <a:fillRect l="-731" t="-1682" b="-647"/>
                </a:stretch>
              </a:blipFill>
            </p:spPr>
            <p:txBody>
              <a:bodyPr/>
              <a:lstStyle/>
              <a:p>
                <a:r>
                  <a:rPr lang="en-US">
                    <a:noFill/>
                  </a:rPr>
                  <a:t> </a:t>
                </a:r>
              </a:p>
            </p:txBody>
          </p:sp>
        </mc:Fallback>
      </mc:AlternateContent>
    </p:spTree>
    <p:extLst>
      <p:ext uri="{BB962C8B-B14F-4D97-AF65-F5344CB8AC3E}">
        <p14:creationId xmlns:p14="http://schemas.microsoft.com/office/powerpoint/2010/main" val="3037906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CB154-499A-4168-8C5F-B316990D74C5}"/>
              </a:ext>
            </a:extLst>
          </p:cNvPr>
          <p:cNvSpPr>
            <a:spLocks noGrp="1"/>
          </p:cNvSpPr>
          <p:nvPr>
            <p:ph type="title"/>
          </p:nvPr>
        </p:nvSpPr>
        <p:spPr>
          <a:xfrm>
            <a:off x="313764" y="123078"/>
            <a:ext cx="10515600" cy="979581"/>
          </a:xfrm>
        </p:spPr>
        <p:txBody>
          <a:bodyPr/>
          <a:lstStyle/>
          <a:p>
            <a:r>
              <a:rPr lang="en-US">
                <a:solidFill>
                  <a:schemeClr val="bg1">
                    <a:lumMod val="65000"/>
                  </a:schemeClr>
                </a:solidFill>
              </a:rPr>
              <a:t>Modelling framework (derivation of eqn.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1EB25C-38C4-430F-835E-B6A65057DEDD}"/>
                  </a:ext>
                </a:extLst>
              </p:cNvPr>
              <p:cNvSpPr>
                <a:spLocks noGrp="1"/>
              </p:cNvSpPr>
              <p:nvPr>
                <p:ph idx="1"/>
              </p:nvPr>
            </p:nvSpPr>
            <p:spPr>
              <a:xfrm>
                <a:off x="535641" y="1089212"/>
                <a:ext cx="11120718" cy="5499847"/>
              </a:xfrm>
            </p:spPr>
            <p:txBody>
              <a:bodyPr>
                <a:normAutofit fontScale="62500" lnSpcReduction="20000"/>
              </a:bodyPr>
              <a:lstStyle/>
              <a:p>
                <a:pPr marL="0" indent="0">
                  <a:buNone/>
                </a:pPr>
                <a:r>
                  <a:rPr lang="en-US"/>
                  <a:t>Instead…</a:t>
                </a:r>
              </a:p>
              <a:p>
                <a:pPr marL="0" indent="0">
                  <a:buNone/>
                </a:pPr>
                <a:r>
                  <a:rPr lang="en-US"/>
                  <a:t>q</a:t>
                </a:r>
                <a:r>
                  <a:rPr lang="en-US" baseline="-25000" err="1"/>
                  <a:t>s</a:t>
                </a:r>
                <a:r>
                  <a:rPr lang="en-US"/>
                  <a:t>= </a:t>
                </a:r>
                <a14:m>
                  <m:oMath xmlns:m="http://schemas.openxmlformats.org/officeDocument/2006/math">
                    <m:f>
                      <m:fPr>
                        <m:ctrlPr>
                          <a:rPr lang="en-US" i="1" smtClean="0">
                            <a:latin typeface="Cambria Math" panose="02040503050406030204" pitchFamily="18" charset="0"/>
                          </a:rPr>
                        </m:ctrlPr>
                      </m:fPr>
                      <m:num>
                        <m:r>
                          <a:rPr lang="en-CA" b="0" i="1" smtClean="0">
                            <a:latin typeface="Cambria Math" panose="02040503050406030204" pitchFamily="18" charset="0"/>
                          </a:rPr>
                          <m:t>(</m:t>
                        </m:r>
                        <m:r>
                          <a:rPr lang="en-CA" b="0" i="1" smtClean="0">
                            <a:latin typeface="Cambria Math" panose="02040503050406030204" pitchFamily="18" charset="0"/>
                          </a:rPr>
                          <m:t>𝑠</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𝑜</m:t>
                            </m:r>
                          </m:sub>
                        </m:sSub>
                        <m:r>
                          <a:rPr lang="en-CA" b="0" i="1" smtClean="0">
                            <a:latin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𝜇</m:t>
                        </m:r>
                      </m:num>
                      <m:den>
                        <m:sSub>
                          <m:sSubPr>
                            <m:ctrlPr>
                              <a:rPr lang="en-US" i="1" smtClean="0">
                                <a:latin typeface="Cambria Math" panose="02040503050406030204" pitchFamily="18" charset="0"/>
                              </a:rPr>
                            </m:ctrlPr>
                          </m:sSubPr>
                          <m:e>
                            <m:r>
                              <a:rPr lang="en-CA" b="0" i="1" smtClean="0">
                                <a:latin typeface="Cambria Math" panose="02040503050406030204" pitchFamily="18" charset="0"/>
                              </a:rPr>
                              <m:t>𝑥</m:t>
                            </m:r>
                          </m:e>
                          <m:sub>
                            <m:r>
                              <a:rPr lang="en-US" b="0" i="1" smtClean="0">
                                <a:latin typeface="Cambria Math" panose="02040503050406030204" pitchFamily="18" charset="0"/>
                              </a:rPr>
                              <m:t>𝑓</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𝑜</m:t>
                            </m:r>
                          </m:sub>
                        </m:sSub>
                      </m:den>
                    </m:f>
                  </m:oMath>
                </a14:m>
                <a:r>
                  <a:rPr lang="en-US"/>
                  <a:t> </a:t>
                </a:r>
                <a:r>
                  <a:rPr lang="en-US" b="1"/>
                  <a:t>(3)</a:t>
                </a:r>
              </a:p>
              <a:p>
                <a:pPr marL="0" indent="0">
                  <a:buNone/>
                </a:pPr>
                <a:r>
                  <a:rPr lang="en-US"/>
                  <a:t>where,</a:t>
                </a:r>
              </a:p>
              <a:p>
                <a:pPr marL="0" indent="0">
                  <a:buNone/>
                </a:pP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𝑥</m:t>
                        </m:r>
                      </m:e>
                      <m:sub>
                        <m:r>
                          <a:rPr lang="en-US" b="0" i="1" smtClean="0">
                            <a:latin typeface="Cambria Math" panose="02040503050406030204" pitchFamily="18" charset="0"/>
                          </a:rPr>
                          <m:t>𝑓</m:t>
                        </m:r>
                      </m:sub>
                    </m:sSub>
                  </m:oMath>
                </a14:m>
                <a:r>
                  <a:rPr lang="en-US"/>
                  <a:t> = final abundance of bacteria (aka abundance of bacteria in HDC1 poop)</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𝑜</m:t>
                        </m:r>
                      </m:sub>
                    </m:sSub>
                  </m:oMath>
                </a14:m>
                <a:r>
                  <a:rPr lang="en-US"/>
                  <a:t> = initial abundance of bacteria (aka abundance of bacteria in GF poop) which should be zero, therefore…</a:t>
                </a:r>
              </a:p>
              <a:p>
                <a:pPr marL="0" indent="0">
                  <a:buNone/>
                </a:pPr>
                <a:endParaRPr lang="en-US"/>
              </a:p>
              <a:p>
                <a:pPr marL="0" indent="0">
                  <a:buNone/>
                </a:pPr>
                <a:r>
                  <a:rPr lang="en-US"/>
                  <a:t>q</a:t>
                </a:r>
                <a:r>
                  <a:rPr lang="en-US" baseline="-25000" err="1"/>
                  <a:t>s</a:t>
                </a:r>
                <a:r>
                  <a:rPr lang="en-US"/>
                  <a:t>= </a:t>
                </a:r>
                <a14:m>
                  <m:oMath xmlns:m="http://schemas.openxmlformats.org/officeDocument/2006/math">
                    <m:f>
                      <m:fPr>
                        <m:ctrlPr>
                          <a:rPr lang="en-US" i="1" smtClean="0">
                            <a:latin typeface="Cambria Math" panose="02040503050406030204" pitchFamily="18" charset="0"/>
                          </a:rPr>
                        </m:ctrlPr>
                      </m:fPr>
                      <m:num>
                        <m:r>
                          <a:rPr lang="en-CA" b="0" i="1" smtClean="0">
                            <a:latin typeface="Cambria Math" panose="02040503050406030204" pitchFamily="18" charset="0"/>
                          </a:rPr>
                          <m:t>(</m:t>
                        </m:r>
                        <m:r>
                          <a:rPr lang="en-CA" b="0" i="1" smtClean="0">
                            <a:latin typeface="Cambria Math" panose="02040503050406030204" pitchFamily="18" charset="0"/>
                          </a:rPr>
                          <m:t>𝑠</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𝑜</m:t>
                            </m:r>
                          </m:sub>
                        </m:sSub>
                        <m:r>
                          <a:rPr lang="en-CA" b="0" i="1" smtClean="0">
                            <a:latin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𝜇</m:t>
                        </m:r>
                      </m:num>
                      <m:den>
                        <m:sSub>
                          <m:sSubPr>
                            <m:ctrlPr>
                              <a:rPr lang="en-US" i="1" smtClean="0">
                                <a:latin typeface="Cambria Math" panose="02040503050406030204" pitchFamily="18" charset="0"/>
                              </a:rPr>
                            </m:ctrlPr>
                          </m:sSubPr>
                          <m:e>
                            <m:r>
                              <a:rPr lang="en-CA" b="0" i="1" smtClean="0">
                                <a:latin typeface="Cambria Math" panose="02040503050406030204" pitchFamily="18" charset="0"/>
                              </a:rPr>
                              <m:t>𝑥</m:t>
                            </m:r>
                          </m:e>
                          <m:sub>
                            <m:r>
                              <a:rPr lang="en-US" b="0" i="1" smtClean="0">
                                <a:latin typeface="Cambria Math" panose="02040503050406030204" pitchFamily="18" charset="0"/>
                              </a:rPr>
                              <m:t>𝑓</m:t>
                            </m:r>
                          </m:sub>
                        </m:sSub>
                      </m:den>
                    </m:f>
                  </m:oMath>
                </a14:m>
                <a:endParaRPr lang="en-US" b="1"/>
              </a:p>
              <a:p>
                <a:pPr marL="0" indent="0">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𝑠</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𝑓</m:t>
                        </m:r>
                      </m:sub>
                    </m:sSub>
                    <m:r>
                      <a:rPr lang="en-US" b="0" i="1" smtClean="0">
                        <a:latin typeface="Cambria Math" panose="02040503050406030204" pitchFamily="18" charset="0"/>
                      </a:rPr>
                      <m:t>=</m:t>
                    </m:r>
                    <m:r>
                      <a:rPr lang="en-CA" b="0" i="1" smtClean="0">
                        <a:latin typeface="Cambria Math" panose="02040503050406030204" pitchFamily="18" charset="0"/>
                      </a:rPr>
                      <m:t>(</m:t>
                    </m:r>
                    <m:r>
                      <a:rPr lang="en-CA" b="0" i="1" smtClean="0">
                        <a:latin typeface="Cambria Math" panose="02040503050406030204" pitchFamily="18" charset="0"/>
                      </a:rPr>
                      <m:t>𝑠</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𝑜</m:t>
                        </m:r>
                      </m:sub>
                    </m:sSub>
                    <m:r>
                      <a:rPr lang="en-CA" b="0" i="1" smtClean="0">
                        <a:latin typeface="Cambria Math" panose="02040503050406030204" pitchFamily="18" charset="0"/>
                      </a:rPr>
                      <m:t>)</m:t>
                    </m:r>
                    <m:r>
                      <a:rPr lang="en-CA" b="0" i="1" smtClean="0">
                        <a:latin typeface="Cambria Math" panose="02040503050406030204" pitchFamily="18" charset="0"/>
                        <a:ea typeface="Cambria Math" panose="02040503050406030204" pitchFamily="18" charset="0"/>
                      </a:rPr>
                      <m:t>𝜇</m:t>
                    </m:r>
                  </m:oMath>
                </a14:m>
                <a:r>
                  <a:rPr lang="en-US" b="1"/>
                  <a:t> (4)</a:t>
                </a:r>
              </a:p>
              <a:p>
                <a:pPr marL="0" indent="0">
                  <a:buNone/>
                </a:pPr>
                <a:r>
                  <a:rPr lang="en-US"/>
                  <a:t>where,</a:t>
                </a:r>
              </a:p>
              <a:p>
                <a:pPr marL="0" indent="0">
                  <a:buNone/>
                </a:pPr>
                <a:r>
                  <a:rPr lang="en-US" sz="2800" err="1"/>
                  <a:t>q</a:t>
                </a:r>
                <a:r>
                  <a:rPr lang="en-US" sz="2800" baseline="-25000" err="1"/>
                  <a:t>s</a:t>
                </a:r>
                <a:r>
                  <a:rPr lang="en-US" sz="2800"/>
                  <a:t> = flux (unit: mmol/</a:t>
                </a:r>
                <a:r>
                  <a:rPr lang="en-US" sz="2800" err="1"/>
                  <a:t>gDW</a:t>
                </a:r>
                <a:r>
                  <a:rPr lang="en-US"/>
                  <a:t>/</a:t>
                </a:r>
                <a:r>
                  <a:rPr lang="en-US" sz="2800"/>
                  <a:t>hr)</a:t>
                </a:r>
              </a:p>
              <a:p>
                <a:pPr marL="0" indent="0">
                  <a:buNone/>
                </a:pP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𝑥</m:t>
                        </m:r>
                      </m:e>
                      <m:sub>
                        <m:r>
                          <a:rPr lang="en-US" b="0" i="1" smtClean="0">
                            <a:latin typeface="Cambria Math" panose="02040503050406030204" pitchFamily="18" charset="0"/>
                          </a:rPr>
                          <m:t>𝑓</m:t>
                        </m:r>
                      </m:sub>
                    </m:sSub>
                  </m:oMath>
                </a14:m>
                <a:r>
                  <a:rPr lang="en-US"/>
                  <a:t> = final abundance of bacteria (aka abundance of bacteria in HDC1 poop) (unit: gdW/L)</a:t>
                </a:r>
              </a:p>
              <a:p>
                <a:pPr marL="0" indent="0">
                  <a:buNone/>
                </a:pPr>
                <a:r>
                  <a:rPr lang="en-US" sz="2800"/>
                  <a:t>s = final metabolite concentration (unit: mmol/L)</a:t>
                </a:r>
              </a:p>
              <a:p>
                <a:pPr marL="0" indent="0">
                  <a:buNone/>
                </a:pPr>
                <a:r>
                  <a:rPr lang="en-US" sz="2800"/>
                  <a:t>s</a:t>
                </a:r>
                <a:r>
                  <a:rPr lang="en-US" sz="2800" baseline="-25000"/>
                  <a:t>o </a:t>
                </a:r>
                <a:r>
                  <a:rPr lang="en-US" sz="2800"/>
                  <a:t>= initial metabolite concentration (unit: mmol/L)</a:t>
                </a:r>
              </a:p>
              <a:p>
                <a:pPr marL="0" indent="0">
                  <a:buNone/>
                </a:pPr>
                <a:r>
                  <a:rPr lang="en-US" sz="2800"/>
                  <a:t>µ = </a:t>
                </a:r>
                <a:r>
                  <a:rPr lang="en-US"/>
                  <a:t>growth rate of cells = dilution rate = </a:t>
                </a:r>
                <a14:m>
                  <m:oMath xmlns:m="http://schemas.openxmlformats.org/officeDocument/2006/math">
                    <m:r>
                      <a:rPr lang="en-US" b="0" i="1" smtClean="0">
                        <a:latin typeface="Cambria Math" panose="02040503050406030204" pitchFamily="18" charset="0"/>
                        <a:ea typeface="Cambria Math" panose="02040503050406030204" pitchFamily="18" charset="0"/>
                      </a:rPr>
                      <m:t>𝐷</m:t>
                    </m:r>
                    <m:r>
                      <a:rPr lang="en-US" b="0" i="1" smtClean="0">
                        <a:latin typeface="Cambria Math" panose="02040503050406030204" pitchFamily="18" charset="0"/>
                        <a:ea typeface="Cambria Math" panose="02040503050406030204" pitchFamily="18" charset="0"/>
                      </a:rPr>
                      <m:t>= </m:t>
                    </m:r>
                    <m:f>
                      <m:fPr>
                        <m:ctrlPr>
                          <a:rPr lang="en-US" i="1" smtClean="0">
                            <a:latin typeface="Cambria Math" panose="02040503050406030204" pitchFamily="18" charset="0"/>
                            <a:ea typeface="Cambria Math" panose="02040503050406030204" pitchFamily="18" charset="0"/>
                          </a:rPr>
                        </m:ctrlPr>
                      </m:fPr>
                      <m:num>
                        <m:acc>
                          <m:accPr>
                            <m:chr m:val="̅"/>
                            <m:ctrlPr>
                              <a:rPr lang="en-US"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𝑣</m:t>
                            </m:r>
                          </m:e>
                        </m:acc>
                      </m:num>
                      <m:den>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𝑐</m:t>
                            </m:r>
                          </m:sub>
                        </m:sSub>
                      </m:den>
                    </m:f>
                  </m:oMath>
                </a14:m>
                <a:r>
                  <a:rPr lang="en-US"/>
                  <a:t> </a:t>
                </a:r>
                <a:r>
                  <a:rPr lang="en-US" b="1"/>
                  <a:t>(5) </a:t>
                </a:r>
                <a:r>
                  <a:rPr lang="en-US"/>
                  <a:t>(unit: 1/hr)</a:t>
                </a:r>
              </a:p>
              <a:p>
                <a:pPr marL="0" indent="0">
                  <a:buNone/>
                </a:pPr>
                <a:r>
                  <a:rPr lang="en-US" b="1"/>
                  <a:t>	Therefore, unit of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𝑠</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𝑓</m:t>
                        </m:r>
                      </m:sub>
                    </m:sSub>
                  </m:oMath>
                </a14:m>
                <a:r>
                  <a:rPr lang="en-US" b="1"/>
                  <a:t> is mmol/L/hr.</a:t>
                </a:r>
              </a:p>
              <a:p>
                <a:pPr marL="0" indent="0">
                  <a:buNone/>
                </a:pPr>
                <a:endParaRPr lang="en-US" b="1"/>
              </a:p>
              <a:p>
                <a:pPr marL="0" indent="0">
                  <a:buNone/>
                </a:pPr>
                <a:endParaRPr lang="en-US" sz="2800"/>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b="1"/>
              </a:p>
              <a:p>
                <a:pPr marL="0" indent="0">
                  <a:buNone/>
                </a:pPr>
                <a:endParaRPr lang="en-US"/>
              </a:p>
              <a:p>
                <a:pPr marL="0" indent="0">
                  <a:buNone/>
                </a:pPr>
                <a:endParaRPr lang="en-US"/>
              </a:p>
              <a:p>
                <a:pPr marL="0" indent="0">
                  <a:buNone/>
                </a:pPr>
                <a:endParaRPr lang="en-US"/>
              </a:p>
            </p:txBody>
          </p:sp>
        </mc:Choice>
        <mc:Fallback xmlns="">
          <p:sp>
            <p:nvSpPr>
              <p:cNvPr id="3" name="Content Placeholder 2">
                <a:extLst>
                  <a:ext uri="{FF2B5EF4-FFF2-40B4-BE49-F238E27FC236}">
                    <a16:creationId xmlns:a16="http://schemas.microsoft.com/office/drawing/2014/main" id="{3A1EB25C-38C4-430F-835E-B6A65057DEDD}"/>
                  </a:ext>
                </a:extLst>
              </p:cNvPr>
              <p:cNvSpPr>
                <a:spLocks noGrp="1" noRot="1" noChangeAspect="1" noMove="1" noResize="1" noEditPoints="1" noAdjustHandles="1" noChangeArrowheads="1" noChangeShapeType="1" noTextEdit="1"/>
              </p:cNvSpPr>
              <p:nvPr>
                <p:ph idx="1"/>
              </p:nvPr>
            </p:nvSpPr>
            <p:spPr>
              <a:xfrm>
                <a:off x="535641" y="1089212"/>
                <a:ext cx="11120718" cy="5499847"/>
              </a:xfrm>
              <a:blipFill>
                <a:blip r:embed="rId2"/>
                <a:stretch>
                  <a:fillRect l="-493" t="-1885"/>
                </a:stretch>
              </a:blipFill>
            </p:spPr>
            <p:txBody>
              <a:bodyPr/>
              <a:lstStyle/>
              <a:p>
                <a:r>
                  <a:rPr lang="en-US">
                    <a:noFill/>
                  </a:rPr>
                  <a:t> </a:t>
                </a:r>
              </a:p>
            </p:txBody>
          </p:sp>
        </mc:Fallback>
      </mc:AlternateContent>
    </p:spTree>
    <p:extLst>
      <p:ext uri="{BB962C8B-B14F-4D97-AF65-F5344CB8AC3E}">
        <p14:creationId xmlns:p14="http://schemas.microsoft.com/office/powerpoint/2010/main" val="3846674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8C62-3D04-4705-81C4-0D211A42F42B}"/>
              </a:ext>
            </a:extLst>
          </p:cNvPr>
          <p:cNvSpPr>
            <a:spLocks noGrp="1"/>
          </p:cNvSpPr>
          <p:nvPr>
            <p:ph type="title"/>
          </p:nvPr>
        </p:nvSpPr>
        <p:spPr>
          <a:xfrm>
            <a:off x="838200" y="365125"/>
            <a:ext cx="10515600" cy="925793"/>
          </a:xfrm>
        </p:spPr>
        <p:txBody>
          <a:bodyPr/>
          <a:lstStyle/>
          <a:p>
            <a:r>
              <a:rPr lang="en-US">
                <a:solidFill>
                  <a:schemeClr val="bg1">
                    <a:lumMod val="65000"/>
                  </a:schemeClr>
                </a:solidFill>
              </a:rPr>
              <a:t>Modelling framework (derivation of eqn.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6ECEF6F-C41F-4DD0-A611-3BE432585992}"/>
                  </a:ext>
                </a:extLst>
              </p:cNvPr>
              <p:cNvSpPr>
                <a:spLocks noGrp="1"/>
              </p:cNvSpPr>
              <p:nvPr>
                <p:ph idx="1"/>
              </p:nvPr>
            </p:nvSpPr>
            <p:spPr>
              <a:xfrm>
                <a:off x="838200" y="1452283"/>
                <a:ext cx="10515600" cy="4894730"/>
              </a:xfrm>
            </p:spPr>
            <p:txBody>
              <a:bodyPr>
                <a:normAutofit lnSpcReduction="10000"/>
              </a:bodyPr>
              <a:lstStyle/>
              <a:p>
                <a:pPr marL="0" indent="0">
                  <a:buNone/>
                </a:pPr>
                <a:r>
                  <a:rPr lang="en-US"/>
                  <a:t>Then, to determine the flux of a metabolite in the entire community, we can write this equation as:</a:t>
                </a:r>
              </a:p>
              <a:p>
                <a:pPr marL="0" indent="0">
                  <a:buNone/>
                </a:pPr>
                <a14:m>
                  <m:oMath xmlns:m="http://schemas.openxmlformats.org/officeDocument/2006/math">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𝐻𝐷𝐶</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𝑖</m:t>
                            </m:r>
                          </m:sup>
                        </m:sSubSup>
                        <m:r>
                          <a:rPr lang="en-US" b="0" i="1" smtClean="0">
                            <a:latin typeface="Cambria Math" panose="02040503050406030204" pitchFamily="18" charset="0"/>
                            <a:ea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𝐺𝐹</m:t>
                            </m:r>
                          </m:sub>
                          <m:sup>
                            <m:r>
                              <a:rPr lang="en-US" b="0" i="1" smtClean="0">
                                <a:latin typeface="Cambria Math" panose="02040503050406030204" pitchFamily="18" charset="0"/>
                                <a:ea typeface="Cambria Math" panose="02040503050406030204" pitchFamily="18" charset="0"/>
                              </a:rPr>
                              <m:t>𝑖</m:t>
                            </m:r>
                          </m:sup>
                        </m:sSubSup>
                        <m:r>
                          <a:rPr lang="en-US" b="0" i="1" smtClean="0">
                            <a:latin typeface="Cambria Math" panose="02040503050406030204" pitchFamily="18" charset="0"/>
                            <a:ea typeface="Cambria Math" panose="02040503050406030204" pitchFamily="18" charset="0"/>
                          </a:rPr>
                          <m:t>]</m:t>
                        </m:r>
                      </m:e>
                    </m:nary>
                  </m:oMath>
                </a14:m>
                <a:r>
                  <a:rPr lang="en-US"/>
                  <a:t> </a:t>
                </a:r>
                <a:r>
                  <a:rPr lang="en-US" b="1"/>
                  <a:t>(1)</a:t>
                </a:r>
              </a:p>
              <a:p>
                <a:pPr marL="0" indent="0">
                  <a:buNone/>
                </a:pPr>
                <a:r>
                  <a:rPr lang="en-US"/>
                  <a:t>where,</a:t>
                </a:r>
              </a:p>
              <a:p>
                <a:pPr marL="0" indent="0">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𝑞</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sub>
                    </m:sSub>
                  </m:oMath>
                </a14:m>
                <a:r>
                  <a:rPr lang="en-US" sz="2800"/>
                  <a:t> = flux (mmol per </a:t>
                </a:r>
                <a:r>
                  <a:rPr lang="en-US" sz="2800" err="1"/>
                  <a:t>gDW</a:t>
                </a:r>
                <a:r>
                  <a:rPr lang="en-US" sz="2800"/>
                  <a:t> per hr) of metabolite i for bacteria j</a:t>
                </a:r>
              </a:p>
              <a:p>
                <a:pPr marL="0" indent="0">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oMath>
                </a14:m>
                <a:r>
                  <a:rPr lang="en-US"/>
                  <a:t> = abundance of bacteria j (gdW per litre L)</a:t>
                </a:r>
              </a:p>
              <a:p>
                <a:pPr marL="0" indent="0">
                  <a:buNone/>
                </a:pPr>
                <a14:m>
                  <m:oMath xmlns:m="http://schemas.openxmlformats.org/officeDocument/2006/math">
                    <m:r>
                      <a:rPr lang="en-US" b="0" i="1" smtClean="0">
                        <a:latin typeface="Cambria Math" panose="02040503050406030204" pitchFamily="18" charset="0"/>
                        <a:ea typeface="Cambria Math" panose="02040503050406030204" pitchFamily="18" charset="0"/>
                      </a:rPr>
                      <m:t>𝜇</m:t>
                    </m:r>
                  </m:oMath>
                </a14:m>
                <a:r>
                  <a:rPr lang="en-US"/>
                  <a:t> = growth rate of cells = dilution rate = </a:t>
                </a:r>
                <a14:m>
                  <m:oMath xmlns:m="http://schemas.openxmlformats.org/officeDocument/2006/math">
                    <m:r>
                      <a:rPr lang="en-US" b="0" i="1" smtClean="0">
                        <a:latin typeface="Cambria Math" panose="02040503050406030204" pitchFamily="18" charset="0"/>
                        <a:ea typeface="Cambria Math" panose="02040503050406030204" pitchFamily="18" charset="0"/>
                      </a:rPr>
                      <m:t>𝐷</m:t>
                    </m:r>
                    <m:r>
                      <a:rPr lang="en-US" b="0" i="1" smtClean="0">
                        <a:latin typeface="Cambria Math" panose="02040503050406030204" pitchFamily="18" charset="0"/>
                        <a:ea typeface="Cambria Math" panose="02040503050406030204" pitchFamily="18" charset="0"/>
                      </a:rPr>
                      <m:t>= </m:t>
                    </m:r>
                    <m:f>
                      <m:fPr>
                        <m:ctrlPr>
                          <a:rPr lang="en-US" i="1" smtClean="0">
                            <a:latin typeface="Cambria Math" panose="02040503050406030204" pitchFamily="18" charset="0"/>
                            <a:ea typeface="Cambria Math" panose="02040503050406030204" pitchFamily="18" charset="0"/>
                          </a:rPr>
                        </m:ctrlPr>
                      </m:fPr>
                      <m:num>
                        <m:acc>
                          <m:accPr>
                            <m:chr m:val="̅"/>
                            <m:ctrlPr>
                              <a:rPr lang="en-US"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𝑣</m:t>
                            </m:r>
                          </m:e>
                        </m:acc>
                      </m:num>
                      <m:den>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𝑐</m:t>
                            </m:r>
                          </m:sub>
                        </m:sSub>
                      </m:den>
                    </m:f>
                  </m:oMath>
                </a14:m>
                <a:r>
                  <a:rPr lang="en-US"/>
                  <a:t> </a:t>
                </a:r>
                <a:r>
                  <a:rPr lang="en-US" b="1"/>
                  <a:t>(5)</a:t>
                </a:r>
              </a:p>
              <a:p>
                <a:pPr marL="0" indent="0">
                  <a:buNone/>
                </a:pPr>
                <a14:m>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𝑠</m:t>
                        </m:r>
                      </m:e>
                      <m:sub>
                        <m:r>
                          <a:rPr lang="en-US" i="1">
                            <a:latin typeface="Cambria Math" panose="02040503050406030204" pitchFamily="18" charset="0"/>
                            <a:ea typeface="Cambria Math" panose="02040503050406030204" pitchFamily="18" charset="0"/>
                          </a:rPr>
                          <m:t>𝐻𝐷𝐶</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𝑖</m:t>
                        </m:r>
                      </m:sup>
                    </m:sSubSup>
                  </m:oMath>
                </a14:m>
                <a:r>
                  <a:rPr lang="en-US"/>
                  <a:t> = concentration of metabolite i in HDC1 poop (in mmol/litre)</a:t>
                </a:r>
              </a:p>
              <a:p>
                <a:pPr marL="0" indent="0">
                  <a:buNone/>
                </a:pPr>
                <a14:m>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𝑠</m:t>
                        </m:r>
                      </m:e>
                      <m:sub>
                        <m:r>
                          <a:rPr lang="en-US" i="1">
                            <a:latin typeface="Cambria Math" panose="02040503050406030204" pitchFamily="18" charset="0"/>
                            <a:ea typeface="Cambria Math" panose="02040503050406030204" pitchFamily="18" charset="0"/>
                          </a:rPr>
                          <m:t>𝐺𝐹</m:t>
                        </m:r>
                      </m:sub>
                      <m:sup>
                        <m:r>
                          <a:rPr lang="en-US" i="1">
                            <a:latin typeface="Cambria Math" panose="02040503050406030204" pitchFamily="18" charset="0"/>
                            <a:ea typeface="Cambria Math" panose="02040503050406030204" pitchFamily="18" charset="0"/>
                          </a:rPr>
                          <m:t>𝑖</m:t>
                        </m:r>
                      </m:sup>
                    </m:sSubSup>
                  </m:oMath>
                </a14:m>
                <a:r>
                  <a:rPr lang="en-US"/>
                  <a:t> = concentration of metabolite i in GF poop (in mmol/litre)</a:t>
                </a:r>
              </a:p>
            </p:txBody>
          </p:sp>
        </mc:Choice>
        <mc:Fallback xmlns="">
          <p:sp>
            <p:nvSpPr>
              <p:cNvPr id="3" name="Content Placeholder 2">
                <a:extLst>
                  <a:ext uri="{FF2B5EF4-FFF2-40B4-BE49-F238E27FC236}">
                    <a16:creationId xmlns:a16="http://schemas.microsoft.com/office/drawing/2014/main" id="{D6ECEF6F-C41F-4DD0-A611-3BE432585992}"/>
                  </a:ext>
                </a:extLst>
              </p:cNvPr>
              <p:cNvSpPr>
                <a:spLocks noGrp="1" noRot="1" noChangeAspect="1" noMove="1" noResize="1" noEditPoints="1" noAdjustHandles="1" noChangeArrowheads="1" noChangeShapeType="1" noTextEdit="1"/>
              </p:cNvSpPr>
              <p:nvPr>
                <p:ph idx="1"/>
              </p:nvPr>
            </p:nvSpPr>
            <p:spPr>
              <a:xfrm>
                <a:off x="838200" y="1452283"/>
                <a:ext cx="10515600" cy="4894730"/>
              </a:xfrm>
              <a:blipFill>
                <a:blip r:embed="rId2"/>
                <a:stretch>
                  <a:fillRect l="-1217" t="-2740"/>
                </a:stretch>
              </a:blipFill>
            </p:spPr>
            <p:txBody>
              <a:bodyPr/>
              <a:lstStyle/>
              <a:p>
                <a:r>
                  <a:rPr lang="en-US">
                    <a:noFill/>
                  </a:rPr>
                  <a:t> </a:t>
                </a:r>
              </a:p>
            </p:txBody>
          </p:sp>
        </mc:Fallback>
      </mc:AlternateContent>
    </p:spTree>
    <p:extLst>
      <p:ext uri="{BB962C8B-B14F-4D97-AF65-F5344CB8AC3E}">
        <p14:creationId xmlns:p14="http://schemas.microsoft.com/office/powerpoint/2010/main" val="9603320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73553-A54D-48FD-8E5F-E35BECF7220E}"/>
              </a:ext>
            </a:extLst>
          </p:cNvPr>
          <p:cNvSpPr>
            <a:spLocks noGrp="1"/>
          </p:cNvSpPr>
          <p:nvPr>
            <p:ph type="title"/>
          </p:nvPr>
        </p:nvSpPr>
        <p:spPr>
          <a:xfrm>
            <a:off x="838200" y="681037"/>
            <a:ext cx="10515600" cy="521843"/>
          </a:xfrm>
        </p:spPr>
        <p:txBody>
          <a:bodyPr>
            <a:normAutofit fontScale="90000"/>
          </a:bodyPr>
          <a:lstStyle/>
          <a:p>
            <a:r>
              <a:rPr lang="en-US">
                <a:solidFill>
                  <a:schemeClr val="bg1">
                    <a:lumMod val="65000"/>
                  </a:schemeClr>
                </a:solidFill>
              </a:rPr>
              <a:t>Modelling framework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9509C6-DA52-4FE8-BA51-44B9DE46CEA9}"/>
                  </a:ext>
                </a:extLst>
              </p:cNvPr>
              <p:cNvSpPr>
                <a:spLocks noGrp="1"/>
              </p:cNvSpPr>
              <p:nvPr>
                <p:ph idx="1"/>
              </p:nvPr>
            </p:nvSpPr>
            <p:spPr>
              <a:xfrm>
                <a:off x="838200" y="1517904"/>
                <a:ext cx="10515600" cy="4659059"/>
              </a:xfrm>
            </p:spPr>
            <p:txBody>
              <a:bodyPr>
                <a:normAutofit/>
              </a:bodyPr>
              <a:lstStyle/>
              <a:p>
                <a:pPr marL="0" indent="0">
                  <a:buNone/>
                </a:pPr>
                <a14:m>
                  <m:oMath xmlns:m="http://schemas.openxmlformats.org/officeDocument/2006/math">
                    <m:r>
                      <a:rPr lang="en-US" b="1" i="1" smtClean="0">
                        <a:latin typeface="Cambria Math" panose="02040503050406030204" pitchFamily="18" charset="0"/>
                        <a:ea typeface="Cambria Math" panose="02040503050406030204" pitchFamily="18" charset="0"/>
                      </a:rPr>
                      <m:t>𝝁</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𝑫</m:t>
                    </m:r>
                    <m:r>
                      <a:rPr lang="en-US" b="1" i="1" smtClean="0">
                        <a:latin typeface="Cambria Math" panose="02040503050406030204" pitchFamily="18" charset="0"/>
                        <a:ea typeface="Cambria Math" panose="02040503050406030204" pitchFamily="18" charset="0"/>
                      </a:rPr>
                      <m:t>= </m:t>
                    </m:r>
                    <m:f>
                      <m:fPr>
                        <m:ctrlPr>
                          <a:rPr lang="en-US" b="1" i="1" smtClean="0">
                            <a:latin typeface="Cambria Math" panose="02040503050406030204" pitchFamily="18" charset="0"/>
                            <a:ea typeface="Cambria Math" panose="02040503050406030204" pitchFamily="18" charset="0"/>
                          </a:rPr>
                        </m:ctrlPr>
                      </m:fPr>
                      <m:num>
                        <m:acc>
                          <m:accPr>
                            <m:chr m:val="̅"/>
                            <m:ctrlPr>
                              <a:rPr lang="en-US" b="1" i="1" smtClean="0">
                                <a:latin typeface="Cambria Math" panose="02040503050406030204" pitchFamily="18" charset="0"/>
                                <a:ea typeface="Cambria Math" panose="02040503050406030204" pitchFamily="18" charset="0"/>
                              </a:rPr>
                            </m:ctrlPr>
                          </m:accPr>
                          <m:e>
                            <m:r>
                              <a:rPr lang="en-US" b="1" i="1" smtClean="0">
                                <a:latin typeface="Cambria Math" panose="02040503050406030204" pitchFamily="18" charset="0"/>
                                <a:ea typeface="Cambria Math" panose="02040503050406030204" pitchFamily="18" charset="0"/>
                              </a:rPr>
                              <m:t>𝒗</m:t>
                            </m:r>
                          </m:e>
                        </m:acc>
                      </m:num>
                      <m:den>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𝑳</m:t>
                            </m:r>
                          </m:e>
                          <m:sub>
                            <m:r>
                              <a:rPr lang="en-US" b="1" i="1" smtClean="0">
                                <a:latin typeface="Cambria Math" panose="02040503050406030204" pitchFamily="18" charset="0"/>
                                <a:ea typeface="Cambria Math" panose="02040503050406030204" pitchFamily="18" charset="0"/>
                              </a:rPr>
                              <m:t>𝒄</m:t>
                            </m:r>
                          </m:sub>
                        </m:sSub>
                      </m:den>
                    </m:f>
                  </m:oMath>
                </a14:m>
                <a:r>
                  <a:rPr lang="en-US" b="1"/>
                  <a:t> (5)</a:t>
                </a:r>
              </a:p>
              <a:p>
                <a:pPr marL="0" indent="0">
                  <a:buNone/>
                </a:pPr>
                <a:r>
                  <a:rPr lang="en-US"/>
                  <a:t>where, </a:t>
                </a:r>
              </a:p>
              <a:p>
                <a:pPr marL="0" indent="0">
                  <a:buNone/>
                </a:pPr>
                <a:r>
                  <a:rPr lang="en-US"/>
                  <a:t>D = dilution rate = µ = rate of peristalsis (1/time)</a:t>
                </a:r>
              </a:p>
              <a:p>
                <a:pPr marL="0" indent="0">
                  <a:buNone/>
                </a:pP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𝑣</m:t>
                        </m:r>
                      </m:e>
                    </m:acc>
                  </m:oMath>
                </a14:m>
                <a:r>
                  <a:rPr lang="en-US"/>
                  <a:t> = average velocity (distance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𝑐</m:t>
                        </m:r>
                      </m:sub>
                    </m:sSub>
                  </m:oMath>
                </a14:m>
                <a:r>
                  <a:rPr lang="en-US"/>
                  <a:t>/time)</a:t>
                </a:r>
              </a:p>
              <a:p>
                <a:pPr marL="0" indent="0">
                  <a:buNone/>
                </a:pPr>
                <a:r>
                  <a:rPr lang="en-US"/>
                  <a:t>L</a:t>
                </a:r>
                <a:r>
                  <a:rPr lang="en-US" baseline="-25000"/>
                  <a:t>c</a:t>
                </a:r>
                <a:r>
                  <a:rPr lang="en-US"/>
                  <a:t> = length of colon</a:t>
                </a:r>
              </a:p>
            </p:txBody>
          </p:sp>
        </mc:Choice>
        <mc:Fallback xmlns="">
          <p:sp>
            <p:nvSpPr>
              <p:cNvPr id="3" name="Content Placeholder 2">
                <a:extLst>
                  <a:ext uri="{FF2B5EF4-FFF2-40B4-BE49-F238E27FC236}">
                    <a16:creationId xmlns:a16="http://schemas.microsoft.com/office/drawing/2014/main" id="{6D9509C6-DA52-4FE8-BA51-44B9DE46CEA9}"/>
                  </a:ext>
                </a:extLst>
              </p:cNvPr>
              <p:cNvSpPr>
                <a:spLocks noGrp="1" noRot="1" noChangeAspect="1" noMove="1" noResize="1" noEditPoints="1" noAdjustHandles="1" noChangeArrowheads="1" noChangeShapeType="1" noTextEdit="1"/>
              </p:cNvSpPr>
              <p:nvPr>
                <p:ph idx="1"/>
              </p:nvPr>
            </p:nvSpPr>
            <p:spPr>
              <a:xfrm>
                <a:off x="838200" y="1517904"/>
                <a:ext cx="10515600" cy="4659059"/>
              </a:xfrm>
              <a:blipFill>
                <a:blip r:embed="rId3"/>
                <a:stretch>
                  <a:fillRect l="-1217" t="-262"/>
                </a:stretch>
              </a:blipFill>
            </p:spPr>
            <p:txBody>
              <a:bodyPr/>
              <a:lstStyle/>
              <a:p>
                <a:r>
                  <a:rPr lang="en-US">
                    <a:noFill/>
                  </a:rPr>
                  <a:t> </a:t>
                </a:r>
              </a:p>
            </p:txBody>
          </p:sp>
        </mc:Fallback>
      </mc:AlternateContent>
    </p:spTree>
    <p:extLst>
      <p:ext uri="{BB962C8B-B14F-4D97-AF65-F5344CB8AC3E}">
        <p14:creationId xmlns:p14="http://schemas.microsoft.com/office/powerpoint/2010/main" val="22626918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28021-3AE9-48DA-AAB3-0BDC362C8986}"/>
              </a:ext>
            </a:extLst>
          </p:cNvPr>
          <p:cNvSpPr>
            <a:spLocks noGrp="1"/>
          </p:cNvSpPr>
          <p:nvPr>
            <p:ph type="title"/>
          </p:nvPr>
        </p:nvSpPr>
        <p:spPr>
          <a:xfrm>
            <a:off x="838200" y="365126"/>
            <a:ext cx="10515600" cy="896564"/>
          </a:xfrm>
        </p:spPr>
        <p:txBody>
          <a:bodyPr/>
          <a:lstStyle/>
          <a:p>
            <a:r>
              <a:rPr lang="en-US">
                <a:solidFill>
                  <a:schemeClr val="bg1">
                    <a:lumMod val="65000"/>
                  </a:schemeClr>
                </a:solidFill>
              </a:rPr>
              <a:t>Modelling framework (Derivation of eqn. 5)</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B63F94E0-5599-43C8-A325-41864E260EE9}"/>
                  </a:ext>
                </a:extLst>
              </p:cNvPr>
              <p:cNvSpPr txBox="1">
                <a:spLocks/>
              </p:cNvSpPr>
              <p:nvPr/>
            </p:nvSpPr>
            <p:spPr>
              <a:xfrm>
                <a:off x="770964" y="1261690"/>
                <a:ext cx="5325036" cy="5069541"/>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Flow rate (Q) is the volume of fluid per unit time (t) flowing past a point P through the area A.</a:t>
                </a:r>
                <a:endParaRPr lang="en-US" b="0"/>
              </a:p>
              <a:p>
                <a:pPr marL="0" indent="0">
                  <a:buFont typeface="Arial" panose="020B0604020202020204" pitchFamily="34" charset="0"/>
                  <a:buNone/>
                </a:pPr>
                <a:endParaRPr lang="en-US" b="0" i="1">
                  <a:latin typeface="Cambria Math" panose="02040503050406030204" pitchFamily="18" charset="0"/>
                </a:endParaRPr>
              </a:p>
              <a:p>
                <a:pPr marL="0" indent="0">
                  <a:buFont typeface="Arial" panose="020B0604020202020204" pitchFamily="34" charset="0"/>
                  <a:buNone/>
                </a:pP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𝑉</m:t>
                        </m:r>
                      </m:num>
                      <m:den>
                        <m:r>
                          <a:rPr lang="en-US" b="0" i="1" smtClean="0">
                            <a:latin typeface="Cambria Math" panose="02040503050406030204" pitchFamily="18" charset="0"/>
                          </a:rPr>
                          <m:t>𝑡</m:t>
                        </m:r>
                      </m:den>
                    </m:f>
                  </m:oMath>
                </a14:m>
                <a:r>
                  <a:rPr lang="en-US"/>
                  <a:t> </a:t>
                </a:r>
                <a:r>
                  <a:rPr lang="en-US" b="1"/>
                  <a:t>(6)</a:t>
                </a:r>
              </a:p>
              <a:p>
                <a:pPr marL="0" indent="0">
                  <a:buFont typeface="Arial" panose="020B0604020202020204" pitchFamily="34" charset="0"/>
                  <a:buNone/>
                </a:pPr>
                <a:r>
                  <a:rPr lang="en-US"/>
                  <a:t>where,</a:t>
                </a:r>
              </a:p>
              <a:p>
                <a:pPr marL="0" indent="0">
                  <a:buFont typeface="Arial" panose="020B0604020202020204" pitchFamily="34" charset="0"/>
                  <a:buNone/>
                </a:pPr>
                <a:r>
                  <a:rPr lang="en-US"/>
                  <a:t>Q = flow rate (volume/time)</a:t>
                </a:r>
              </a:p>
              <a:p>
                <a:pPr marL="0" indent="0">
                  <a:buFont typeface="Arial" panose="020B0604020202020204" pitchFamily="34" charset="0"/>
                  <a:buNone/>
                </a:pPr>
                <a:r>
                  <a:rPr lang="en-US"/>
                  <a:t>V = volume</a:t>
                </a:r>
              </a:p>
              <a:p>
                <a:pPr marL="0" indent="0">
                  <a:buFont typeface="Arial" panose="020B0604020202020204" pitchFamily="34" charset="0"/>
                  <a:buNone/>
                </a:pPr>
                <a:r>
                  <a:rPr lang="en-US"/>
                  <a:t>t = time</a:t>
                </a:r>
              </a:p>
              <a:p>
                <a:pPr marL="0" indent="0">
                  <a:buFont typeface="Arial" panose="020B0604020202020204" pitchFamily="34" charset="0"/>
                  <a:buNone/>
                </a:pPr>
                <a:endParaRPr lang="en-US"/>
              </a:p>
              <a:p>
                <a:pPr marL="0" indent="0">
                  <a:buFont typeface="Arial" panose="020B0604020202020204" pitchFamily="34" charset="0"/>
                  <a:buNone/>
                </a:pPr>
                <a:r>
                  <a:rPr lang="en-US"/>
                  <a:t>Therefore,</a:t>
                </a:r>
              </a:p>
              <a:p>
                <a:pPr marL="0" indent="0">
                  <a:buFont typeface="Arial" panose="020B0604020202020204" pitchFamily="34" charset="0"/>
                  <a:buNone/>
                </a:pP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𝑉𝐷</m:t>
                    </m:r>
                  </m:oMath>
                </a14:m>
                <a:r>
                  <a:rPr lang="en-US"/>
                  <a:t> </a:t>
                </a:r>
                <a:r>
                  <a:rPr lang="en-US" b="1"/>
                  <a:t>(7)</a:t>
                </a:r>
              </a:p>
              <a:p>
                <a:pPr marL="0" indent="0">
                  <a:buNone/>
                </a:pPr>
                <a:r>
                  <a:rPr lang="en-US"/>
                  <a:t>where,</a:t>
                </a:r>
              </a:p>
              <a:p>
                <a:pPr marL="0" indent="0">
                  <a:buNone/>
                </a:pPr>
                <a:r>
                  <a:rPr lang="en-US"/>
                  <a:t>Q = flow rate (volume/time)</a:t>
                </a:r>
              </a:p>
              <a:p>
                <a:pPr marL="0" indent="0">
                  <a:buNone/>
                </a:pPr>
                <a:r>
                  <a:rPr lang="en-US"/>
                  <a:t>V = volume</a:t>
                </a:r>
              </a:p>
              <a:p>
                <a:pPr marL="0" indent="0">
                  <a:buNone/>
                </a:pPr>
                <a:r>
                  <a:rPr lang="en-US"/>
                  <a:t>D = dilution rate (1/time)</a:t>
                </a:r>
              </a:p>
              <a:p>
                <a:pPr marL="0" indent="0">
                  <a:buNone/>
                </a:pPr>
                <a:endParaRPr lang="en-US"/>
              </a:p>
            </p:txBody>
          </p:sp>
        </mc:Choice>
        <mc:Fallback xmlns="">
          <p:sp>
            <p:nvSpPr>
              <p:cNvPr id="5" name="Content Placeholder 2">
                <a:extLst>
                  <a:ext uri="{FF2B5EF4-FFF2-40B4-BE49-F238E27FC236}">
                    <a16:creationId xmlns:a16="http://schemas.microsoft.com/office/drawing/2014/main" id="{B63F94E0-5599-43C8-A325-41864E260EE9}"/>
                  </a:ext>
                </a:extLst>
              </p:cNvPr>
              <p:cNvSpPr txBox="1">
                <a:spLocks noRot="1" noChangeAspect="1" noMove="1" noResize="1" noEditPoints="1" noAdjustHandles="1" noChangeArrowheads="1" noChangeShapeType="1" noTextEdit="1"/>
              </p:cNvSpPr>
              <p:nvPr/>
            </p:nvSpPr>
            <p:spPr>
              <a:xfrm>
                <a:off x="770964" y="1261690"/>
                <a:ext cx="5325036" cy="5069541"/>
              </a:xfrm>
              <a:prstGeom prst="rect">
                <a:avLst/>
              </a:prstGeom>
              <a:blipFill>
                <a:blip r:embed="rId3"/>
                <a:stretch>
                  <a:fillRect l="-1144" t="-2284" b="-16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8AAADA1E-3C57-40B4-8BB5-12336AD17E63}"/>
                  </a:ext>
                </a:extLst>
              </p:cNvPr>
              <p:cNvSpPr>
                <a:spLocks noGrp="1"/>
              </p:cNvSpPr>
              <p:nvPr>
                <p:ph idx="1"/>
              </p:nvPr>
            </p:nvSpPr>
            <p:spPr>
              <a:xfrm>
                <a:off x="6566647" y="2478649"/>
                <a:ext cx="4316506" cy="2635622"/>
              </a:xfrm>
            </p:spPr>
            <p:txBody>
              <a:bodyPr>
                <a:normAutofit/>
              </a:bodyPr>
              <a:lstStyle/>
              <a:p>
                <a:pPr marL="0" indent="0">
                  <a:buNone/>
                </a:pPr>
                <a:r>
                  <a:rPr lang="en-US" sz="2000"/>
                  <a:t>Also, since average velocity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𝑣</m:t>
                        </m:r>
                      </m:e>
                    </m:acc>
                  </m:oMath>
                </a14:m>
                <a:r>
                  <a:rPr lang="en-US" sz="2000"/>
                  <a:t> = d/t,</a:t>
                </a:r>
              </a:p>
              <a:p>
                <a:pPr marL="0" indent="0">
                  <a:buNone/>
                </a:pPr>
                <a14:m>
                  <m:oMath xmlns:m="http://schemas.openxmlformats.org/officeDocument/2006/math">
                    <m:r>
                      <a:rPr lang="en-US" sz="2000" b="0" i="1" smtClean="0">
                        <a:latin typeface="Cambria Math" panose="02040503050406030204" pitchFamily="18" charset="0"/>
                      </a:rPr>
                      <m:t>𝑄</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𝑉</m:t>
                        </m:r>
                      </m:num>
                      <m:den>
                        <m:r>
                          <a:rPr lang="en-US" sz="2000" b="0" i="1" smtClean="0">
                            <a:latin typeface="Cambria Math" panose="02040503050406030204" pitchFamily="18" charset="0"/>
                          </a:rPr>
                          <m:t>𝑡</m:t>
                        </m:r>
                      </m:den>
                    </m:f>
                    <m:r>
                      <a:rPr lang="en-US" sz="2000" b="0" i="0"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𝐴𝑑</m:t>
                        </m:r>
                      </m:num>
                      <m:den>
                        <m:r>
                          <a:rPr lang="en-US" sz="2000" b="0" i="1" smtClean="0">
                            <a:latin typeface="Cambria Math" panose="02040503050406030204" pitchFamily="18" charset="0"/>
                          </a:rPr>
                          <m:t>𝑡</m:t>
                        </m:r>
                      </m:den>
                    </m:f>
                    <m:r>
                      <a:rPr lang="en-US" sz="2000" b="0" i="1" smtClean="0">
                        <a:latin typeface="Cambria Math" panose="02040503050406030204" pitchFamily="18" charset="0"/>
                      </a:rPr>
                      <m:t>=</m:t>
                    </m:r>
                    <m:r>
                      <a:rPr lang="en-US" sz="2000" b="0" i="1" smtClean="0">
                        <a:latin typeface="Cambria Math" panose="02040503050406030204" pitchFamily="18" charset="0"/>
                      </a:rPr>
                      <m:t>𝐴</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𝑣</m:t>
                        </m:r>
                      </m:e>
                    </m:acc>
                  </m:oMath>
                </a14:m>
                <a:r>
                  <a:rPr lang="en-US" sz="2000"/>
                  <a:t> </a:t>
                </a:r>
                <a:r>
                  <a:rPr lang="en-US" sz="2000" b="1"/>
                  <a:t>(8)</a:t>
                </a:r>
              </a:p>
              <a:p>
                <a:pPr marL="0" indent="0">
                  <a:buFont typeface="Arial" panose="020B0604020202020204" pitchFamily="34" charset="0"/>
                  <a:buNone/>
                </a:pPr>
                <a:r>
                  <a:rPr lang="en-US" sz="2000"/>
                  <a:t>where,</a:t>
                </a:r>
              </a:p>
              <a:p>
                <a:pPr marL="0" indent="0">
                  <a:buFont typeface="Arial" panose="020B0604020202020204" pitchFamily="34" charset="0"/>
                  <a:buNone/>
                </a:pPr>
                <a:r>
                  <a:rPr lang="en-US" sz="2000"/>
                  <a:t>Q = flow rate (volume/time)</a:t>
                </a:r>
              </a:p>
              <a:p>
                <a:pPr marL="0" indent="0">
                  <a:buFont typeface="Arial" panose="020B0604020202020204" pitchFamily="34" charset="0"/>
                  <a:buNone/>
                </a:pPr>
                <a:r>
                  <a:rPr lang="en-US" sz="2000"/>
                  <a:t>A = cross-sectional area</a:t>
                </a:r>
              </a:p>
              <a:p>
                <a:pPr marL="0" indent="0">
                  <a:buFont typeface="Arial" panose="020B0604020202020204" pitchFamily="34" charset="0"/>
                  <a:buNone/>
                </a:pP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𝑣</m:t>
                        </m:r>
                      </m:e>
                    </m:acc>
                  </m:oMath>
                </a14:m>
                <a:r>
                  <a:rPr lang="en-US" sz="2000"/>
                  <a:t> = average velocity</a:t>
                </a:r>
              </a:p>
            </p:txBody>
          </p:sp>
        </mc:Choice>
        <mc:Fallback xmlns="">
          <p:sp>
            <p:nvSpPr>
              <p:cNvPr id="7" name="Content Placeholder 6">
                <a:extLst>
                  <a:ext uri="{FF2B5EF4-FFF2-40B4-BE49-F238E27FC236}">
                    <a16:creationId xmlns:a16="http://schemas.microsoft.com/office/drawing/2014/main" id="{8AAADA1E-3C57-40B4-8BB5-12336AD17E63}"/>
                  </a:ext>
                </a:extLst>
              </p:cNvPr>
              <p:cNvSpPr>
                <a:spLocks noGrp="1" noRot="1" noChangeAspect="1" noMove="1" noResize="1" noEditPoints="1" noAdjustHandles="1" noChangeArrowheads="1" noChangeShapeType="1" noTextEdit="1"/>
              </p:cNvSpPr>
              <p:nvPr>
                <p:ph idx="1"/>
              </p:nvPr>
            </p:nvSpPr>
            <p:spPr>
              <a:xfrm>
                <a:off x="6566647" y="2478649"/>
                <a:ext cx="4316506" cy="2635622"/>
              </a:xfrm>
              <a:blipFill>
                <a:blip r:embed="rId4"/>
                <a:stretch>
                  <a:fillRect l="-1412" t="-2546"/>
                </a:stretch>
              </a:blipFill>
            </p:spPr>
            <p:txBody>
              <a:bodyPr/>
              <a:lstStyle/>
              <a:p>
                <a:r>
                  <a:rPr lang="en-US">
                    <a:noFill/>
                  </a:rPr>
                  <a:t> </a:t>
                </a:r>
              </a:p>
            </p:txBody>
          </p:sp>
        </mc:Fallback>
      </mc:AlternateContent>
    </p:spTree>
    <p:extLst>
      <p:ext uri="{BB962C8B-B14F-4D97-AF65-F5344CB8AC3E}">
        <p14:creationId xmlns:p14="http://schemas.microsoft.com/office/powerpoint/2010/main" val="24646512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C6C741-269F-4A8F-90D5-21AF2C5EA2CB}"/>
              </a:ext>
            </a:extLst>
          </p:cNvPr>
          <p:cNvSpPr>
            <a:spLocks noGrp="1"/>
          </p:cNvSpPr>
          <p:nvPr>
            <p:ph idx="1"/>
          </p:nvPr>
        </p:nvSpPr>
        <p:spPr/>
        <p:txBody>
          <a:bodyPr/>
          <a:lstStyle/>
          <a:p>
            <a:pPr marL="0" indent="0">
              <a:buNone/>
            </a:pPr>
            <a:endParaRPr lang="en-US" b="0" i="1">
              <a:latin typeface="Cambria Math" panose="02040503050406030204" pitchFamily="18" charset="0"/>
              <a:ea typeface="Cambria Math" panose="02040503050406030204" pitchFamily="18" charset="0"/>
            </a:endParaRPr>
          </a:p>
          <a:p>
            <a:pPr marL="0" indent="0">
              <a:buNone/>
            </a:pPr>
            <a:endParaRPr lang="en-US"/>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5ADBDDF3-38E3-44E3-8D0B-B09A9598BC0F}"/>
                  </a:ext>
                </a:extLst>
              </p:cNvPr>
              <p:cNvSpPr txBox="1">
                <a:spLocks/>
              </p:cNvSpPr>
              <p:nvPr/>
            </p:nvSpPr>
            <p:spPr>
              <a:xfrm>
                <a:off x="739588" y="1532964"/>
                <a:ext cx="10515600" cy="478715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Since </a:t>
                </a:r>
                <a14:m>
                  <m:oMath xmlns:m="http://schemas.openxmlformats.org/officeDocument/2006/math">
                    <m:r>
                      <a:rPr lang="en-US" i="1" smtClean="0">
                        <a:latin typeface="Cambria Math" panose="02040503050406030204" pitchFamily="18" charset="0"/>
                      </a:rPr>
                      <m:t>𝐷</m:t>
                    </m:r>
                    <m:r>
                      <a:rPr lang="en-US" i="1" smtClean="0">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𝑄</m:t>
                        </m:r>
                      </m:num>
                      <m:den>
                        <m:r>
                          <a:rPr lang="en-US" i="1">
                            <a:latin typeface="Cambria Math" panose="02040503050406030204" pitchFamily="18" charset="0"/>
                          </a:rPr>
                          <m:t>𝑉</m:t>
                        </m:r>
                      </m:den>
                    </m:f>
                  </m:oMath>
                </a14:m>
                <a:r>
                  <a:rPr lang="en-US"/>
                  <a:t> </a:t>
                </a:r>
                <a:r>
                  <a:rPr lang="en-US" b="1"/>
                  <a:t>(7)</a:t>
                </a:r>
                <a:r>
                  <a:rPr lang="en-US"/>
                  <a:t>,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𝐴</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oMath>
                </a14:m>
                <a:r>
                  <a:rPr lang="en-US"/>
                  <a:t> </a:t>
                </a:r>
                <a:r>
                  <a:rPr lang="en-US" b="1"/>
                  <a:t>(8)</a:t>
                </a:r>
                <a:r>
                  <a:rPr lang="en-US"/>
                  <a:t> and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𝐴</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𝑐</m:t>
                        </m:r>
                      </m:sub>
                    </m:sSub>
                  </m:oMath>
                </a14:m>
                <a:r>
                  <a:rPr lang="en-US"/>
                  <a:t> </a:t>
                </a:r>
                <a:r>
                  <a:rPr lang="en-US" b="1"/>
                  <a:t>(9)</a:t>
                </a:r>
                <a:r>
                  <a:rPr lang="en-US"/>
                  <a:t>,</a:t>
                </a:r>
              </a:p>
              <a:p>
                <a:pPr marL="0" indent="0">
                  <a:buNone/>
                </a:pPr>
                <a:r>
                  <a:rPr lang="en-US"/>
                  <a:t>then</a:t>
                </a:r>
              </a:p>
              <a:p>
                <a:pPr marL="0" indent="0">
                  <a:buNone/>
                </a:pPr>
                <a:r>
                  <a:rPr lang="en-US" b="1"/>
                  <a:t> </a:t>
                </a:r>
                <a14:m>
                  <m:oMath xmlns:m="http://schemas.openxmlformats.org/officeDocument/2006/math">
                    <m:r>
                      <a:rPr lang="en-US" b="1" i="1" smtClean="0">
                        <a:latin typeface="Cambria Math" panose="02040503050406030204" pitchFamily="18" charset="0"/>
                      </a:rPr>
                      <m:t>𝑫</m:t>
                    </m:r>
                    <m:r>
                      <a:rPr lang="en-US" b="1" i="1" smtClean="0">
                        <a:latin typeface="Cambria Math" panose="02040503050406030204" pitchFamily="18" charset="0"/>
                      </a:rPr>
                      <m:t>= </m:t>
                    </m:r>
                    <m:f>
                      <m:fPr>
                        <m:ctrlPr>
                          <a:rPr lang="en-US" b="1" i="1" smtClean="0">
                            <a:latin typeface="Cambria Math" panose="02040503050406030204" pitchFamily="18" charset="0"/>
                          </a:rPr>
                        </m:ctrlPr>
                      </m:fPr>
                      <m:num>
                        <m:r>
                          <a:rPr lang="en-US" b="1" i="1" smtClean="0">
                            <a:latin typeface="Cambria Math" panose="02040503050406030204" pitchFamily="18" charset="0"/>
                          </a:rPr>
                          <m:t>𝑸</m:t>
                        </m:r>
                      </m:num>
                      <m:den>
                        <m:r>
                          <a:rPr lang="en-US" b="1" i="1" smtClean="0">
                            <a:latin typeface="Cambria Math" panose="02040503050406030204" pitchFamily="18" charset="0"/>
                          </a:rPr>
                          <m:t>𝑽</m:t>
                        </m:r>
                      </m:den>
                    </m:f>
                    <m:r>
                      <a:rPr lang="en-US" b="1" i="1" smtClean="0">
                        <a:latin typeface="Cambria Math" panose="02040503050406030204" pitchFamily="18" charset="0"/>
                      </a:rPr>
                      <m:t>= </m:t>
                    </m:r>
                    <m:f>
                      <m:fPr>
                        <m:ctrlPr>
                          <a:rPr lang="en-US" b="1" i="1" smtClean="0">
                            <a:latin typeface="Cambria Math" panose="02040503050406030204" pitchFamily="18" charset="0"/>
                          </a:rPr>
                        </m:ctrlPr>
                      </m:fPr>
                      <m:num>
                        <m:r>
                          <a:rPr lang="en-US" b="1" i="1" smtClean="0">
                            <a:latin typeface="Cambria Math" panose="02040503050406030204" pitchFamily="18" charset="0"/>
                          </a:rPr>
                          <m:t>𝑨</m:t>
                        </m:r>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𝒗</m:t>
                            </m:r>
                          </m:e>
                        </m:acc>
                      </m:num>
                      <m:den>
                        <m:r>
                          <a:rPr lang="en-US" b="1" i="1" smtClean="0">
                            <a:latin typeface="Cambria Math" panose="02040503050406030204" pitchFamily="18" charset="0"/>
                          </a:rPr>
                          <m:t>𝑨</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𝑳</m:t>
                            </m:r>
                          </m:e>
                          <m:sub>
                            <m:r>
                              <a:rPr lang="en-US" b="1" i="1" smtClean="0">
                                <a:latin typeface="Cambria Math" panose="02040503050406030204" pitchFamily="18" charset="0"/>
                              </a:rPr>
                              <m:t>𝒄</m:t>
                            </m:r>
                          </m:sub>
                        </m:sSub>
                      </m:den>
                    </m:f>
                    <m:r>
                      <a:rPr lang="en-US" b="1" i="0" smtClean="0">
                        <a:latin typeface="Cambria Math" panose="02040503050406030204" pitchFamily="18" charset="0"/>
                      </a:rPr>
                      <m:t>= </m:t>
                    </m:r>
                    <m:f>
                      <m:fPr>
                        <m:ctrlPr>
                          <a:rPr lang="en-US" b="1" i="1" smtClean="0">
                            <a:latin typeface="Cambria Math" panose="02040503050406030204" pitchFamily="18" charset="0"/>
                          </a:rPr>
                        </m:ctrlPr>
                      </m:fPr>
                      <m:num>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𝒗</m:t>
                            </m:r>
                          </m:e>
                        </m:acc>
                      </m:num>
                      <m:den>
                        <m:sSub>
                          <m:sSubPr>
                            <m:ctrlPr>
                              <a:rPr lang="en-US" b="1" i="1" smtClean="0">
                                <a:latin typeface="Cambria Math" panose="02040503050406030204" pitchFamily="18" charset="0"/>
                              </a:rPr>
                            </m:ctrlPr>
                          </m:sSubPr>
                          <m:e>
                            <m:r>
                              <a:rPr lang="en-US" b="1" i="1" smtClean="0">
                                <a:latin typeface="Cambria Math" panose="02040503050406030204" pitchFamily="18" charset="0"/>
                              </a:rPr>
                              <m:t>𝑳</m:t>
                            </m:r>
                          </m:e>
                          <m:sub>
                            <m:r>
                              <a:rPr lang="en-US" b="1" i="1" smtClean="0">
                                <a:latin typeface="Cambria Math" panose="02040503050406030204" pitchFamily="18" charset="0"/>
                              </a:rPr>
                              <m:t>𝒄</m:t>
                            </m:r>
                          </m:sub>
                        </m:sSub>
                      </m:den>
                    </m:f>
                    <m:r>
                      <a:rPr lang="en-US" b="1" i="1" smtClean="0">
                        <a:latin typeface="Cambria Math" panose="02040503050406030204" pitchFamily="18" charset="0"/>
                      </a:rPr>
                      <m:t>= µ</m:t>
                    </m:r>
                  </m:oMath>
                </a14:m>
                <a:r>
                  <a:rPr lang="en-US" b="1"/>
                  <a:t> (5) </a:t>
                </a:r>
              </a:p>
              <a:p>
                <a:pPr marL="0" indent="0">
                  <a:buFont typeface="Arial" panose="020B0604020202020204" pitchFamily="34" charset="0"/>
                  <a:buNone/>
                </a:pPr>
                <a:r>
                  <a:rPr lang="en-US"/>
                  <a:t>where,</a:t>
                </a:r>
              </a:p>
              <a:p>
                <a:pPr marL="0" indent="0">
                  <a:buNone/>
                </a:pPr>
                <a:r>
                  <a:rPr lang="en-US"/>
                  <a:t>D = dilution rate = µ = rate of peristalsis (1/time)</a:t>
                </a:r>
              </a:p>
              <a:p>
                <a:pPr marL="0" indent="0">
                  <a:buFont typeface="Arial" panose="020B0604020202020204" pitchFamily="34" charset="0"/>
                  <a:buNone/>
                </a:pPr>
                <a:r>
                  <a:rPr lang="en-US"/>
                  <a:t>Q = flow rate (volume/time)</a:t>
                </a:r>
              </a:p>
              <a:p>
                <a:pPr marL="0" indent="0">
                  <a:buFont typeface="Arial" panose="020B0604020202020204" pitchFamily="34" charset="0"/>
                  <a:buNone/>
                </a:pPr>
                <a:r>
                  <a:rPr lang="en-US"/>
                  <a:t>V = volume</a:t>
                </a:r>
              </a:p>
              <a:p>
                <a:pPr marL="0" indent="0">
                  <a:buFont typeface="Arial" panose="020B0604020202020204" pitchFamily="34" charset="0"/>
                  <a:buNone/>
                </a:pPr>
                <a:r>
                  <a:rPr lang="en-US"/>
                  <a:t>A = cross-sectional area of the colon</a:t>
                </a:r>
              </a:p>
              <a:p>
                <a:pPr marL="0" indent="0">
                  <a:buNone/>
                </a:pPr>
                <a14:m>
                  <m:oMath xmlns:m="http://schemas.openxmlformats.org/officeDocument/2006/math">
                    <m:acc>
                      <m:accPr>
                        <m:chr m:val="̅"/>
                        <m:ctrlPr>
                          <a:rPr lang="en-US" sz="2800" i="1" smtClean="0">
                            <a:latin typeface="Cambria Math" panose="02040503050406030204" pitchFamily="18" charset="0"/>
                          </a:rPr>
                        </m:ctrlPr>
                      </m:accPr>
                      <m:e>
                        <m:r>
                          <a:rPr lang="en-US" sz="2800" b="0" i="1" smtClean="0">
                            <a:latin typeface="Cambria Math" panose="02040503050406030204" pitchFamily="18" charset="0"/>
                          </a:rPr>
                          <m:t>𝑣</m:t>
                        </m:r>
                      </m:e>
                    </m:acc>
                  </m:oMath>
                </a14:m>
                <a:r>
                  <a:rPr lang="en-US" sz="2800"/>
                  <a:t> = average velocity</a:t>
                </a:r>
                <a:endParaRPr lang="en-US"/>
              </a:p>
              <a:p>
                <a:pPr marL="0" indent="0">
                  <a:buNone/>
                </a:pPr>
                <a:r>
                  <a:rPr lang="en-US"/>
                  <a:t>L</a:t>
                </a:r>
                <a:r>
                  <a:rPr lang="en-US" baseline="-25000"/>
                  <a:t>c</a:t>
                </a:r>
                <a:r>
                  <a:rPr lang="en-US"/>
                  <a:t> = length of colon</a:t>
                </a:r>
              </a:p>
              <a:p>
                <a:pPr marL="0" indent="0">
                  <a:buFont typeface="Arial" panose="020B0604020202020204" pitchFamily="34" charset="0"/>
                  <a:buNone/>
                </a:pPr>
                <a:endParaRPr lang="en-US"/>
              </a:p>
              <a:p>
                <a:endParaRPr lang="en-US"/>
              </a:p>
            </p:txBody>
          </p:sp>
        </mc:Choice>
        <mc:Fallback xmlns="">
          <p:sp>
            <p:nvSpPr>
              <p:cNvPr id="4" name="Content Placeholder 2">
                <a:extLst>
                  <a:ext uri="{FF2B5EF4-FFF2-40B4-BE49-F238E27FC236}">
                    <a16:creationId xmlns:a16="http://schemas.microsoft.com/office/drawing/2014/main" id="{5ADBDDF3-38E3-44E3-8D0B-B09A9598BC0F}"/>
                  </a:ext>
                </a:extLst>
              </p:cNvPr>
              <p:cNvSpPr txBox="1">
                <a:spLocks noRot="1" noChangeAspect="1" noMove="1" noResize="1" noEditPoints="1" noAdjustHandles="1" noChangeArrowheads="1" noChangeShapeType="1" noTextEdit="1"/>
              </p:cNvSpPr>
              <p:nvPr/>
            </p:nvSpPr>
            <p:spPr>
              <a:xfrm>
                <a:off x="739588" y="1532964"/>
                <a:ext cx="10515600" cy="4787153"/>
              </a:xfrm>
              <a:prstGeom prst="rect">
                <a:avLst/>
              </a:prstGeom>
              <a:blipFill>
                <a:blip r:embed="rId2"/>
                <a:stretch>
                  <a:fillRect l="-1043" t="-1018" b="-2036"/>
                </a:stretch>
              </a:blipFill>
            </p:spPr>
            <p:txBody>
              <a:bodyPr/>
              <a:lstStyle/>
              <a:p>
                <a:r>
                  <a:rPr lang="en-US">
                    <a:noFill/>
                  </a:rPr>
                  <a:t> </a:t>
                </a:r>
              </a:p>
            </p:txBody>
          </p:sp>
        </mc:Fallback>
      </mc:AlternateContent>
      <p:sp>
        <p:nvSpPr>
          <p:cNvPr id="5" name="Title 1">
            <a:extLst>
              <a:ext uri="{FF2B5EF4-FFF2-40B4-BE49-F238E27FC236}">
                <a16:creationId xmlns:a16="http://schemas.microsoft.com/office/drawing/2014/main" id="{B4A617C0-D12B-4550-B6D7-B92DD5C5F99C}"/>
              </a:ext>
            </a:extLst>
          </p:cNvPr>
          <p:cNvSpPr>
            <a:spLocks noGrp="1"/>
          </p:cNvSpPr>
          <p:nvPr>
            <p:ph type="title"/>
          </p:nvPr>
        </p:nvSpPr>
        <p:spPr>
          <a:xfrm>
            <a:off x="838200" y="365126"/>
            <a:ext cx="10515600" cy="896564"/>
          </a:xfrm>
        </p:spPr>
        <p:txBody>
          <a:bodyPr/>
          <a:lstStyle/>
          <a:p>
            <a:r>
              <a:rPr lang="en-US">
                <a:solidFill>
                  <a:schemeClr val="bg1">
                    <a:lumMod val="65000"/>
                  </a:schemeClr>
                </a:solidFill>
              </a:rPr>
              <a:t>Modelling framework (Derivation of eqn. 5)</a:t>
            </a:r>
          </a:p>
        </p:txBody>
      </p:sp>
    </p:spTree>
    <p:extLst>
      <p:ext uri="{BB962C8B-B14F-4D97-AF65-F5344CB8AC3E}">
        <p14:creationId xmlns:p14="http://schemas.microsoft.com/office/powerpoint/2010/main" val="2063259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1A3ED-2ADE-DA1B-E47E-E7EAC0E95298}"/>
              </a:ext>
            </a:extLst>
          </p:cNvPr>
          <p:cNvSpPr>
            <a:spLocks noGrp="1"/>
          </p:cNvSpPr>
          <p:nvPr>
            <p:ph type="title"/>
          </p:nvPr>
        </p:nvSpPr>
        <p:spPr/>
        <p:txBody>
          <a:bodyPr/>
          <a:lstStyle/>
          <a:p>
            <a:r>
              <a:rPr lang="en-US" dirty="0" err="1"/>
              <a:t>SteadyCom</a:t>
            </a:r>
            <a:endParaRPr lang="en-US" dirty="0"/>
          </a:p>
        </p:txBody>
      </p:sp>
    </p:spTree>
    <p:extLst>
      <p:ext uri="{BB962C8B-B14F-4D97-AF65-F5344CB8AC3E}">
        <p14:creationId xmlns:p14="http://schemas.microsoft.com/office/powerpoint/2010/main" val="1141397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3A2C4-97D4-4222-86F0-FBA8CE67031F}"/>
              </a:ext>
            </a:extLst>
          </p:cNvPr>
          <p:cNvSpPr>
            <a:spLocks noGrp="1"/>
          </p:cNvSpPr>
          <p:nvPr>
            <p:ph type="title"/>
          </p:nvPr>
        </p:nvSpPr>
        <p:spPr>
          <a:xfrm>
            <a:off x="719328" y="116014"/>
            <a:ext cx="10515600" cy="1325563"/>
          </a:xfrm>
        </p:spPr>
        <p:txBody>
          <a:bodyPr/>
          <a:lstStyle/>
          <a:p>
            <a:r>
              <a:rPr lang="en-US" b="1" dirty="0"/>
              <a:t>Joint FBA</a:t>
            </a:r>
          </a:p>
        </p:txBody>
      </p:sp>
      <p:sp>
        <p:nvSpPr>
          <p:cNvPr id="3" name="Content Placeholder 2">
            <a:extLst>
              <a:ext uri="{FF2B5EF4-FFF2-40B4-BE49-F238E27FC236}">
                <a16:creationId xmlns:a16="http://schemas.microsoft.com/office/drawing/2014/main" id="{52ACB889-CE3A-4C40-AAB0-45F3F47DF500}"/>
              </a:ext>
            </a:extLst>
          </p:cNvPr>
          <p:cNvSpPr>
            <a:spLocks noGrp="1"/>
          </p:cNvSpPr>
          <p:nvPr>
            <p:ph idx="1"/>
          </p:nvPr>
        </p:nvSpPr>
        <p:spPr>
          <a:xfrm>
            <a:off x="838200" y="1441577"/>
            <a:ext cx="10515600" cy="4351338"/>
          </a:xfrm>
        </p:spPr>
        <p:txBody>
          <a:bodyPr/>
          <a:lstStyle/>
          <a:p>
            <a:pPr marL="0" indent="0">
              <a:buNone/>
            </a:pPr>
            <a:r>
              <a:rPr lang="en-US" b="1" dirty="0"/>
              <a:t>FBA:</a:t>
            </a:r>
          </a:p>
          <a:p>
            <a:pPr marL="0" indent="0">
              <a:buNone/>
            </a:pPr>
            <a:r>
              <a:rPr lang="en-US" dirty="0"/>
              <a:t>Let K be the set of all organisms in the community.</a:t>
            </a:r>
          </a:p>
          <a:p>
            <a:pPr marL="0" indent="0">
              <a:buNone/>
            </a:pPr>
            <a:r>
              <a:rPr lang="en-US" dirty="0"/>
              <a:t>For an organism </a:t>
            </a:r>
            <a:r>
              <a:rPr lang="en-US" i="1" dirty="0"/>
              <a:t>k</a:t>
            </a:r>
            <a:r>
              <a:rPr lang="en-US" dirty="0"/>
              <a:t> in K, the traditional FBA for predicting maximum growth can be stated as follows:</a:t>
            </a:r>
          </a:p>
          <a:p>
            <a:pPr marL="0" indent="0">
              <a:buNone/>
            </a:pPr>
            <a:endParaRPr lang="en-US" dirty="0"/>
          </a:p>
        </p:txBody>
      </p:sp>
      <p:pic>
        <p:nvPicPr>
          <p:cNvPr id="5" name="Picture 4">
            <a:extLst>
              <a:ext uri="{FF2B5EF4-FFF2-40B4-BE49-F238E27FC236}">
                <a16:creationId xmlns:a16="http://schemas.microsoft.com/office/drawing/2014/main" id="{57434CFC-FECF-4979-AD05-2C257281124B}"/>
              </a:ext>
            </a:extLst>
          </p:cNvPr>
          <p:cNvPicPr>
            <a:picLocks noChangeAspect="1"/>
          </p:cNvPicPr>
          <p:nvPr/>
        </p:nvPicPr>
        <p:blipFill>
          <a:blip r:embed="rId2"/>
          <a:stretch>
            <a:fillRect/>
          </a:stretch>
        </p:blipFill>
        <p:spPr>
          <a:xfrm>
            <a:off x="273655" y="3617246"/>
            <a:ext cx="5822345" cy="2629446"/>
          </a:xfrm>
          <a:prstGeom prst="rect">
            <a:avLst/>
          </a:prstGeom>
        </p:spPr>
      </p:pic>
      <mc:AlternateContent xmlns:mc="http://schemas.openxmlformats.org/markup-compatibility/2006" xmlns:a14="http://schemas.microsoft.com/office/drawing/2010/main">
        <mc:Choice Requires="a14">
          <p:sp>
            <p:nvSpPr>
              <p:cNvPr id="7" name="Rectangle 1">
                <a:extLst>
                  <a:ext uri="{FF2B5EF4-FFF2-40B4-BE49-F238E27FC236}">
                    <a16:creationId xmlns:a16="http://schemas.microsoft.com/office/drawing/2014/main" id="{35A36EDF-E73F-4CEA-9C81-3A955B741714}"/>
                  </a:ext>
                </a:extLst>
              </p:cNvPr>
              <p:cNvSpPr>
                <a:spLocks noChangeArrowheads="1"/>
              </p:cNvSpPr>
              <p:nvPr/>
            </p:nvSpPr>
            <p:spPr bwMode="auto">
              <a:xfrm>
                <a:off x="6660545" y="3116796"/>
                <a:ext cx="5164838" cy="324531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500" dirty="0">
                    <a:solidFill>
                      <a:schemeClr val="tx1"/>
                    </a:solidFill>
                    <a:latin typeface="+mn-lt"/>
                  </a:rPr>
                  <a:t>w</a:t>
                </a:r>
                <a:r>
                  <a:rPr kumimoji="0" lang="en-US" altLang="en-US" sz="1500" b="0" i="0" u="none" strike="noStrike" cap="none" normalizeH="0" baseline="0" dirty="0">
                    <a:ln>
                      <a:noFill/>
                    </a:ln>
                    <a:solidFill>
                      <a:schemeClr val="tx1"/>
                    </a:solidFill>
                    <a:effectLst/>
                    <a:latin typeface="+mn-lt"/>
                  </a:rPr>
                  <a:t>here,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mn-lt"/>
                </a:endParaRPr>
              </a:p>
              <a:p>
                <a:pPr marR="0" lvl="0" algn="l" defTabSz="914400" rtl="0" eaLnBrk="0" fontAlgn="base" latinLnBrk="0" hangingPunct="0">
                  <a:lnSpc>
                    <a:spcPct val="100000"/>
                  </a:lnSpc>
                  <a:spcBef>
                    <a:spcPct val="0"/>
                  </a:spcBef>
                  <a:spcAft>
                    <a:spcPct val="0"/>
                  </a:spcAft>
                  <a:buClrTx/>
                  <a:buSzTx/>
                  <a:tabLst/>
                </a:pPr>
                <a14:m>
                  <m:oMath xmlns:m="http://schemas.openxmlformats.org/officeDocument/2006/math">
                    <m:sSubSup>
                      <m:sSubSupPr>
                        <m:ctrlPr>
                          <a:rPr kumimoji="0" lang="en-US" altLang="en-US" sz="1500" b="1" i="1" u="none" strike="noStrike" cap="none" normalizeH="0" baseline="0" smtClean="0">
                            <a:ln>
                              <a:noFill/>
                            </a:ln>
                            <a:solidFill>
                              <a:schemeClr val="tx1"/>
                            </a:solidFill>
                            <a:effectLst/>
                            <a:latin typeface="Cambria Math" panose="02040503050406030204" pitchFamily="18" charset="0"/>
                          </a:rPr>
                        </m:ctrlPr>
                      </m:sSubSupPr>
                      <m:e>
                        <m:r>
                          <a:rPr kumimoji="0" lang="en-US" altLang="en-US" sz="1500" b="1" i="1" u="none" strike="noStrike" cap="none" normalizeH="0" baseline="0" smtClean="0">
                            <a:ln>
                              <a:noFill/>
                            </a:ln>
                            <a:solidFill>
                              <a:schemeClr val="tx1"/>
                            </a:solidFill>
                            <a:effectLst/>
                            <a:latin typeface="Cambria Math" panose="02040503050406030204" pitchFamily="18" charset="0"/>
                          </a:rPr>
                          <m:t>𝒗</m:t>
                        </m:r>
                      </m:e>
                      <m:sub>
                        <m:r>
                          <a:rPr kumimoji="0" lang="en-US" altLang="en-US" sz="1500" b="1" i="1" u="none" strike="noStrike" cap="none" normalizeH="0" baseline="0" smtClean="0">
                            <a:ln>
                              <a:noFill/>
                            </a:ln>
                            <a:solidFill>
                              <a:schemeClr val="tx1"/>
                            </a:solidFill>
                            <a:effectLst/>
                            <a:latin typeface="Cambria Math" panose="02040503050406030204" pitchFamily="18" charset="0"/>
                          </a:rPr>
                          <m:t>𝒋</m:t>
                        </m:r>
                      </m:sub>
                      <m:sup>
                        <m:r>
                          <a:rPr kumimoji="0" lang="en-US" altLang="en-US" sz="1500" b="1" i="1" u="none" strike="noStrike" cap="none" normalizeH="0" baseline="0" smtClean="0">
                            <a:ln>
                              <a:noFill/>
                            </a:ln>
                            <a:solidFill>
                              <a:schemeClr val="tx1"/>
                            </a:solidFill>
                            <a:effectLst/>
                            <a:latin typeface="Cambria Math" panose="02040503050406030204" pitchFamily="18" charset="0"/>
                          </a:rPr>
                          <m:t>𝒌</m:t>
                        </m:r>
                      </m:sup>
                    </m:sSubSup>
                  </m:oMath>
                </a14:m>
                <a:r>
                  <a:rPr kumimoji="0" lang="en-US" altLang="en-US" sz="1500" b="1" i="0" u="none" strike="noStrike" cap="none" normalizeH="0" baseline="0" dirty="0">
                    <a:ln>
                      <a:noFill/>
                    </a:ln>
                    <a:solidFill>
                      <a:schemeClr val="tx1"/>
                    </a:solidFill>
                    <a:effectLst/>
                    <a:latin typeface="+mn-lt"/>
                  </a:rPr>
                  <a:t> </a:t>
                </a:r>
                <a:r>
                  <a:rPr kumimoji="0" lang="en-US" altLang="en-US" sz="1500" b="0" i="0" u="none" strike="noStrike" cap="none" normalizeH="0" baseline="0" dirty="0">
                    <a:ln>
                      <a:noFill/>
                    </a:ln>
                    <a:solidFill>
                      <a:schemeClr val="tx1"/>
                    </a:solidFill>
                    <a:effectLst/>
                    <a:latin typeface="+mn-lt"/>
                  </a:rPr>
                  <a:t>is the flux of reaction </a:t>
                </a:r>
                <a:r>
                  <a:rPr kumimoji="0" lang="en-US" altLang="en-US" sz="1500" b="0" i="1" u="none" strike="noStrike" cap="none" normalizeH="0" baseline="0" dirty="0">
                    <a:ln>
                      <a:noFill/>
                    </a:ln>
                    <a:solidFill>
                      <a:schemeClr val="tx1"/>
                    </a:solidFill>
                    <a:effectLst/>
                    <a:latin typeface="+mn-lt"/>
                  </a:rPr>
                  <a:t>j</a:t>
                </a:r>
                <a:r>
                  <a:rPr kumimoji="0" lang="en-US" altLang="en-US" sz="1500" b="0" i="0" u="none" strike="noStrike" cap="none" normalizeH="0" baseline="0" dirty="0">
                    <a:ln>
                      <a:noFill/>
                    </a:ln>
                    <a:solidFill>
                      <a:schemeClr val="tx1"/>
                    </a:solidFill>
                    <a:effectLst/>
                    <a:latin typeface="+mn-lt"/>
                  </a:rPr>
                  <a:t> (in mmol gdw</a:t>
                </a:r>
                <a:r>
                  <a:rPr kumimoji="0" lang="en-US" altLang="en-US" sz="1100" b="0" i="0" u="none" strike="noStrike" cap="none" normalizeH="0" baseline="30000" dirty="0">
                    <a:ln>
                      <a:noFill/>
                    </a:ln>
                    <a:solidFill>
                      <a:schemeClr val="tx1"/>
                    </a:solidFill>
                    <a:effectLst/>
                    <a:latin typeface="+mn-lt"/>
                  </a:rPr>
                  <a:t>-1</a:t>
                </a:r>
                <a:r>
                  <a:rPr kumimoji="0" lang="en-US" altLang="en-US" sz="1500" b="0" i="0" u="none" strike="noStrike" cap="none" normalizeH="0" baseline="0" dirty="0">
                    <a:ln>
                      <a:noFill/>
                    </a:ln>
                    <a:solidFill>
                      <a:schemeClr val="tx1"/>
                    </a:solidFill>
                    <a:effectLst/>
                    <a:latin typeface="+mn-lt"/>
                  </a:rPr>
                  <a:t>h</a:t>
                </a:r>
                <a:r>
                  <a:rPr kumimoji="0" lang="en-US" altLang="en-US" sz="1100" b="0" i="0" u="none" strike="noStrike" cap="none" normalizeH="0" baseline="30000" dirty="0">
                    <a:ln>
                      <a:noFill/>
                    </a:ln>
                    <a:solidFill>
                      <a:schemeClr val="tx1"/>
                    </a:solidFill>
                    <a:effectLst/>
                    <a:latin typeface="+mn-lt"/>
                  </a:rPr>
                  <a:t>-1</a:t>
                </a:r>
                <a:r>
                  <a:rPr kumimoji="0" lang="en-US" altLang="en-US" sz="1500" b="0" i="0" u="none" strike="noStrike" cap="none" normalizeH="0" baseline="0" dirty="0">
                    <a:ln>
                      <a:noFill/>
                    </a:ln>
                    <a:solidFill>
                      <a:schemeClr val="tx1"/>
                    </a:solidFill>
                    <a:effectLst/>
                    <a:latin typeface="+mn-lt"/>
                  </a:rPr>
                  <a:t> for general metabolic reactions, in g gdw</a:t>
                </a:r>
                <a:r>
                  <a:rPr kumimoji="0" lang="en-US" altLang="en-US" sz="1100" b="0" i="0" u="none" strike="noStrike" cap="none" normalizeH="0" baseline="30000" dirty="0">
                    <a:ln>
                      <a:noFill/>
                    </a:ln>
                    <a:solidFill>
                      <a:schemeClr val="tx1"/>
                    </a:solidFill>
                    <a:effectLst/>
                    <a:latin typeface="+mn-lt"/>
                  </a:rPr>
                  <a:t>-1</a:t>
                </a:r>
                <a:r>
                  <a:rPr kumimoji="0" lang="en-US" altLang="en-US" sz="1500" b="0" i="0" u="none" strike="noStrike" cap="none" normalizeH="0" baseline="0" dirty="0">
                    <a:ln>
                      <a:noFill/>
                    </a:ln>
                    <a:solidFill>
                      <a:schemeClr val="tx1"/>
                    </a:solidFill>
                    <a:effectLst/>
                    <a:latin typeface="+mn-lt"/>
                  </a:rPr>
                  <a:t>h</a:t>
                </a:r>
                <a:r>
                  <a:rPr kumimoji="0" lang="en-US" altLang="en-US" sz="1100" b="0" i="0" u="none" strike="noStrike" cap="none" normalizeH="0" baseline="30000" dirty="0">
                    <a:ln>
                      <a:noFill/>
                    </a:ln>
                    <a:solidFill>
                      <a:schemeClr val="tx1"/>
                    </a:solidFill>
                    <a:effectLst/>
                    <a:latin typeface="+mn-lt"/>
                  </a:rPr>
                  <a:t>-1</a:t>
                </a:r>
                <a:r>
                  <a:rPr kumimoji="0" lang="en-US" altLang="en-US" sz="1500" b="0" i="0" u="none" strike="noStrike" cap="none" normalizeH="0" baseline="0" dirty="0">
                    <a:ln>
                      <a:noFill/>
                    </a:ln>
                    <a:solidFill>
                      <a:schemeClr val="tx1"/>
                    </a:solidFill>
                    <a:effectLst/>
                    <a:latin typeface="+mn-lt"/>
                  </a:rPr>
                  <a:t> for the biosynthesis of macromolecules, and in h</a:t>
                </a:r>
                <a:r>
                  <a:rPr kumimoji="0" lang="en-US" altLang="en-US" sz="1100" b="0" i="0" u="none" strike="noStrike" cap="none" normalizeH="0" baseline="30000" dirty="0">
                    <a:ln>
                      <a:noFill/>
                    </a:ln>
                    <a:solidFill>
                      <a:schemeClr val="tx1"/>
                    </a:solidFill>
                    <a:effectLst/>
                    <a:latin typeface="+mn-lt"/>
                  </a:rPr>
                  <a:t>-1</a:t>
                </a:r>
                <a:r>
                  <a:rPr kumimoji="0" lang="en-US" altLang="en-US" sz="1500" b="0" i="0" u="none" strike="noStrike" cap="none" normalizeH="0" baseline="0" dirty="0">
                    <a:ln>
                      <a:noFill/>
                    </a:ln>
                    <a:solidFill>
                      <a:schemeClr val="tx1"/>
                    </a:solidFill>
                    <a:effectLst/>
                    <a:latin typeface="+mn-lt"/>
                  </a:rPr>
                  <a:t> for the biomass reaction)</a:t>
                </a:r>
              </a:p>
              <a:p>
                <a:pPr marR="0" lvl="0" algn="l" defTabSz="914400" rtl="0" eaLnBrk="0" fontAlgn="base" latinLnBrk="0" hangingPunct="0">
                  <a:lnSpc>
                    <a:spcPct val="100000"/>
                  </a:lnSpc>
                  <a:spcBef>
                    <a:spcPct val="0"/>
                  </a:spcBef>
                  <a:spcAft>
                    <a:spcPct val="0"/>
                  </a:spcAft>
                  <a:buClrTx/>
                  <a:buSzTx/>
                  <a:tabLst/>
                </a:pPr>
                <a:endParaRPr kumimoji="0" lang="en-US" altLang="en-US" sz="15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14:m>
                  <m:oMath xmlns:m="http://schemas.openxmlformats.org/officeDocument/2006/math">
                    <m:sSubSup>
                      <m:sSubSupPr>
                        <m:ctrlPr>
                          <a:rPr lang="en-US" altLang="en-US" sz="1500" b="1" i="1" smtClean="0">
                            <a:solidFill>
                              <a:schemeClr val="tx1"/>
                            </a:solidFill>
                            <a:latin typeface="Cambria Math" panose="02040503050406030204" pitchFamily="18" charset="0"/>
                          </a:rPr>
                        </m:ctrlPr>
                      </m:sSubSupPr>
                      <m:e>
                        <m:r>
                          <a:rPr lang="en-US" altLang="en-US" sz="1500" b="1" i="1" smtClean="0">
                            <a:solidFill>
                              <a:schemeClr val="tx1"/>
                            </a:solidFill>
                            <a:latin typeface="Cambria Math" panose="02040503050406030204" pitchFamily="18" charset="0"/>
                          </a:rPr>
                          <m:t>𝑺</m:t>
                        </m:r>
                      </m:e>
                      <m:sub>
                        <m:r>
                          <a:rPr lang="en-US" altLang="en-US" sz="1500" b="1" i="1" smtClean="0">
                            <a:solidFill>
                              <a:schemeClr val="tx1"/>
                            </a:solidFill>
                            <a:latin typeface="Cambria Math" panose="02040503050406030204" pitchFamily="18" charset="0"/>
                          </a:rPr>
                          <m:t>𝒊𝒋</m:t>
                        </m:r>
                      </m:sub>
                      <m:sup>
                        <m:r>
                          <a:rPr lang="en-US" altLang="en-US" sz="1500" b="1" i="1" smtClean="0">
                            <a:solidFill>
                              <a:schemeClr val="tx1"/>
                            </a:solidFill>
                            <a:latin typeface="Cambria Math" panose="02040503050406030204" pitchFamily="18" charset="0"/>
                          </a:rPr>
                          <m:t>𝒌</m:t>
                        </m:r>
                      </m:sup>
                    </m:sSubSup>
                  </m:oMath>
                </a14:m>
                <a:r>
                  <a:rPr lang="en-US" altLang="en-US" sz="1500" dirty="0">
                    <a:solidFill>
                      <a:schemeClr val="tx1"/>
                    </a:solidFill>
                    <a:latin typeface="+mn-lt"/>
                  </a:rPr>
                  <a:t> </a:t>
                </a:r>
                <a:r>
                  <a:rPr kumimoji="0" lang="en-US" altLang="en-US" sz="1500" b="0" i="0" u="none" strike="noStrike" cap="none" normalizeH="0" baseline="0" dirty="0">
                    <a:ln>
                      <a:noFill/>
                    </a:ln>
                    <a:solidFill>
                      <a:schemeClr val="tx1"/>
                    </a:solidFill>
                    <a:effectLst/>
                    <a:latin typeface="+mn-lt"/>
                  </a:rPr>
                  <a:t>is the stoichiometry for metabolite </a:t>
                </a:r>
                <a:r>
                  <a:rPr kumimoji="0" lang="en-US" altLang="en-US" sz="1500" b="0" i="1" u="none" strike="noStrike" cap="none" normalizeH="0" baseline="0" dirty="0" err="1">
                    <a:ln>
                      <a:noFill/>
                    </a:ln>
                    <a:solidFill>
                      <a:schemeClr val="tx1"/>
                    </a:solidFill>
                    <a:effectLst/>
                    <a:latin typeface="+mn-lt"/>
                  </a:rPr>
                  <a:t>i</a:t>
                </a:r>
                <a:r>
                  <a:rPr kumimoji="0" lang="en-US" altLang="en-US" sz="1500" b="0" i="0" u="none" strike="noStrike" cap="none" normalizeH="0" baseline="0" dirty="0">
                    <a:ln>
                      <a:noFill/>
                    </a:ln>
                    <a:solidFill>
                      <a:schemeClr val="tx1"/>
                    </a:solidFill>
                    <a:effectLst/>
                    <a:latin typeface="+mn-lt"/>
                  </a:rPr>
                  <a:t> in reaction </a:t>
                </a:r>
                <a:r>
                  <a:rPr kumimoji="0" lang="en-US" altLang="en-US" sz="1500" b="0" i="1" u="none" strike="noStrike" cap="none" normalizeH="0" baseline="0" dirty="0">
                    <a:ln>
                      <a:noFill/>
                    </a:ln>
                    <a:solidFill>
                      <a:schemeClr val="tx1"/>
                    </a:solidFill>
                    <a:effectLst/>
                    <a:latin typeface="+mn-lt"/>
                  </a:rPr>
                  <a:t>j</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mn-lt"/>
                </a:endParaRPr>
              </a:p>
              <a:p>
                <a:pPr lvl="0"/>
                <a14:m>
                  <m:oMath xmlns:m="http://schemas.openxmlformats.org/officeDocument/2006/math">
                    <m:sSubSup>
                      <m:sSubSupPr>
                        <m:ctrlPr>
                          <a:rPr kumimoji="0" lang="en-US" altLang="en-US" sz="1500" b="1" i="1" u="none" strike="noStrike" cap="none" normalizeH="0" baseline="0" smtClean="0">
                            <a:ln>
                              <a:noFill/>
                            </a:ln>
                            <a:solidFill>
                              <a:schemeClr val="tx1"/>
                            </a:solidFill>
                            <a:effectLst/>
                            <a:latin typeface="Cambria Math" panose="02040503050406030204" pitchFamily="18" charset="0"/>
                          </a:rPr>
                        </m:ctrlPr>
                      </m:sSubSupPr>
                      <m:e>
                        <m:r>
                          <a:rPr kumimoji="0" lang="en-US" altLang="en-US" sz="1500" b="1" i="1" u="none" strike="noStrike" cap="none" normalizeH="0" baseline="0" smtClean="0">
                            <a:ln>
                              <a:noFill/>
                            </a:ln>
                            <a:solidFill>
                              <a:schemeClr val="tx1"/>
                            </a:solidFill>
                            <a:effectLst/>
                            <a:latin typeface="Cambria Math" panose="02040503050406030204" pitchFamily="18" charset="0"/>
                          </a:rPr>
                          <m:t>𝑳𝑩</m:t>
                        </m:r>
                      </m:e>
                      <m:sub>
                        <m:r>
                          <a:rPr kumimoji="0" lang="en-US" altLang="en-US" sz="1500" b="1" i="1" u="none" strike="noStrike" cap="none" normalizeH="0" baseline="0" smtClean="0">
                            <a:ln>
                              <a:noFill/>
                            </a:ln>
                            <a:solidFill>
                              <a:schemeClr val="tx1"/>
                            </a:solidFill>
                            <a:effectLst/>
                            <a:latin typeface="Cambria Math" panose="02040503050406030204" pitchFamily="18" charset="0"/>
                          </a:rPr>
                          <m:t>𝒋</m:t>
                        </m:r>
                      </m:sub>
                      <m:sup>
                        <m:r>
                          <a:rPr kumimoji="0" lang="en-US" altLang="en-US" sz="1500" b="1" i="1" u="none" strike="noStrike" cap="none" normalizeH="0" baseline="0" smtClean="0">
                            <a:ln>
                              <a:noFill/>
                            </a:ln>
                            <a:solidFill>
                              <a:schemeClr val="tx1"/>
                            </a:solidFill>
                            <a:effectLst/>
                            <a:latin typeface="Cambria Math" panose="02040503050406030204" pitchFamily="18" charset="0"/>
                          </a:rPr>
                          <m:t>𝒌</m:t>
                        </m:r>
                      </m:sup>
                    </m:sSubSup>
                  </m:oMath>
                </a14:m>
                <a:r>
                  <a:rPr kumimoji="0" lang="en-US" altLang="en-US" sz="1500" b="1" i="0" u="none" strike="noStrike" cap="none" normalizeH="0" baseline="0" dirty="0">
                    <a:ln>
                      <a:noFill/>
                    </a:ln>
                    <a:solidFill>
                      <a:schemeClr val="tx1"/>
                    </a:solidFill>
                    <a:effectLst/>
                    <a:latin typeface="+mn-lt"/>
                  </a:rPr>
                  <a:t> </a:t>
                </a:r>
                <a:r>
                  <a:rPr kumimoji="0" lang="en-US" altLang="en-US" sz="1500" b="0" i="0" u="none" strike="noStrike" cap="none" normalizeH="0" baseline="0" dirty="0">
                    <a:ln>
                      <a:noFill/>
                    </a:ln>
                    <a:solidFill>
                      <a:schemeClr val="tx1"/>
                    </a:solidFill>
                    <a:effectLst/>
                    <a:latin typeface="+mn-lt"/>
                  </a:rPr>
                  <a:t>and</a:t>
                </a:r>
                <a:r>
                  <a:rPr kumimoji="0" lang="en-US" altLang="en-US" sz="1500" b="1" i="0" u="none" strike="noStrike" cap="none" normalizeH="0" baseline="0" dirty="0">
                    <a:ln>
                      <a:noFill/>
                    </a:ln>
                    <a:solidFill>
                      <a:schemeClr val="tx1"/>
                    </a:solidFill>
                    <a:effectLst/>
                    <a:latin typeface="+mn-lt"/>
                  </a:rPr>
                  <a:t> </a:t>
                </a:r>
                <a14:m>
                  <m:oMath xmlns:m="http://schemas.openxmlformats.org/officeDocument/2006/math">
                    <m:sSubSup>
                      <m:sSubSupPr>
                        <m:ctrlPr>
                          <a:rPr kumimoji="0" lang="en-US" altLang="en-US" sz="1500" b="1" i="1" u="none" strike="noStrike" cap="none" normalizeH="0" baseline="0" smtClean="0">
                            <a:ln>
                              <a:noFill/>
                            </a:ln>
                            <a:solidFill>
                              <a:schemeClr val="tx1"/>
                            </a:solidFill>
                            <a:effectLst/>
                            <a:latin typeface="Cambria Math" panose="02040503050406030204" pitchFamily="18" charset="0"/>
                          </a:rPr>
                        </m:ctrlPr>
                      </m:sSubSupPr>
                      <m:e>
                        <m:r>
                          <a:rPr kumimoji="0" lang="en-US" altLang="en-US" sz="1500" b="1" i="1" u="none" strike="noStrike" cap="none" normalizeH="0" baseline="0" smtClean="0">
                            <a:ln>
                              <a:noFill/>
                            </a:ln>
                            <a:solidFill>
                              <a:schemeClr val="tx1"/>
                            </a:solidFill>
                            <a:effectLst/>
                            <a:latin typeface="Cambria Math" panose="02040503050406030204" pitchFamily="18" charset="0"/>
                          </a:rPr>
                          <m:t>𝑼𝑩</m:t>
                        </m:r>
                      </m:e>
                      <m:sub>
                        <m:r>
                          <a:rPr kumimoji="0" lang="en-US" altLang="en-US" sz="1500" b="1" i="1" u="none" strike="noStrike" cap="none" normalizeH="0" baseline="0" smtClean="0">
                            <a:ln>
                              <a:noFill/>
                            </a:ln>
                            <a:solidFill>
                              <a:schemeClr val="tx1"/>
                            </a:solidFill>
                            <a:effectLst/>
                            <a:latin typeface="Cambria Math" panose="02040503050406030204" pitchFamily="18" charset="0"/>
                          </a:rPr>
                          <m:t>𝒋</m:t>
                        </m:r>
                      </m:sub>
                      <m:sup>
                        <m:r>
                          <a:rPr kumimoji="0" lang="en-US" altLang="en-US" sz="1500" b="1" i="1" u="none" strike="noStrike" cap="none" normalizeH="0" baseline="0" smtClean="0">
                            <a:ln>
                              <a:noFill/>
                            </a:ln>
                            <a:solidFill>
                              <a:schemeClr val="tx1"/>
                            </a:solidFill>
                            <a:effectLst/>
                            <a:latin typeface="Cambria Math" panose="02040503050406030204" pitchFamily="18" charset="0"/>
                          </a:rPr>
                          <m:t>𝒌</m:t>
                        </m:r>
                      </m:sup>
                    </m:sSubSup>
                  </m:oMath>
                </a14:m>
                <a:r>
                  <a:rPr kumimoji="0" lang="en-US" altLang="en-US" sz="1500" b="1" i="0" u="none" strike="noStrike" cap="none" normalizeH="0" baseline="0" dirty="0">
                    <a:ln>
                      <a:noFill/>
                    </a:ln>
                    <a:solidFill>
                      <a:schemeClr val="tx1"/>
                    </a:solidFill>
                    <a:effectLst/>
                    <a:latin typeface="+mn-lt"/>
                  </a:rPr>
                  <a:t> </a:t>
                </a:r>
                <a:r>
                  <a:rPr kumimoji="0" lang="en-US" altLang="en-US" sz="1500" b="0" i="0" u="none" strike="noStrike" cap="none" normalizeH="0" baseline="0" dirty="0">
                    <a:ln>
                      <a:noFill/>
                    </a:ln>
                    <a:solidFill>
                      <a:schemeClr val="tx1"/>
                    </a:solidFill>
                    <a:effectLst/>
                    <a:latin typeface="+mn-lt"/>
                  </a:rPr>
                  <a:t>are the lower bound and upper bounds for fluxes </a:t>
                </a:r>
                <a14:m>
                  <m:oMath xmlns:m="http://schemas.openxmlformats.org/officeDocument/2006/math">
                    <m:sSubSup>
                      <m:sSubSupPr>
                        <m:ctrlPr>
                          <a:rPr kumimoji="0" lang="en-US" altLang="en-US" sz="1000" b="1" i="1" u="none" strike="noStrike" cap="none" normalizeH="0" baseline="0" smtClean="0">
                            <a:ln>
                              <a:noFill/>
                            </a:ln>
                            <a:solidFill>
                              <a:schemeClr val="tx1"/>
                            </a:solidFill>
                            <a:effectLst/>
                            <a:latin typeface="Cambria Math" panose="02040503050406030204" pitchFamily="18" charset="0"/>
                          </a:rPr>
                        </m:ctrlPr>
                      </m:sSubSupPr>
                      <m:e>
                        <m:r>
                          <a:rPr kumimoji="0" lang="en-US" altLang="en-US" sz="1000" b="1" i="1" u="none" strike="noStrike" cap="none" normalizeH="0" baseline="0" smtClean="0">
                            <a:ln>
                              <a:noFill/>
                            </a:ln>
                            <a:solidFill>
                              <a:schemeClr val="tx1"/>
                            </a:solidFill>
                            <a:effectLst/>
                            <a:latin typeface="Cambria Math" panose="02040503050406030204" pitchFamily="18" charset="0"/>
                          </a:rPr>
                          <m:t>𝒗</m:t>
                        </m:r>
                      </m:e>
                      <m:sub>
                        <m:r>
                          <a:rPr kumimoji="0" lang="en-US" altLang="en-US" sz="1000" b="1" i="1" u="none" strike="noStrike" cap="none" normalizeH="0" baseline="0" smtClean="0">
                            <a:ln>
                              <a:noFill/>
                            </a:ln>
                            <a:solidFill>
                              <a:schemeClr val="tx1"/>
                            </a:solidFill>
                            <a:effectLst/>
                            <a:latin typeface="Cambria Math" panose="02040503050406030204" pitchFamily="18" charset="0"/>
                          </a:rPr>
                          <m:t>𝒋</m:t>
                        </m:r>
                      </m:sub>
                      <m:sup>
                        <m:r>
                          <a:rPr kumimoji="0" lang="en-US" altLang="en-US" sz="1000" b="1" i="1" u="none" strike="noStrike" cap="none" normalizeH="0" baseline="0" smtClean="0">
                            <a:ln>
                              <a:noFill/>
                            </a:ln>
                            <a:solidFill>
                              <a:schemeClr val="tx1"/>
                            </a:solidFill>
                            <a:effectLst/>
                            <a:latin typeface="Cambria Math" panose="02040503050406030204" pitchFamily="18" charset="0"/>
                          </a:rPr>
                          <m:t>𝒌</m:t>
                        </m:r>
                      </m:sup>
                    </m:sSubSup>
                  </m:oMath>
                </a14:m>
                <a:r>
                  <a:rPr kumimoji="0" lang="en-US" altLang="en-US" sz="1000" b="1" i="0" u="none" strike="noStrike" cap="none" normalizeH="0" baseline="0" dirty="0">
                    <a:ln>
                      <a:noFill/>
                    </a:ln>
                    <a:solidFill>
                      <a:schemeClr val="tx1"/>
                    </a:solidFill>
                    <a:effectLst/>
                    <a:latin typeface="+mn-lt"/>
                  </a:rPr>
                  <a:t> </a:t>
                </a:r>
                <a:r>
                  <a:rPr kumimoji="0" lang="en-US" altLang="en-US" sz="1000" b="0" i="0" u="none" strike="noStrike" cap="none" normalizeH="0" baseline="0" dirty="0">
                    <a:ln>
                      <a:noFill/>
                    </a:ln>
                    <a:solidFill>
                      <a:schemeClr val="tx1"/>
                    </a:solidFill>
                    <a:effectLst/>
                    <a:latin typeface="+mn-lt"/>
                  </a:rPr>
                  <a:t>,</a:t>
                </a:r>
                <a:r>
                  <a:rPr kumimoji="0" lang="en-US" altLang="en-US" sz="1500" b="0" i="0" u="none" strike="noStrike" cap="none" normalizeH="0" baseline="0" dirty="0">
                    <a:ln>
                      <a:noFill/>
                    </a:ln>
                    <a:solidFill>
                      <a:schemeClr val="tx1"/>
                    </a:solidFill>
                    <a:effectLst/>
                    <a:latin typeface="+mn-lt"/>
                  </a:rPr>
                  <a:t> respectively</a:t>
                </a:r>
              </a:p>
              <a:p>
                <a:pPr lvl="0"/>
                <a:endParaRPr kumimoji="0" lang="en-US" altLang="en-US" sz="15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tx1"/>
                    </a:solidFill>
                    <a:effectLst/>
                    <a:latin typeface="+mn-lt"/>
                  </a:rPr>
                  <a:t> </a:t>
                </a:r>
                <a:r>
                  <a:rPr kumimoji="0" lang="en-US" altLang="en-US" sz="1500" b="1" i="0" u="none" strike="noStrike" cap="none" normalizeH="0" baseline="0" dirty="0">
                    <a:ln>
                      <a:noFill/>
                    </a:ln>
                    <a:solidFill>
                      <a:schemeClr val="tx1"/>
                    </a:solidFill>
                    <a:effectLst/>
                    <a:latin typeface="+mn-lt"/>
                  </a:rPr>
                  <a:t>I</a:t>
                </a:r>
                <a:r>
                  <a:rPr kumimoji="0" lang="en-US" altLang="en-US" sz="1500" b="0" i="0" u="none" strike="noStrike" cap="none" normalizeH="0" baseline="0" dirty="0">
                    <a:ln>
                      <a:noFill/>
                    </a:ln>
                    <a:solidFill>
                      <a:schemeClr val="tx1"/>
                    </a:solidFill>
                    <a:effectLst/>
                    <a:latin typeface="+mn-lt"/>
                  </a:rPr>
                  <a:t> </a:t>
                </a:r>
                <a:r>
                  <a:rPr kumimoji="0" lang="en-US" altLang="en-US" sz="1100" b="0" i="1" u="none" strike="noStrike" cap="none" normalizeH="0" baseline="30000" dirty="0">
                    <a:ln>
                      <a:noFill/>
                    </a:ln>
                    <a:solidFill>
                      <a:schemeClr val="tx1"/>
                    </a:solidFill>
                    <a:effectLst/>
                    <a:latin typeface="+mn-lt"/>
                  </a:rPr>
                  <a:t>k</a:t>
                </a:r>
                <a:r>
                  <a:rPr kumimoji="0" lang="en-US" altLang="en-US" sz="1500" b="0" i="0" u="none" strike="noStrike" cap="none" normalizeH="0" baseline="0" dirty="0">
                    <a:ln>
                      <a:noFill/>
                    </a:ln>
                    <a:solidFill>
                      <a:schemeClr val="tx1"/>
                    </a:solidFill>
                    <a:effectLst/>
                    <a:latin typeface="+mn-lt"/>
                  </a:rPr>
                  <a:t> and </a:t>
                </a:r>
                <a:r>
                  <a:rPr kumimoji="0" lang="en-US" altLang="en-US" sz="1500" b="1" i="0" u="none" strike="noStrike" cap="none" normalizeH="0" baseline="0" dirty="0">
                    <a:ln>
                      <a:noFill/>
                    </a:ln>
                    <a:solidFill>
                      <a:schemeClr val="tx1"/>
                    </a:solidFill>
                    <a:effectLst/>
                    <a:latin typeface="+mn-lt"/>
                  </a:rPr>
                  <a:t>J</a:t>
                </a:r>
                <a:r>
                  <a:rPr kumimoji="0" lang="en-US" altLang="en-US" sz="1500" b="0" i="0" u="none" strike="noStrike" cap="none" normalizeH="0" baseline="0" dirty="0">
                    <a:ln>
                      <a:noFill/>
                    </a:ln>
                    <a:solidFill>
                      <a:schemeClr val="tx1"/>
                    </a:solidFill>
                    <a:effectLst/>
                    <a:latin typeface="+mn-lt"/>
                  </a:rPr>
                  <a:t> </a:t>
                </a:r>
                <a:r>
                  <a:rPr kumimoji="0" lang="en-US" altLang="en-US" sz="1100" b="0" i="1" u="none" strike="noStrike" cap="none" normalizeH="0" baseline="30000" dirty="0">
                    <a:ln>
                      <a:noFill/>
                    </a:ln>
                    <a:solidFill>
                      <a:schemeClr val="tx1"/>
                    </a:solidFill>
                    <a:effectLst/>
                    <a:latin typeface="+mn-lt"/>
                  </a:rPr>
                  <a:t>k</a:t>
                </a:r>
                <a:r>
                  <a:rPr kumimoji="0" lang="en-US" altLang="en-US" sz="1500" b="0" i="0" u="none" strike="noStrike" cap="none" normalizeH="0" baseline="0" dirty="0">
                    <a:ln>
                      <a:noFill/>
                    </a:ln>
                    <a:solidFill>
                      <a:schemeClr val="tx1"/>
                    </a:solidFill>
                    <a:effectLst/>
                    <a:latin typeface="+mn-lt"/>
                  </a:rPr>
                  <a:t> are respectively the set of metabolites and reactions for organism </a:t>
                </a:r>
                <a:r>
                  <a:rPr kumimoji="0" lang="en-US" altLang="en-US" sz="1500" b="0" i="1" u="none" strike="noStrike" cap="none" normalizeH="0" baseline="0" dirty="0">
                    <a:ln>
                      <a:noFill/>
                    </a:ln>
                    <a:solidFill>
                      <a:schemeClr val="tx1"/>
                    </a:solidFill>
                    <a:effectLst/>
                    <a:latin typeface="+mn-lt"/>
                  </a:rPr>
                  <a:t>k</a:t>
                </a:r>
                <a:endParaRPr kumimoji="0" lang="en-US" altLang="en-US" sz="1800" b="0" i="0" u="none" strike="noStrike" cap="none" normalizeH="0" baseline="0" dirty="0">
                  <a:ln>
                    <a:noFill/>
                  </a:ln>
                  <a:solidFill>
                    <a:schemeClr val="tx1"/>
                  </a:solidFill>
                  <a:effectLst/>
                  <a:latin typeface="+mn-lt"/>
                </a:endParaRPr>
              </a:p>
            </p:txBody>
          </p:sp>
        </mc:Choice>
        <mc:Fallback xmlns="">
          <p:sp>
            <p:nvSpPr>
              <p:cNvPr id="7" name="Rectangle 1">
                <a:extLst>
                  <a:ext uri="{FF2B5EF4-FFF2-40B4-BE49-F238E27FC236}">
                    <a16:creationId xmlns:a16="http://schemas.microsoft.com/office/drawing/2014/main" id="{35A36EDF-E73F-4CEA-9C81-3A955B741714}"/>
                  </a:ext>
                </a:extLst>
              </p:cNvPr>
              <p:cNvSpPr>
                <a:spLocks noRot="1" noChangeAspect="1" noMove="1" noResize="1" noEditPoints="1" noAdjustHandles="1" noChangeArrowheads="1" noChangeShapeType="1" noTextEdit="1"/>
              </p:cNvSpPr>
              <p:nvPr/>
            </p:nvSpPr>
            <p:spPr bwMode="auto">
              <a:xfrm>
                <a:off x="6660545" y="3116796"/>
                <a:ext cx="5164838" cy="3245312"/>
              </a:xfrm>
              <a:prstGeom prst="rect">
                <a:avLst/>
              </a:prstGeom>
              <a:blipFill>
                <a:blip r:embed="rId3"/>
                <a:stretch>
                  <a:fillRect l="-472" b="-1501"/>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31024935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AB29C-A639-44E9-9D1C-A3E61B9193D1}"/>
              </a:ext>
            </a:extLst>
          </p:cNvPr>
          <p:cNvSpPr>
            <a:spLocks noGrp="1"/>
          </p:cNvSpPr>
          <p:nvPr>
            <p:ph type="title"/>
          </p:nvPr>
        </p:nvSpPr>
        <p:spPr>
          <a:xfrm>
            <a:off x="644237" y="272295"/>
            <a:ext cx="10515600" cy="704723"/>
          </a:xfrm>
        </p:spPr>
        <p:txBody>
          <a:bodyPr/>
          <a:lstStyle/>
          <a:p>
            <a:r>
              <a:rPr lang="en-US" b="1" dirty="0"/>
              <a:t>Joint FBA</a:t>
            </a:r>
            <a:endParaRPr lang="en-US" dirty="0"/>
          </a:p>
        </p:txBody>
      </p:sp>
      <p:sp>
        <p:nvSpPr>
          <p:cNvPr id="3" name="Content Placeholder 2">
            <a:extLst>
              <a:ext uri="{FF2B5EF4-FFF2-40B4-BE49-F238E27FC236}">
                <a16:creationId xmlns:a16="http://schemas.microsoft.com/office/drawing/2014/main" id="{F2F33982-849E-4375-920D-D1034B581705}"/>
              </a:ext>
            </a:extLst>
          </p:cNvPr>
          <p:cNvSpPr>
            <a:spLocks noGrp="1"/>
          </p:cNvSpPr>
          <p:nvPr>
            <p:ph idx="1"/>
          </p:nvPr>
        </p:nvSpPr>
        <p:spPr>
          <a:xfrm>
            <a:off x="399288" y="1069848"/>
            <a:ext cx="10515600" cy="1813687"/>
          </a:xfrm>
        </p:spPr>
        <p:txBody>
          <a:bodyPr>
            <a:normAutofit/>
          </a:bodyPr>
          <a:lstStyle/>
          <a:p>
            <a:r>
              <a:rPr lang="en-US" sz="1800" b="0" i="0" dirty="0">
                <a:solidFill>
                  <a:srgbClr val="212121"/>
                </a:solidFill>
                <a:effectLst/>
              </a:rPr>
              <a:t>Microbial communities have generally been treated as multi-compartment models.</a:t>
            </a:r>
          </a:p>
          <a:p>
            <a:r>
              <a:rPr lang="en-US" sz="1800" b="0" i="0" dirty="0">
                <a:solidFill>
                  <a:srgbClr val="212121"/>
                </a:solidFill>
                <a:effectLst/>
              </a:rPr>
              <a:t>The extracellular compartments of various organisms are connected by an additional compartment (called community space).</a:t>
            </a:r>
          </a:p>
          <a:p>
            <a:r>
              <a:rPr lang="en-US" sz="1800" b="0" i="0" dirty="0">
                <a:solidFill>
                  <a:srgbClr val="212121"/>
                </a:solidFill>
                <a:effectLst/>
              </a:rPr>
              <a:t>The mass balance for metabolites in the community space (termed community metabolites) is described as:</a:t>
            </a:r>
            <a:endParaRPr lang="en-US" sz="1800" dirty="0"/>
          </a:p>
        </p:txBody>
      </p:sp>
      <p:pic>
        <p:nvPicPr>
          <p:cNvPr id="5" name="Picture 4">
            <a:extLst>
              <a:ext uri="{FF2B5EF4-FFF2-40B4-BE49-F238E27FC236}">
                <a16:creationId xmlns:a16="http://schemas.microsoft.com/office/drawing/2014/main" id="{29C890E4-B6D0-46CB-9581-8CE15D0543BF}"/>
              </a:ext>
            </a:extLst>
          </p:cNvPr>
          <p:cNvPicPr>
            <a:picLocks noChangeAspect="1"/>
          </p:cNvPicPr>
          <p:nvPr/>
        </p:nvPicPr>
        <p:blipFill rotWithShape="1">
          <a:blip r:embed="rId2"/>
          <a:srcRect r="31783"/>
          <a:stretch/>
        </p:blipFill>
        <p:spPr>
          <a:xfrm>
            <a:off x="477314" y="2499283"/>
            <a:ext cx="4497022" cy="971686"/>
          </a:xfrm>
          <a:prstGeom prst="rect">
            <a:avLst/>
          </a:prstGeom>
        </p:spPr>
      </p:pic>
      <mc:AlternateContent xmlns:mc="http://schemas.openxmlformats.org/markup-compatibility/2006" xmlns:a14="http://schemas.microsoft.com/office/drawing/2010/main">
        <mc:Choice Requires="a14">
          <p:sp>
            <p:nvSpPr>
              <p:cNvPr id="6" name="Rectangle 1">
                <a:extLst>
                  <a:ext uri="{FF2B5EF4-FFF2-40B4-BE49-F238E27FC236}">
                    <a16:creationId xmlns:a16="http://schemas.microsoft.com/office/drawing/2014/main" id="{B219E4A4-245A-4592-BFE6-8C32305A67B3}"/>
                  </a:ext>
                </a:extLst>
              </p:cNvPr>
              <p:cNvSpPr>
                <a:spLocks noChangeArrowheads="1"/>
              </p:cNvSpPr>
              <p:nvPr/>
            </p:nvSpPr>
            <p:spPr bwMode="auto">
              <a:xfrm rot="10800000" flipV="1">
                <a:off x="5541264" y="2499283"/>
                <a:ext cx="6464808" cy="141577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1"/>
                    </a:solidFill>
                    <a:latin typeface="+mn-lt"/>
                  </a:rPr>
                  <a:t>w</a:t>
                </a:r>
                <a:r>
                  <a:rPr kumimoji="0" lang="en-US" altLang="en-US" sz="1200" b="0" i="0" u="none" strike="noStrike" cap="none" normalizeH="0" baseline="0" dirty="0">
                    <a:ln>
                      <a:noFill/>
                    </a:ln>
                    <a:solidFill>
                      <a:schemeClr val="tx1"/>
                    </a:solidFill>
                    <a:effectLst/>
                    <a:latin typeface="+mn-lt"/>
                  </a:rPr>
                  <a:t>here,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mn-lt"/>
                  </a:rPr>
                  <a:t>ex</a:t>
                </a:r>
                <a:r>
                  <a:rPr kumimoji="0" lang="en-US" altLang="en-US" sz="1200" b="1" i="0" u="none" strike="noStrike" cap="none" normalizeH="0" baseline="0" dirty="0">
                    <a:ln>
                      <a:noFill/>
                    </a:ln>
                    <a:solidFill>
                      <a:schemeClr val="tx1"/>
                    </a:solidFill>
                    <a:effectLst/>
                    <a:latin typeface="+mn-lt"/>
                  </a:rPr>
                  <a:t>(</a:t>
                </a:r>
                <a:r>
                  <a:rPr kumimoji="0" lang="en-US" altLang="en-US" sz="1200" b="1" i="1" u="none" strike="noStrike" cap="none" normalizeH="0" baseline="0" dirty="0" err="1">
                    <a:ln>
                      <a:noFill/>
                    </a:ln>
                    <a:solidFill>
                      <a:schemeClr val="tx1"/>
                    </a:solidFill>
                    <a:effectLst/>
                    <a:latin typeface="+mn-lt"/>
                  </a:rPr>
                  <a:t>i</a:t>
                </a:r>
                <a:r>
                  <a:rPr kumimoji="0" lang="en-US" altLang="en-US" sz="1200" b="1" i="0" u="none" strike="noStrike" cap="none" normalizeH="0" baseline="0" dirty="0">
                    <a:ln>
                      <a:noFill/>
                    </a:ln>
                    <a:solidFill>
                      <a:schemeClr val="tx1"/>
                    </a:solidFill>
                    <a:effectLst/>
                    <a:latin typeface="+mn-lt"/>
                  </a:rPr>
                  <a:t>) </a:t>
                </a:r>
                <a:r>
                  <a:rPr kumimoji="0" lang="en-US" altLang="en-US" sz="1200" b="0" i="0" u="none" strike="noStrike" cap="none" normalizeH="0" baseline="0" dirty="0">
                    <a:ln>
                      <a:noFill/>
                    </a:ln>
                    <a:solidFill>
                      <a:schemeClr val="tx1"/>
                    </a:solidFill>
                    <a:effectLst/>
                    <a:latin typeface="+mn-lt"/>
                  </a:rPr>
                  <a:t>in </a:t>
                </a:r>
                <a:r>
                  <a:rPr kumimoji="0" lang="en-US" altLang="en-US" sz="1200" b="1" i="0" u="none" strike="noStrike" cap="none" normalizeH="0" baseline="0" dirty="0">
                    <a:ln>
                      <a:noFill/>
                    </a:ln>
                    <a:solidFill>
                      <a:schemeClr val="tx1"/>
                    </a:solidFill>
                    <a:effectLst/>
                    <a:latin typeface="+mn-lt"/>
                  </a:rPr>
                  <a:t>J</a:t>
                </a:r>
                <a:r>
                  <a:rPr kumimoji="0" lang="en-US" altLang="en-US" sz="1200" b="0" i="0" u="none" strike="noStrike" cap="none" normalizeH="0" baseline="0" dirty="0">
                    <a:ln>
                      <a:noFill/>
                    </a:ln>
                    <a:solidFill>
                      <a:schemeClr val="tx1"/>
                    </a:solidFill>
                    <a:effectLst/>
                    <a:latin typeface="+mn-lt"/>
                  </a:rPr>
                  <a:t> </a:t>
                </a:r>
                <a:r>
                  <a:rPr kumimoji="0" lang="en-US" altLang="en-US" sz="1200" b="0" i="1" u="none" strike="noStrike" cap="none" normalizeH="0" baseline="30000" dirty="0">
                    <a:ln>
                      <a:noFill/>
                    </a:ln>
                    <a:solidFill>
                      <a:schemeClr val="tx1"/>
                    </a:solidFill>
                    <a:effectLst/>
                    <a:latin typeface="+mn-lt"/>
                  </a:rPr>
                  <a:t>k</a:t>
                </a:r>
                <a:r>
                  <a:rPr kumimoji="0" lang="en-US" altLang="en-US" sz="1200" b="0" i="0" u="none" strike="noStrike" cap="none" normalizeH="0" baseline="0" dirty="0">
                    <a:ln>
                      <a:noFill/>
                    </a:ln>
                    <a:solidFill>
                      <a:schemeClr val="tx1"/>
                    </a:solidFill>
                    <a:effectLst/>
                    <a:latin typeface="+mn-lt"/>
                  </a:rPr>
                  <a:t> is the index of the exchange reaction for community metabolite </a:t>
                </a:r>
                <a:r>
                  <a:rPr kumimoji="0" lang="en-US" altLang="en-US" sz="1200" b="0" i="1" u="none" strike="noStrike" cap="none" normalizeH="0" baseline="0" dirty="0" err="1">
                    <a:ln>
                      <a:noFill/>
                    </a:ln>
                    <a:solidFill>
                      <a:schemeClr val="tx1"/>
                    </a:solidFill>
                    <a:effectLst/>
                    <a:latin typeface="+mn-lt"/>
                  </a:rPr>
                  <a:t>i</a:t>
                </a:r>
                <a:r>
                  <a:rPr kumimoji="0" lang="en-US" altLang="en-US" sz="1200" b="0" i="0" u="none" strike="noStrike" cap="none" normalizeH="0" baseline="0" dirty="0">
                    <a:ln>
                      <a:noFill/>
                    </a:ln>
                    <a:solidFill>
                      <a:schemeClr val="tx1"/>
                    </a:solidFill>
                    <a:effectLst/>
                    <a:latin typeface="+mn-lt"/>
                  </a:rPr>
                  <a:t> in organism </a:t>
                </a:r>
                <a:r>
                  <a:rPr kumimoji="0" lang="en-US" altLang="en-US" sz="1200" b="0" i="1" u="none" strike="noStrike" cap="none" normalizeH="0" baseline="0" dirty="0">
                    <a:ln>
                      <a:noFill/>
                    </a:ln>
                    <a:solidFill>
                      <a:schemeClr val="tx1"/>
                    </a:solidFill>
                    <a:effectLst/>
                    <a:latin typeface="+mn-lt"/>
                  </a:rPr>
                  <a:t>k</a:t>
                </a:r>
                <a:endParaRPr lang="en-US" altLang="en-US" sz="1200" dirty="0">
                  <a:solidFill>
                    <a:schemeClr val="tx1"/>
                  </a:solidFill>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a:p>
                <a:pPr lvl="0"/>
                <a14:m>
                  <m:oMath xmlns:m="http://schemas.openxmlformats.org/officeDocument/2006/math">
                    <m:sSubSup>
                      <m:sSubSupPr>
                        <m:ctrlPr>
                          <a:rPr kumimoji="0" lang="en-US" altLang="en-US" sz="1200" b="1" i="1" u="none" strike="noStrike" cap="none" normalizeH="0" baseline="0" smtClean="0">
                            <a:ln>
                              <a:noFill/>
                            </a:ln>
                            <a:solidFill>
                              <a:schemeClr val="tx1"/>
                            </a:solidFill>
                            <a:effectLst/>
                            <a:latin typeface="Cambria Math" panose="02040503050406030204" pitchFamily="18" charset="0"/>
                          </a:rPr>
                        </m:ctrlPr>
                      </m:sSubSupPr>
                      <m:e>
                        <m:r>
                          <a:rPr kumimoji="0" lang="en-US" altLang="en-US" sz="1200" b="1" i="1" u="none" strike="noStrike" cap="none" normalizeH="0" baseline="0" smtClean="0">
                            <a:ln>
                              <a:noFill/>
                            </a:ln>
                            <a:solidFill>
                              <a:schemeClr val="tx1"/>
                            </a:solidFill>
                            <a:effectLst/>
                            <a:latin typeface="Cambria Math" panose="02040503050406030204" pitchFamily="18" charset="0"/>
                          </a:rPr>
                          <m:t>𝒖</m:t>
                        </m:r>
                      </m:e>
                      <m:sub>
                        <m:r>
                          <a:rPr kumimoji="0" lang="en-US" altLang="en-US" sz="1200" b="1" i="1" u="none" strike="noStrike" cap="none" normalizeH="0" baseline="0" smtClean="0">
                            <a:ln>
                              <a:noFill/>
                            </a:ln>
                            <a:solidFill>
                              <a:schemeClr val="tx1"/>
                            </a:solidFill>
                            <a:effectLst/>
                            <a:latin typeface="Cambria Math" panose="02040503050406030204" pitchFamily="18" charset="0"/>
                          </a:rPr>
                          <m:t>𝒊</m:t>
                        </m:r>
                      </m:sub>
                      <m:sup>
                        <m:r>
                          <a:rPr kumimoji="0" lang="en-US" altLang="en-US" sz="1200" b="1" i="1" u="none" strike="noStrike" cap="none" normalizeH="0" baseline="0" smtClean="0">
                            <a:ln>
                              <a:noFill/>
                            </a:ln>
                            <a:solidFill>
                              <a:schemeClr val="tx1"/>
                            </a:solidFill>
                            <a:effectLst/>
                            <a:latin typeface="Cambria Math" panose="02040503050406030204" pitchFamily="18" charset="0"/>
                          </a:rPr>
                          <m:t>𝒄</m:t>
                        </m:r>
                      </m:sup>
                    </m:sSubSup>
                  </m:oMath>
                </a14:m>
                <a:r>
                  <a:rPr kumimoji="0" lang="en-US" altLang="en-US" sz="1200" b="1" i="0" u="none" strike="noStrike" cap="none" normalizeH="0" baseline="0" dirty="0">
                    <a:ln>
                      <a:noFill/>
                    </a:ln>
                    <a:solidFill>
                      <a:schemeClr val="tx1"/>
                    </a:solidFill>
                    <a:effectLst/>
                    <a:latin typeface="+mn-lt"/>
                  </a:rPr>
                  <a:t> </a:t>
                </a:r>
                <a:r>
                  <a:rPr kumimoji="0" lang="en-US" altLang="en-US" sz="1200" b="0" i="0" u="none" strike="noStrike" cap="none" normalizeH="0" baseline="0" dirty="0">
                    <a:ln>
                      <a:noFill/>
                    </a:ln>
                    <a:solidFill>
                      <a:schemeClr val="tx1"/>
                    </a:solidFill>
                    <a:effectLst/>
                    <a:latin typeface="+mn-lt"/>
                  </a:rPr>
                  <a:t>and </a:t>
                </a:r>
                <a14:m>
                  <m:oMath xmlns:m="http://schemas.openxmlformats.org/officeDocument/2006/math">
                    <m:sSubSup>
                      <m:sSubSupPr>
                        <m:ctrlPr>
                          <a:rPr kumimoji="0" lang="en-US" altLang="en-US" sz="1200" b="1" i="1" u="none" strike="noStrike" cap="none" normalizeH="0" baseline="0" smtClean="0">
                            <a:ln>
                              <a:noFill/>
                            </a:ln>
                            <a:solidFill>
                              <a:schemeClr val="tx1"/>
                            </a:solidFill>
                            <a:effectLst/>
                            <a:latin typeface="Cambria Math" panose="02040503050406030204" pitchFamily="18" charset="0"/>
                          </a:rPr>
                        </m:ctrlPr>
                      </m:sSubSupPr>
                      <m:e>
                        <m:r>
                          <a:rPr kumimoji="0" lang="en-US" altLang="en-US" sz="1200" b="1" i="1" u="none" strike="noStrike" cap="none" normalizeH="0" baseline="0" smtClean="0">
                            <a:ln>
                              <a:noFill/>
                            </a:ln>
                            <a:solidFill>
                              <a:schemeClr val="tx1"/>
                            </a:solidFill>
                            <a:effectLst/>
                            <a:latin typeface="Cambria Math" panose="02040503050406030204" pitchFamily="18" charset="0"/>
                          </a:rPr>
                          <m:t>𝒆</m:t>
                        </m:r>
                      </m:e>
                      <m:sub>
                        <m:r>
                          <a:rPr kumimoji="0" lang="en-US" altLang="en-US" sz="1200" b="1" i="1" u="none" strike="noStrike" cap="none" normalizeH="0" baseline="0" smtClean="0">
                            <a:ln>
                              <a:noFill/>
                            </a:ln>
                            <a:solidFill>
                              <a:schemeClr val="tx1"/>
                            </a:solidFill>
                            <a:effectLst/>
                            <a:latin typeface="Cambria Math" panose="02040503050406030204" pitchFamily="18" charset="0"/>
                          </a:rPr>
                          <m:t>𝒊</m:t>
                        </m:r>
                      </m:sub>
                      <m:sup>
                        <m:r>
                          <a:rPr kumimoji="0" lang="en-US" altLang="en-US" sz="1200" b="1" i="1" u="none" strike="noStrike" cap="none" normalizeH="0" baseline="0" smtClean="0">
                            <a:ln>
                              <a:noFill/>
                            </a:ln>
                            <a:solidFill>
                              <a:schemeClr val="tx1"/>
                            </a:solidFill>
                            <a:effectLst/>
                            <a:latin typeface="Cambria Math" panose="02040503050406030204" pitchFamily="18" charset="0"/>
                          </a:rPr>
                          <m:t>𝒄</m:t>
                        </m:r>
                      </m:sup>
                    </m:sSubSup>
                  </m:oMath>
                </a14:m>
                <a:r>
                  <a:rPr kumimoji="0" lang="en-US" altLang="en-US" sz="1200" b="1" i="0" u="none" strike="noStrike" cap="none" normalizeH="0" baseline="0" dirty="0">
                    <a:ln>
                      <a:noFill/>
                    </a:ln>
                    <a:solidFill>
                      <a:schemeClr val="tx1"/>
                    </a:solidFill>
                    <a:effectLst/>
                    <a:latin typeface="+mn-lt"/>
                  </a:rPr>
                  <a:t> </a:t>
                </a:r>
                <a:r>
                  <a:rPr kumimoji="0" lang="en-US" altLang="en-US" sz="1200" b="0" i="0" u="none" strike="noStrike" cap="none" normalizeH="0" baseline="0" dirty="0">
                    <a:ln>
                      <a:noFill/>
                    </a:ln>
                    <a:solidFill>
                      <a:schemeClr val="tx1"/>
                    </a:solidFill>
                    <a:effectLst/>
                    <a:latin typeface="+mn-lt"/>
                  </a:rPr>
                  <a:t>are the community uptake and export rates respectively</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dirty="0">
                  <a:solidFill>
                    <a:schemeClr val="tx1"/>
                  </a:solidFill>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mn-lt"/>
                  </a:rPr>
                  <a:t>I</a:t>
                </a:r>
                <a:r>
                  <a:rPr kumimoji="0" lang="en-US" altLang="en-US" sz="1200" b="0" i="0" u="none" strike="noStrike" cap="none" normalizeH="0" baseline="0" dirty="0">
                    <a:ln>
                      <a:noFill/>
                    </a:ln>
                    <a:solidFill>
                      <a:schemeClr val="tx1"/>
                    </a:solidFill>
                    <a:effectLst/>
                    <a:latin typeface="+mn-lt"/>
                  </a:rPr>
                  <a:t> </a:t>
                </a:r>
                <a:r>
                  <a:rPr kumimoji="0" lang="en-US" altLang="en-US" sz="1200" b="0" i="1" u="none" strike="noStrike" cap="none" normalizeH="0" baseline="30000" dirty="0">
                    <a:ln>
                      <a:noFill/>
                    </a:ln>
                    <a:solidFill>
                      <a:schemeClr val="tx1"/>
                    </a:solidFill>
                    <a:effectLst/>
                    <a:latin typeface="+mn-lt"/>
                  </a:rPr>
                  <a:t>com</a:t>
                </a:r>
                <a:r>
                  <a:rPr kumimoji="0" lang="en-US" altLang="en-US" sz="1200" b="0" i="0" u="none" strike="noStrike" cap="none" normalizeH="0" baseline="0" dirty="0">
                    <a:ln>
                      <a:noFill/>
                    </a:ln>
                    <a:solidFill>
                      <a:schemeClr val="tx1"/>
                    </a:solidFill>
                    <a:effectLst/>
                    <a:latin typeface="+mn-lt"/>
                  </a:rPr>
                  <a:t> is the set of shared community metabolites.  </a:t>
                </a:r>
              </a:p>
            </p:txBody>
          </p:sp>
        </mc:Choice>
        <mc:Fallback xmlns="">
          <p:sp>
            <p:nvSpPr>
              <p:cNvPr id="6" name="Rectangle 1">
                <a:extLst>
                  <a:ext uri="{FF2B5EF4-FFF2-40B4-BE49-F238E27FC236}">
                    <a16:creationId xmlns:a16="http://schemas.microsoft.com/office/drawing/2014/main" id="{B219E4A4-245A-4592-BFE6-8C32305A67B3}"/>
                  </a:ext>
                </a:extLst>
              </p:cNvPr>
              <p:cNvSpPr>
                <a:spLocks noRot="1" noChangeAspect="1" noMove="1" noResize="1" noEditPoints="1" noAdjustHandles="1" noChangeArrowheads="1" noChangeShapeType="1" noTextEdit="1"/>
              </p:cNvSpPr>
              <p:nvPr/>
            </p:nvSpPr>
            <p:spPr bwMode="auto">
              <a:xfrm rot="10800000" flipV="1">
                <a:off x="5541264" y="2499283"/>
                <a:ext cx="6464808" cy="1415772"/>
              </a:xfrm>
              <a:prstGeom prst="rect">
                <a:avLst/>
              </a:prstGeom>
              <a:blipFill>
                <a:blip r:embed="rId3"/>
                <a:stretch>
                  <a:fillRect b="-2155"/>
                </a:stretch>
              </a:blipFill>
              <a:ln>
                <a:noFill/>
              </a:ln>
              <a:effectLst/>
            </p:spPr>
            <p:txBody>
              <a:bodyPr/>
              <a:lstStyle/>
              <a:p>
                <a:r>
                  <a:rPr lang="en-US">
                    <a:noFill/>
                  </a:rPr>
                  <a:t> </a:t>
                </a:r>
              </a:p>
            </p:txBody>
          </p:sp>
        </mc:Fallback>
      </mc:AlternateContent>
      <p:sp>
        <p:nvSpPr>
          <p:cNvPr id="7" name="TextBox 6">
            <a:extLst>
              <a:ext uri="{FF2B5EF4-FFF2-40B4-BE49-F238E27FC236}">
                <a16:creationId xmlns:a16="http://schemas.microsoft.com/office/drawing/2014/main" id="{700AB6DE-F1B9-469A-9B0B-13F3AEC5FF95}"/>
              </a:ext>
            </a:extLst>
          </p:cNvPr>
          <p:cNvSpPr txBox="1"/>
          <p:nvPr/>
        </p:nvSpPr>
        <p:spPr>
          <a:xfrm>
            <a:off x="4830987" y="2800460"/>
            <a:ext cx="442750" cy="369332"/>
          </a:xfrm>
          <a:prstGeom prst="rect">
            <a:avLst/>
          </a:prstGeom>
          <a:noFill/>
        </p:spPr>
        <p:txBody>
          <a:bodyPr wrap="none" rtlCol="0">
            <a:spAutoFit/>
          </a:bodyPr>
          <a:lstStyle/>
          <a:p>
            <a:r>
              <a:rPr lang="en-US" dirty="0"/>
              <a:t>(3)</a:t>
            </a:r>
          </a:p>
        </p:txBody>
      </p:sp>
      <p:sp>
        <p:nvSpPr>
          <p:cNvPr id="8" name="TextBox 7">
            <a:extLst>
              <a:ext uri="{FF2B5EF4-FFF2-40B4-BE49-F238E27FC236}">
                <a16:creationId xmlns:a16="http://schemas.microsoft.com/office/drawing/2014/main" id="{5D04EDC3-1CA6-44A0-A40A-40822EFA8B4D}"/>
              </a:ext>
            </a:extLst>
          </p:cNvPr>
          <p:cNvSpPr txBox="1"/>
          <p:nvPr/>
        </p:nvSpPr>
        <p:spPr>
          <a:xfrm>
            <a:off x="207264" y="4216233"/>
            <a:ext cx="11777472" cy="646331"/>
          </a:xfrm>
          <a:prstGeom prst="rect">
            <a:avLst/>
          </a:prstGeom>
          <a:noFill/>
        </p:spPr>
        <p:txBody>
          <a:bodyPr wrap="square" rtlCol="0">
            <a:spAutoFit/>
          </a:bodyPr>
          <a:lstStyle/>
          <a:p>
            <a:pPr marL="285750" indent="-285750">
              <a:buFont typeface="Arial" panose="020B0604020202020204" pitchFamily="34" charset="0"/>
              <a:buChar char="•"/>
            </a:pPr>
            <a:r>
              <a:rPr lang="en-US" b="0" i="0" dirty="0">
                <a:effectLst/>
              </a:rPr>
              <a:t>The objective function for the community model is defined so as to include the sum of the biomass fluxes for each organism:</a:t>
            </a:r>
            <a:endParaRPr lang="en-US" dirty="0"/>
          </a:p>
        </p:txBody>
      </p:sp>
      <p:pic>
        <p:nvPicPr>
          <p:cNvPr id="10" name="Picture 9">
            <a:extLst>
              <a:ext uri="{FF2B5EF4-FFF2-40B4-BE49-F238E27FC236}">
                <a16:creationId xmlns:a16="http://schemas.microsoft.com/office/drawing/2014/main" id="{694044B4-5A1C-4C17-BEC5-31B881C3E3B0}"/>
              </a:ext>
            </a:extLst>
          </p:cNvPr>
          <p:cNvPicPr>
            <a:picLocks noChangeAspect="1"/>
          </p:cNvPicPr>
          <p:nvPr/>
        </p:nvPicPr>
        <p:blipFill>
          <a:blip r:embed="rId4"/>
          <a:stretch>
            <a:fillRect/>
          </a:stretch>
        </p:blipFill>
        <p:spPr>
          <a:xfrm>
            <a:off x="506190" y="5204499"/>
            <a:ext cx="2219635" cy="1028844"/>
          </a:xfrm>
          <a:prstGeom prst="rect">
            <a:avLst/>
          </a:prstGeom>
        </p:spPr>
      </p:pic>
      <p:sp>
        <p:nvSpPr>
          <p:cNvPr id="11" name="TextBox 10">
            <a:extLst>
              <a:ext uri="{FF2B5EF4-FFF2-40B4-BE49-F238E27FC236}">
                <a16:creationId xmlns:a16="http://schemas.microsoft.com/office/drawing/2014/main" id="{9FEDBA7E-E9B3-4F60-AB5C-C06214193EC4}"/>
              </a:ext>
            </a:extLst>
          </p:cNvPr>
          <p:cNvSpPr txBox="1"/>
          <p:nvPr/>
        </p:nvSpPr>
        <p:spPr>
          <a:xfrm>
            <a:off x="2871123" y="5534255"/>
            <a:ext cx="442750" cy="369332"/>
          </a:xfrm>
          <a:prstGeom prst="rect">
            <a:avLst/>
          </a:prstGeom>
          <a:noFill/>
        </p:spPr>
        <p:txBody>
          <a:bodyPr wrap="none" rtlCol="0">
            <a:spAutoFit/>
          </a:bodyPr>
          <a:lstStyle/>
          <a:p>
            <a:r>
              <a:rPr lang="en-US" dirty="0"/>
              <a:t>(4)</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55557EF-6EEC-4A65-BE75-9AA47AF7A3BC}"/>
                  </a:ext>
                </a:extLst>
              </p:cNvPr>
              <p:cNvSpPr txBox="1"/>
              <p:nvPr/>
            </p:nvSpPr>
            <p:spPr>
              <a:xfrm>
                <a:off x="5273737" y="5032924"/>
                <a:ext cx="5629749" cy="872226"/>
              </a:xfrm>
              <a:prstGeom prst="rect">
                <a:avLst/>
              </a:prstGeom>
              <a:noFill/>
            </p:spPr>
            <p:txBody>
              <a:bodyPr wrap="square" rtlCol="0">
                <a:spAutoFit/>
              </a:bodyPr>
              <a:lstStyle/>
              <a:p>
                <a:r>
                  <a:rPr lang="en-US" sz="1600" dirty="0"/>
                  <a:t>where,</a:t>
                </a:r>
              </a:p>
              <a:p>
                <a:endParaRPr lang="en-US" sz="1600" dirty="0"/>
              </a:p>
              <a:p>
                <a14:m>
                  <m:oMath xmlns:m="http://schemas.openxmlformats.org/officeDocument/2006/math">
                    <m:sSup>
                      <m:sSupPr>
                        <m:ctrlPr>
                          <a:rPr lang="en-US" sz="1600" b="1" i="1" smtClean="0">
                            <a:latin typeface="Cambria Math" panose="02040503050406030204" pitchFamily="18" charset="0"/>
                          </a:rPr>
                        </m:ctrlPr>
                      </m:sSupPr>
                      <m:e>
                        <m:r>
                          <a:rPr lang="en-US" sz="1600" b="1" i="1" smtClean="0">
                            <a:latin typeface="Cambria Math" panose="02040503050406030204" pitchFamily="18" charset="0"/>
                            <a:ea typeface="Cambria Math" panose="02040503050406030204" pitchFamily="18" charset="0"/>
                          </a:rPr>
                          <m:t>𝜶</m:t>
                        </m:r>
                      </m:e>
                      <m:sup>
                        <m:r>
                          <a:rPr lang="en-US" sz="1600" b="1" i="1" smtClean="0">
                            <a:latin typeface="Cambria Math" panose="02040503050406030204" pitchFamily="18" charset="0"/>
                          </a:rPr>
                          <m:t>𝒌</m:t>
                        </m:r>
                      </m:sup>
                    </m:sSup>
                  </m:oMath>
                </a14:m>
                <a:r>
                  <a:rPr lang="en-US" sz="1600" b="1" dirty="0"/>
                  <a:t> </a:t>
                </a:r>
                <a:r>
                  <a:rPr lang="en-US" sz="1600" dirty="0"/>
                  <a:t>is the objective coefficient for the biomass flux of organism </a:t>
                </a:r>
                <a:r>
                  <a:rPr lang="en-US" sz="1600" i="1" dirty="0"/>
                  <a:t>k</a:t>
                </a:r>
                <a:r>
                  <a:rPr lang="en-US" sz="1600" dirty="0"/>
                  <a:t>.</a:t>
                </a:r>
              </a:p>
            </p:txBody>
          </p:sp>
        </mc:Choice>
        <mc:Fallback xmlns="">
          <p:sp>
            <p:nvSpPr>
              <p:cNvPr id="12" name="TextBox 11">
                <a:extLst>
                  <a:ext uri="{FF2B5EF4-FFF2-40B4-BE49-F238E27FC236}">
                    <a16:creationId xmlns:a16="http://schemas.microsoft.com/office/drawing/2014/main" id="{155557EF-6EEC-4A65-BE75-9AA47AF7A3BC}"/>
                  </a:ext>
                </a:extLst>
              </p:cNvPr>
              <p:cNvSpPr txBox="1">
                <a:spLocks noRot="1" noChangeAspect="1" noMove="1" noResize="1" noEditPoints="1" noAdjustHandles="1" noChangeArrowheads="1" noChangeShapeType="1" noTextEdit="1"/>
              </p:cNvSpPr>
              <p:nvPr/>
            </p:nvSpPr>
            <p:spPr>
              <a:xfrm>
                <a:off x="5273737" y="5032924"/>
                <a:ext cx="5629749" cy="872226"/>
              </a:xfrm>
              <a:prstGeom prst="rect">
                <a:avLst/>
              </a:prstGeom>
              <a:blipFill>
                <a:blip r:embed="rId5"/>
                <a:stretch>
                  <a:fillRect l="-541" t="-2098" b="-4895"/>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16CE22E7-AC99-4429-A179-FAFCBA39D972}"/>
              </a:ext>
            </a:extLst>
          </p:cNvPr>
          <p:cNvSpPr txBox="1"/>
          <p:nvPr/>
        </p:nvSpPr>
        <p:spPr>
          <a:xfrm>
            <a:off x="399288" y="6195262"/>
            <a:ext cx="11478768" cy="369332"/>
          </a:xfrm>
          <a:prstGeom prst="rect">
            <a:avLst/>
          </a:prstGeom>
          <a:noFill/>
        </p:spPr>
        <p:txBody>
          <a:bodyPr wrap="square">
            <a:spAutoFit/>
          </a:bodyPr>
          <a:lstStyle/>
          <a:p>
            <a:r>
              <a:rPr lang="en-US" b="1" dirty="0" err="1"/>
              <a:t>Eqs</a:t>
            </a:r>
            <a:r>
              <a:rPr lang="en-US" b="1" dirty="0"/>
              <a:t> (1)–(4) form the </a:t>
            </a:r>
            <a:r>
              <a:rPr lang="en-US" b="1" u="sng" dirty="0"/>
              <a:t>joint FBA </a:t>
            </a:r>
            <a:r>
              <a:rPr lang="en-US" b="1" dirty="0"/>
              <a:t>optimization formulation for assessing the metabolic flows in microbial communities.</a:t>
            </a:r>
          </a:p>
        </p:txBody>
      </p:sp>
    </p:spTree>
    <p:extLst>
      <p:ext uri="{BB962C8B-B14F-4D97-AF65-F5344CB8AC3E}">
        <p14:creationId xmlns:p14="http://schemas.microsoft.com/office/powerpoint/2010/main" val="189923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8490C-5027-4001-AF69-150B39AF60D4}"/>
              </a:ext>
            </a:extLst>
          </p:cNvPr>
          <p:cNvSpPr>
            <a:spLocks noGrp="1"/>
          </p:cNvSpPr>
          <p:nvPr>
            <p:ph type="title"/>
          </p:nvPr>
        </p:nvSpPr>
        <p:spPr>
          <a:xfrm>
            <a:off x="573024" y="198853"/>
            <a:ext cx="10515600" cy="951611"/>
          </a:xfrm>
        </p:spPr>
        <p:txBody>
          <a:bodyPr/>
          <a:lstStyle/>
          <a:p>
            <a:r>
              <a:rPr lang="en-US" b="1" dirty="0"/>
              <a:t>Joint FBA: Problems</a:t>
            </a:r>
            <a:endParaRPr lang="en-US" dirty="0"/>
          </a:p>
        </p:txBody>
      </p:sp>
      <p:sp>
        <p:nvSpPr>
          <p:cNvPr id="3" name="Content Placeholder 2">
            <a:extLst>
              <a:ext uri="{FF2B5EF4-FFF2-40B4-BE49-F238E27FC236}">
                <a16:creationId xmlns:a16="http://schemas.microsoft.com/office/drawing/2014/main" id="{EE9A4D94-9A43-4C40-A907-913FB728D8A1}"/>
              </a:ext>
            </a:extLst>
          </p:cNvPr>
          <p:cNvSpPr>
            <a:spLocks noGrp="1"/>
          </p:cNvSpPr>
          <p:nvPr>
            <p:ph idx="1"/>
          </p:nvPr>
        </p:nvSpPr>
        <p:spPr>
          <a:xfrm>
            <a:off x="477314" y="1192433"/>
            <a:ext cx="10876486" cy="621791"/>
          </a:xfrm>
        </p:spPr>
        <p:txBody>
          <a:bodyPr>
            <a:normAutofit/>
          </a:bodyPr>
          <a:lstStyle/>
          <a:p>
            <a:pPr marL="0" indent="0">
              <a:buNone/>
            </a:pPr>
            <a:r>
              <a:rPr lang="en-US" sz="1800" b="1" dirty="0"/>
              <a:t>Problem 1: </a:t>
            </a:r>
            <a:r>
              <a:rPr lang="en-US" sz="1800" dirty="0"/>
              <a:t>Eq (3) implicitly assumes that each species has an identical biomass or relative abundance by modeling the metabolite exchange in the community space as the direct sum of the specific rates of individual organisms. </a:t>
            </a:r>
          </a:p>
        </p:txBody>
      </p:sp>
      <p:pic>
        <p:nvPicPr>
          <p:cNvPr id="4" name="Picture 3">
            <a:extLst>
              <a:ext uri="{FF2B5EF4-FFF2-40B4-BE49-F238E27FC236}">
                <a16:creationId xmlns:a16="http://schemas.microsoft.com/office/drawing/2014/main" id="{50B12050-693A-4D31-8881-1672A417DD3A}"/>
              </a:ext>
            </a:extLst>
          </p:cNvPr>
          <p:cNvPicPr>
            <a:picLocks noChangeAspect="1"/>
          </p:cNvPicPr>
          <p:nvPr/>
        </p:nvPicPr>
        <p:blipFill rotWithShape="1">
          <a:blip r:embed="rId2"/>
          <a:srcRect r="31783"/>
          <a:stretch/>
        </p:blipFill>
        <p:spPr>
          <a:xfrm>
            <a:off x="477314" y="1856193"/>
            <a:ext cx="4497022" cy="971686"/>
          </a:xfrm>
          <a:prstGeom prst="rect">
            <a:avLst/>
          </a:prstGeom>
        </p:spPr>
      </p:pic>
      <mc:AlternateContent xmlns:mc="http://schemas.openxmlformats.org/markup-compatibility/2006" xmlns:a14="http://schemas.microsoft.com/office/drawing/2010/main">
        <mc:Choice Requires="a14">
          <p:sp>
            <p:nvSpPr>
              <p:cNvPr id="5" name="Rectangle 1">
                <a:extLst>
                  <a:ext uri="{FF2B5EF4-FFF2-40B4-BE49-F238E27FC236}">
                    <a16:creationId xmlns:a16="http://schemas.microsoft.com/office/drawing/2014/main" id="{9928E906-2AF3-4975-94DF-5182B41783F3}"/>
                  </a:ext>
                </a:extLst>
              </p:cNvPr>
              <p:cNvSpPr>
                <a:spLocks noChangeArrowheads="1"/>
              </p:cNvSpPr>
              <p:nvPr/>
            </p:nvSpPr>
            <p:spPr bwMode="auto">
              <a:xfrm rot="10800000" flipV="1">
                <a:off x="5541264" y="1856193"/>
                <a:ext cx="6464808" cy="141577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solidFill>
                      <a:schemeClr val="tx1"/>
                    </a:solidFill>
                    <a:latin typeface="+mn-lt"/>
                  </a:rPr>
                  <a:t>w</a:t>
                </a:r>
                <a:r>
                  <a:rPr kumimoji="0" lang="en-US" altLang="en-US" sz="1200" b="0" i="0" u="none" strike="noStrike" cap="none" normalizeH="0" baseline="0" dirty="0">
                    <a:ln>
                      <a:noFill/>
                    </a:ln>
                    <a:solidFill>
                      <a:schemeClr val="tx1"/>
                    </a:solidFill>
                    <a:effectLst/>
                    <a:latin typeface="+mn-lt"/>
                  </a:rPr>
                  <a:t>here,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dirty="0">
                    <a:ln>
                      <a:noFill/>
                    </a:ln>
                    <a:solidFill>
                      <a:schemeClr val="tx1"/>
                    </a:solidFill>
                    <a:effectLst/>
                    <a:latin typeface="+mn-lt"/>
                  </a:rPr>
                  <a:t>ex</a:t>
                </a:r>
                <a:r>
                  <a:rPr kumimoji="0" lang="en-US" altLang="en-US" sz="1200" b="1" i="0" u="none" strike="noStrike" cap="none" normalizeH="0" baseline="0" dirty="0">
                    <a:ln>
                      <a:noFill/>
                    </a:ln>
                    <a:solidFill>
                      <a:schemeClr val="tx1"/>
                    </a:solidFill>
                    <a:effectLst/>
                    <a:latin typeface="+mn-lt"/>
                  </a:rPr>
                  <a:t>(</a:t>
                </a:r>
                <a:r>
                  <a:rPr kumimoji="0" lang="en-US" altLang="en-US" sz="1200" b="1" i="1" u="none" strike="noStrike" cap="none" normalizeH="0" baseline="0" dirty="0" err="1">
                    <a:ln>
                      <a:noFill/>
                    </a:ln>
                    <a:solidFill>
                      <a:schemeClr val="tx1"/>
                    </a:solidFill>
                    <a:effectLst/>
                    <a:latin typeface="+mn-lt"/>
                  </a:rPr>
                  <a:t>i</a:t>
                </a:r>
                <a:r>
                  <a:rPr kumimoji="0" lang="en-US" altLang="en-US" sz="1200" b="1" i="0" u="none" strike="noStrike" cap="none" normalizeH="0" baseline="0" dirty="0">
                    <a:ln>
                      <a:noFill/>
                    </a:ln>
                    <a:solidFill>
                      <a:schemeClr val="tx1"/>
                    </a:solidFill>
                    <a:effectLst/>
                    <a:latin typeface="+mn-lt"/>
                  </a:rPr>
                  <a:t>) </a:t>
                </a:r>
                <a:r>
                  <a:rPr kumimoji="0" lang="en-US" altLang="en-US" sz="1200" b="0" i="0" u="none" strike="noStrike" cap="none" normalizeH="0" baseline="0" dirty="0">
                    <a:ln>
                      <a:noFill/>
                    </a:ln>
                    <a:solidFill>
                      <a:schemeClr val="tx1"/>
                    </a:solidFill>
                    <a:effectLst/>
                    <a:latin typeface="+mn-lt"/>
                  </a:rPr>
                  <a:t>in </a:t>
                </a:r>
                <a:r>
                  <a:rPr kumimoji="0" lang="en-US" altLang="en-US" sz="1200" b="1" i="0" u="none" strike="noStrike" cap="none" normalizeH="0" baseline="0" dirty="0">
                    <a:ln>
                      <a:noFill/>
                    </a:ln>
                    <a:solidFill>
                      <a:schemeClr val="tx1"/>
                    </a:solidFill>
                    <a:effectLst/>
                    <a:latin typeface="+mn-lt"/>
                  </a:rPr>
                  <a:t>J</a:t>
                </a:r>
                <a:r>
                  <a:rPr kumimoji="0" lang="en-US" altLang="en-US" sz="1200" b="0" i="0" u="none" strike="noStrike" cap="none" normalizeH="0" baseline="0" dirty="0">
                    <a:ln>
                      <a:noFill/>
                    </a:ln>
                    <a:solidFill>
                      <a:schemeClr val="tx1"/>
                    </a:solidFill>
                    <a:effectLst/>
                    <a:latin typeface="+mn-lt"/>
                  </a:rPr>
                  <a:t> </a:t>
                </a:r>
                <a:r>
                  <a:rPr kumimoji="0" lang="en-US" altLang="en-US" sz="1200" b="0" i="1" u="none" strike="noStrike" cap="none" normalizeH="0" baseline="30000" dirty="0">
                    <a:ln>
                      <a:noFill/>
                    </a:ln>
                    <a:solidFill>
                      <a:schemeClr val="tx1"/>
                    </a:solidFill>
                    <a:effectLst/>
                    <a:latin typeface="+mn-lt"/>
                  </a:rPr>
                  <a:t>k</a:t>
                </a:r>
                <a:r>
                  <a:rPr kumimoji="0" lang="en-US" altLang="en-US" sz="1200" b="0" i="0" u="none" strike="noStrike" cap="none" normalizeH="0" baseline="0" dirty="0">
                    <a:ln>
                      <a:noFill/>
                    </a:ln>
                    <a:solidFill>
                      <a:schemeClr val="tx1"/>
                    </a:solidFill>
                    <a:effectLst/>
                    <a:latin typeface="+mn-lt"/>
                  </a:rPr>
                  <a:t> is the index of the exchange reaction for community metabolite </a:t>
                </a:r>
                <a:r>
                  <a:rPr kumimoji="0" lang="en-US" altLang="en-US" sz="1200" b="0" i="1" u="none" strike="noStrike" cap="none" normalizeH="0" baseline="0" dirty="0" err="1">
                    <a:ln>
                      <a:noFill/>
                    </a:ln>
                    <a:solidFill>
                      <a:schemeClr val="tx1"/>
                    </a:solidFill>
                    <a:effectLst/>
                    <a:latin typeface="+mn-lt"/>
                  </a:rPr>
                  <a:t>i</a:t>
                </a:r>
                <a:r>
                  <a:rPr kumimoji="0" lang="en-US" altLang="en-US" sz="1200" b="0" i="0" u="none" strike="noStrike" cap="none" normalizeH="0" baseline="0" dirty="0">
                    <a:ln>
                      <a:noFill/>
                    </a:ln>
                    <a:solidFill>
                      <a:schemeClr val="tx1"/>
                    </a:solidFill>
                    <a:effectLst/>
                    <a:latin typeface="+mn-lt"/>
                  </a:rPr>
                  <a:t> in organism </a:t>
                </a:r>
                <a:r>
                  <a:rPr kumimoji="0" lang="en-US" altLang="en-US" sz="1200" b="0" i="1" u="none" strike="noStrike" cap="none" normalizeH="0" baseline="0" dirty="0">
                    <a:ln>
                      <a:noFill/>
                    </a:ln>
                    <a:solidFill>
                      <a:schemeClr val="tx1"/>
                    </a:solidFill>
                    <a:effectLst/>
                    <a:latin typeface="+mn-lt"/>
                  </a:rPr>
                  <a:t>k</a:t>
                </a:r>
                <a:endParaRPr lang="en-US" altLang="en-US" sz="1200" dirty="0">
                  <a:solidFill>
                    <a:schemeClr val="tx1"/>
                  </a:solidFill>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mn-lt"/>
                </a:endParaRPr>
              </a:p>
              <a:p>
                <a:pPr lvl="0"/>
                <a14:m>
                  <m:oMath xmlns:m="http://schemas.openxmlformats.org/officeDocument/2006/math">
                    <m:sSubSup>
                      <m:sSubSupPr>
                        <m:ctrlPr>
                          <a:rPr kumimoji="0" lang="en-US" altLang="en-US" sz="1200" b="1" i="1" u="none" strike="noStrike" cap="none" normalizeH="0" baseline="0" smtClean="0">
                            <a:ln>
                              <a:noFill/>
                            </a:ln>
                            <a:solidFill>
                              <a:schemeClr val="tx1"/>
                            </a:solidFill>
                            <a:effectLst/>
                            <a:latin typeface="Cambria Math" panose="02040503050406030204" pitchFamily="18" charset="0"/>
                          </a:rPr>
                        </m:ctrlPr>
                      </m:sSubSupPr>
                      <m:e>
                        <m:r>
                          <a:rPr kumimoji="0" lang="en-US" altLang="en-US" sz="1200" b="1" i="1" u="none" strike="noStrike" cap="none" normalizeH="0" baseline="0" smtClean="0">
                            <a:ln>
                              <a:noFill/>
                            </a:ln>
                            <a:solidFill>
                              <a:schemeClr val="tx1"/>
                            </a:solidFill>
                            <a:effectLst/>
                            <a:latin typeface="Cambria Math" panose="02040503050406030204" pitchFamily="18" charset="0"/>
                          </a:rPr>
                          <m:t>𝒖</m:t>
                        </m:r>
                      </m:e>
                      <m:sub>
                        <m:r>
                          <a:rPr kumimoji="0" lang="en-US" altLang="en-US" sz="1200" b="1" i="1" u="none" strike="noStrike" cap="none" normalizeH="0" baseline="0" smtClean="0">
                            <a:ln>
                              <a:noFill/>
                            </a:ln>
                            <a:solidFill>
                              <a:schemeClr val="tx1"/>
                            </a:solidFill>
                            <a:effectLst/>
                            <a:latin typeface="Cambria Math" panose="02040503050406030204" pitchFamily="18" charset="0"/>
                          </a:rPr>
                          <m:t>𝒊</m:t>
                        </m:r>
                      </m:sub>
                      <m:sup>
                        <m:r>
                          <a:rPr kumimoji="0" lang="en-US" altLang="en-US" sz="1200" b="1" i="1" u="none" strike="noStrike" cap="none" normalizeH="0" baseline="0" smtClean="0">
                            <a:ln>
                              <a:noFill/>
                            </a:ln>
                            <a:solidFill>
                              <a:schemeClr val="tx1"/>
                            </a:solidFill>
                            <a:effectLst/>
                            <a:latin typeface="Cambria Math" panose="02040503050406030204" pitchFamily="18" charset="0"/>
                          </a:rPr>
                          <m:t>𝒄</m:t>
                        </m:r>
                      </m:sup>
                    </m:sSubSup>
                  </m:oMath>
                </a14:m>
                <a:r>
                  <a:rPr kumimoji="0" lang="en-US" altLang="en-US" sz="1200" b="1" i="0" u="none" strike="noStrike" cap="none" normalizeH="0" baseline="0" dirty="0">
                    <a:ln>
                      <a:noFill/>
                    </a:ln>
                    <a:solidFill>
                      <a:schemeClr val="tx1"/>
                    </a:solidFill>
                    <a:effectLst/>
                    <a:latin typeface="+mn-lt"/>
                  </a:rPr>
                  <a:t> </a:t>
                </a:r>
                <a:r>
                  <a:rPr kumimoji="0" lang="en-US" altLang="en-US" sz="1200" b="0" i="0" u="none" strike="noStrike" cap="none" normalizeH="0" baseline="0" dirty="0">
                    <a:ln>
                      <a:noFill/>
                    </a:ln>
                    <a:solidFill>
                      <a:schemeClr val="tx1"/>
                    </a:solidFill>
                    <a:effectLst/>
                    <a:latin typeface="+mn-lt"/>
                  </a:rPr>
                  <a:t>and </a:t>
                </a:r>
                <a14:m>
                  <m:oMath xmlns:m="http://schemas.openxmlformats.org/officeDocument/2006/math">
                    <m:sSubSup>
                      <m:sSubSupPr>
                        <m:ctrlPr>
                          <a:rPr kumimoji="0" lang="en-US" altLang="en-US" sz="1200" b="1" i="1" u="none" strike="noStrike" cap="none" normalizeH="0" baseline="0" smtClean="0">
                            <a:ln>
                              <a:noFill/>
                            </a:ln>
                            <a:solidFill>
                              <a:schemeClr val="tx1"/>
                            </a:solidFill>
                            <a:effectLst/>
                            <a:latin typeface="Cambria Math" panose="02040503050406030204" pitchFamily="18" charset="0"/>
                          </a:rPr>
                        </m:ctrlPr>
                      </m:sSubSupPr>
                      <m:e>
                        <m:r>
                          <a:rPr kumimoji="0" lang="en-US" altLang="en-US" sz="1200" b="1" i="1" u="none" strike="noStrike" cap="none" normalizeH="0" baseline="0" smtClean="0">
                            <a:ln>
                              <a:noFill/>
                            </a:ln>
                            <a:solidFill>
                              <a:schemeClr val="tx1"/>
                            </a:solidFill>
                            <a:effectLst/>
                            <a:latin typeface="Cambria Math" panose="02040503050406030204" pitchFamily="18" charset="0"/>
                          </a:rPr>
                          <m:t>𝒆</m:t>
                        </m:r>
                      </m:e>
                      <m:sub>
                        <m:r>
                          <a:rPr kumimoji="0" lang="en-US" altLang="en-US" sz="1200" b="1" i="1" u="none" strike="noStrike" cap="none" normalizeH="0" baseline="0" smtClean="0">
                            <a:ln>
                              <a:noFill/>
                            </a:ln>
                            <a:solidFill>
                              <a:schemeClr val="tx1"/>
                            </a:solidFill>
                            <a:effectLst/>
                            <a:latin typeface="Cambria Math" panose="02040503050406030204" pitchFamily="18" charset="0"/>
                          </a:rPr>
                          <m:t>𝒊</m:t>
                        </m:r>
                      </m:sub>
                      <m:sup>
                        <m:r>
                          <a:rPr kumimoji="0" lang="en-US" altLang="en-US" sz="1200" b="1" i="1" u="none" strike="noStrike" cap="none" normalizeH="0" baseline="0" smtClean="0">
                            <a:ln>
                              <a:noFill/>
                            </a:ln>
                            <a:solidFill>
                              <a:schemeClr val="tx1"/>
                            </a:solidFill>
                            <a:effectLst/>
                            <a:latin typeface="Cambria Math" panose="02040503050406030204" pitchFamily="18" charset="0"/>
                          </a:rPr>
                          <m:t>𝒄</m:t>
                        </m:r>
                      </m:sup>
                    </m:sSubSup>
                  </m:oMath>
                </a14:m>
                <a:r>
                  <a:rPr kumimoji="0" lang="en-US" altLang="en-US" sz="1200" b="1" i="0" u="none" strike="noStrike" cap="none" normalizeH="0" baseline="0" dirty="0">
                    <a:ln>
                      <a:noFill/>
                    </a:ln>
                    <a:solidFill>
                      <a:schemeClr val="tx1"/>
                    </a:solidFill>
                    <a:effectLst/>
                    <a:latin typeface="+mn-lt"/>
                  </a:rPr>
                  <a:t> </a:t>
                </a:r>
                <a:r>
                  <a:rPr kumimoji="0" lang="en-US" altLang="en-US" sz="1200" b="0" i="0" u="none" strike="noStrike" cap="none" normalizeH="0" baseline="0" dirty="0">
                    <a:ln>
                      <a:noFill/>
                    </a:ln>
                    <a:solidFill>
                      <a:schemeClr val="tx1"/>
                    </a:solidFill>
                    <a:effectLst/>
                    <a:latin typeface="+mn-lt"/>
                  </a:rPr>
                  <a:t>are the community uptake and export rates respectively</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dirty="0">
                  <a:solidFill>
                    <a:schemeClr val="tx1"/>
                  </a:solidFill>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mn-lt"/>
                  </a:rPr>
                  <a:t>I</a:t>
                </a:r>
                <a:r>
                  <a:rPr kumimoji="0" lang="en-US" altLang="en-US" sz="1200" b="0" i="0" u="none" strike="noStrike" cap="none" normalizeH="0" baseline="0" dirty="0">
                    <a:ln>
                      <a:noFill/>
                    </a:ln>
                    <a:solidFill>
                      <a:schemeClr val="tx1"/>
                    </a:solidFill>
                    <a:effectLst/>
                    <a:latin typeface="+mn-lt"/>
                  </a:rPr>
                  <a:t> </a:t>
                </a:r>
                <a:r>
                  <a:rPr kumimoji="0" lang="en-US" altLang="en-US" sz="1200" b="0" i="1" u="none" strike="noStrike" cap="none" normalizeH="0" baseline="30000" dirty="0">
                    <a:ln>
                      <a:noFill/>
                    </a:ln>
                    <a:solidFill>
                      <a:schemeClr val="tx1"/>
                    </a:solidFill>
                    <a:effectLst/>
                    <a:latin typeface="+mn-lt"/>
                  </a:rPr>
                  <a:t>com</a:t>
                </a:r>
                <a:r>
                  <a:rPr kumimoji="0" lang="en-US" altLang="en-US" sz="1200" b="0" i="0" u="none" strike="noStrike" cap="none" normalizeH="0" baseline="0" dirty="0">
                    <a:ln>
                      <a:noFill/>
                    </a:ln>
                    <a:solidFill>
                      <a:schemeClr val="tx1"/>
                    </a:solidFill>
                    <a:effectLst/>
                    <a:latin typeface="+mn-lt"/>
                  </a:rPr>
                  <a:t> is the set of shared community metabolites.  </a:t>
                </a:r>
              </a:p>
            </p:txBody>
          </p:sp>
        </mc:Choice>
        <mc:Fallback xmlns="">
          <p:sp>
            <p:nvSpPr>
              <p:cNvPr id="5" name="Rectangle 1">
                <a:extLst>
                  <a:ext uri="{FF2B5EF4-FFF2-40B4-BE49-F238E27FC236}">
                    <a16:creationId xmlns:a16="http://schemas.microsoft.com/office/drawing/2014/main" id="{9928E906-2AF3-4975-94DF-5182B41783F3}"/>
                  </a:ext>
                </a:extLst>
              </p:cNvPr>
              <p:cNvSpPr>
                <a:spLocks noRot="1" noChangeAspect="1" noMove="1" noResize="1" noEditPoints="1" noAdjustHandles="1" noChangeArrowheads="1" noChangeShapeType="1" noTextEdit="1"/>
              </p:cNvSpPr>
              <p:nvPr/>
            </p:nvSpPr>
            <p:spPr bwMode="auto">
              <a:xfrm rot="10800000" flipV="1">
                <a:off x="5541264" y="1856193"/>
                <a:ext cx="6464808" cy="1415772"/>
              </a:xfrm>
              <a:prstGeom prst="rect">
                <a:avLst/>
              </a:prstGeom>
              <a:blipFill>
                <a:blip r:embed="rId3"/>
                <a:stretch>
                  <a:fillRect b="-1717"/>
                </a:stretch>
              </a:blipFill>
              <a:ln>
                <a:noFill/>
              </a:ln>
              <a:effectLst/>
            </p:spPr>
            <p:txBody>
              <a:bodyPr/>
              <a:lstStyle/>
              <a:p>
                <a:r>
                  <a:rPr lang="en-US">
                    <a:noFill/>
                  </a:rPr>
                  <a:t> </a:t>
                </a:r>
              </a:p>
            </p:txBody>
          </p:sp>
        </mc:Fallback>
      </mc:AlternateContent>
      <p:sp>
        <p:nvSpPr>
          <p:cNvPr id="6" name="TextBox 5">
            <a:extLst>
              <a:ext uri="{FF2B5EF4-FFF2-40B4-BE49-F238E27FC236}">
                <a16:creationId xmlns:a16="http://schemas.microsoft.com/office/drawing/2014/main" id="{0FDFBBB4-672F-440A-8DD7-07DEB0FE1F6C}"/>
              </a:ext>
            </a:extLst>
          </p:cNvPr>
          <p:cNvSpPr txBox="1"/>
          <p:nvPr/>
        </p:nvSpPr>
        <p:spPr>
          <a:xfrm>
            <a:off x="4830987" y="2157370"/>
            <a:ext cx="442750" cy="369332"/>
          </a:xfrm>
          <a:prstGeom prst="rect">
            <a:avLst/>
          </a:prstGeom>
          <a:noFill/>
        </p:spPr>
        <p:txBody>
          <a:bodyPr wrap="none" rtlCol="0">
            <a:spAutoFit/>
          </a:bodyPr>
          <a:lstStyle/>
          <a:p>
            <a:r>
              <a:rPr lang="en-US" dirty="0"/>
              <a:t>(3)</a:t>
            </a:r>
          </a:p>
        </p:txBody>
      </p:sp>
      <p:sp>
        <p:nvSpPr>
          <p:cNvPr id="7" name="Rectangle 6">
            <a:extLst>
              <a:ext uri="{FF2B5EF4-FFF2-40B4-BE49-F238E27FC236}">
                <a16:creationId xmlns:a16="http://schemas.microsoft.com/office/drawing/2014/main" id="{FB47C800-D603-44A4-86B0-8BE78B47F3ED}"/>
              </a:ext>
            </a:extLst>
          </p:cNvPr>
          <p:cNvSpPr/>
          <p:nvPr/>
        </p:nvSpPr>
        <p:spPr>
          <a:xfrm>
            <a:off x="1892808" y="1999526"/>
            <a:ext cx="1005840" cy="7863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EB9756A-A1FA-44D7-BB4A-DE0A4A792720}"/>
              </a:ext>
            </a:extLst>
          </p:cNvPr>
          <p:cNvSpPr txBox="1"/>
          <p:nvPr/>
        </p:nvSpPr>
        <p:spPr>
          <a:xfrm>
            <a:off x="270684" y="3329460"/>
            <a:ext cx="11515932" cy="1754326"/>
          </a:xfrm>
          <a:prstGeom prst="rect">
            <a:avLst/>
          </a:prstGeom>
          <a:noFill/>
        </p:spPr>
        <p:txBody>
          <a:bodyPr wrap="square" rtlCol="0">
            <a:spAutoFit/>
          </a:bodyPr>
          <a:lstStyle/>
          <a:p>
            <a:r>
              <a:rPr lang="en-US" b="1" dirty="0"/>
              <a:t>Problem 2: </a:t>
            </a:r>
            <a:r>
              <a:rPr lang="en-US" dirty="0"/>
              <a:t>A stable steady-state in the community is not guaranteed with the joint FBA formulation since metabolic flux distributions satisfying a community steady-state cannot be derived under this treatment. </a:t>
            </a:r>
          </a:p>
          <a:p>
            <a:pPr marL="285750" indent="-285750">
              <a:buFont typeface="Arial" panose="020B0604020202020204" pitchFamily="34" charset="0"/>
              <a:buChar char="•"/>
            </a:pPr>
            <a:r>
              <a:rPr lang="en-US" dirty="0"/>
              <a:t>To remedy this shortcoming in </a:t>
            </a:r>
            <a:r>
              <a:rPr lang="en-US" dirty="0" err="1"/>
              <a:t>SteadyCom</a:t>
            </a:r>
            <a:r>
              <a:rPr lang="en-US" dirty="0"/>
              <a:t>, they derived a necessary and sufficient condition for the requirement of a constant community composition (i.e. community steady-state). Under the assumption of identical dilution rates for all organisms in the community, the condition is simplified into an identical </a:t>
            </a:r>
            <a:r>
              <a:rPr lang="en-US" i="1" dirty="0"/>
              <a:t>specific growth rate </a:t>
            </a:r>
            <a:r>
              <a:rPr lang="en-US" dirty="0"/>
              <a:t>for all organisms:</a:t>
            </a:r>
          </a:p>
          <a:p>
            <a:endParaRPr lang="en-US" dirty="0"/>
          </a:p>
        </p:txBody>
      </p:sp>
      <p:pic>
        <p:nvPicPr>
          <p:cNvPr id="10" name="Picture 9">
            <a:extLst>
              <a:ext uri="{FF2B5EF4-FFF2-40B4-BE49-F238E27FC236}">
                <a16:creationId xmlns:a16="http://schemas.microsoft.com/office/drawing/2014/main" id="{DFAAB828-394A-4849-9736-67B4F54C90BE}"/>
              </a:ext>
            </a:extLst>
          </p:cNvPr>
          <p:cNvPicPr>
            <a:picLocks noChangeAspect="1"/>
          </p:cNvPicPr>
          <p:nvPr/>
        </p:nvPicPr>
        <p:blipFill>
          <a:blip r:embed="rId4"/>
          <a:stretch>
            <a:fillRect/>
          </a:stretch>
        </p:blipFill>
        <p:spPr>
          <a:xfrm>
            <a:off x="856489" y="4881053"/>
            <a:ext cx="3450336" cy="874848"/>
          </a:xfrm>
          <a:prstGeom prst="rect">
            <a:avLst/>
          </a:prstGeom>
        </p:spPr>
      </p:pic>
      <p:sp>
        <p:nvSpPr>
          <p:cNvPr id="12" name="TextBox 11">
            <a:extLst>
              <a:ext uri="{FF2B5EF4-FFF2-40B4-BE49-F238E27FC236}">
                <a16:creationId xmlns:a16="http://schemas.microsoft.com/office/drawing/2014/main" id="{FDD9F6A7-099F-429F-98BC-006229A30118}"/>
              </a:ext>
            </a:extLst>
          </p:cNvPr>
          <p:cNvSpPr txBox="1"/>
          <p:nvPr/>
        </p:nvSpPr>
        <p:spPr>
          <a:xfrm>
            <a:off x="5740146" y="5083786"/>
            <a:ext cx="3751326" cy="369332"/>
          </a:xfrm>
          <a:prstGeom prst="rect">
            <a:avLst/>
          </a:prstGeom>
          <a:noFill/>
        </p:spPr>
        <p:txBody>
          <a:bodyPr wrap="square">
            <a:spAutoFit/>
          </a:bodyPr>
          <a:lstStyle/>
          <a:p>
            <a:r>
              <a:rPr lang="en-US" b="0" i="0" dirty="0">
                <a:effectLst/>
              </a:rPr>
              <a:t>where </a:t>
            </a:r>
            <a:r>
              <a:rPr lang="en-US" b="0" i="1" dirty="0">
                <a:effectLst/>
              </a:rPr>
              <a:t>μ</a:t>
            </a:r>
            <a:r>
              <a:rPr lang="en-US" b="0" i="0" dirty="0">
                <a:effectLst/>
              </a:rPr>
              <a:t> is the community growth rate</a:t>
            </a:r>
            <a:endParaRPr lang="en-US" dirty="0"/>
          </a:p>
        </p:txBody>
      </p:sp>
      <p:sp>
        <p:nvSpPr>
          <p:cNvPr id="13" name="TextBox 12">
            <a:extLst>
              <a:ext uri="{FF2B5EF4-FFF2-40B4-BE49-F238E27FC236}">
                <a16:creationId xmlns:a16="http://schemas.microsoft.com/office/drawing/2014/main" id="{C9A2556C-8537-4EDF-A9D3-9D398726E438}"/>
              </a:ext>
            </a:extLst>
          </p:cNvPr>
          <p:cNvSpPr txBox="1"/>
          <p:nvPr/>
        </p:nvSpPr>
        <p:spPr>
          <a:xfrm>
            <a:off x="4508661" y="5050511"/>
            <a:ext cx="442750" cy="369332"/>
          </a:xfrm>
          <a:prstGeom prst="rect">
            <a:avLst/>
          </a:prstGeom>
          <a:noFill/>
        </p:spPr>
        <p:txBody>
          <a:bodyPr wrap="none" rtlCol="0">
            <a:spAutoFit/>
          </a:bodyPr>
          <a:lstStyle/>
          <a:p>
            <a:r>
              <a:rPr lang="en-US" dirty="0"/>
              <a:t>(5)</a:t>
            </a:r>
          </a:p>
        </p:txBody>
      </p:sp>
      <p:sp>
        <p:nvSpPr>
          <p:cNvPr id="15" name="TextBox 14">
            <a:extLst>
              <a:ext uri="{FF2B5EF4-FFF2-40B4-BE49-F238E27FC236}">
                <a16:creationId xmlns:a16="http://schemas.microsoft.com/office/drawing/2014/main" id="{1BF0AFB4-7B70-4E96-8153-3E7E767A26D9}"/>
              </a:ext>
            </a:extLst>
          </p:cNvPr>
          <p:cNvSpPr txBox="1"/>
          <p:nvPr/>
        </p:nvSpPr>
        <p:spPr>
          <a:xfrm>
            <a:off x="377571" y="5785916"/>
            <a:ext cx="10327385" cy="646331"/>
          </a:xfrm>
          <a:prstGeom prst="rect">
            <a:avLst/>
          </a:prstGeom>
          <a:noFill/>
        </p:spPr>
        <p:txBody>
          <a:bodyPr wrap="square">
            <a:spAutoFit/>
          </a:bodyPr>
          <a:lstStyle/>
          <a:p>
            <a:r>
              <a:rPr lang="en-US" b="0" i="0" dirty="0">
                <a:solidFill>
                  <a:srgbClr val="212121"/>
                </a:solidFill>
                <a:effectLst/>
                <a:highlight>
                  <a:srgbClr val="FFFF00"/>
                </a:highlight>
                <a:latin typeface="Cambria" panose="02040503050406030204" pitchFamily="18" charset="0"/>
              </a:rPr>
              <a:t>Note that the requirement of identical growth rate between all microbial partners at steady-state applies not at every time point but averaged over the time interval of the study.</a:t>
            </a:r>
            <a:endParaRPr lang="en-US" dirty="0">
              <a:highlight>
                <a:srgbClr val="FFFF00"/>
              </a:highlight>
            </a:endParaRPr>
          </a:p>
        </p:txBody>
      </p:sp>
    </p:spTree>
    <p:extLst>
      <p:ext uri="{BB962C8B-B14F-4D97-AF65-F5344CB8AC3E}">
        <p14:creationId xmlns:p14="http://schemas.microsoft.com/office/powerpoint/2010/main" val="41393776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0E93-D98A-42BC-A921-404C199253F7}"/>
              </a:ext>
            </a:extLst>
          </p:cNvPr>
          <p:cNvSpPr>
            <a:spLocks noGrp="1"/>
          </p:cNvSpPr>
          <p:nvPr>
            <p:ph type="title"/>
          </p:nvPr>
        </p:nvSpPr>
        <p:spPr>
          <a:xfrm>
            <a:off x="838200" y="365125"/>
            <a:ext cx="10515600" cy="887603"/>
          </a:xfrm>
        </p:spPr>
        <p:txBody>
          <a:bodyPr/>
          <a:lstStyle/>
          <a:p>
            <a:r>
              <a:rPr lang="en-US" b="1" dirty="0"/>
              <a:t>Deriving </a:t>
            </a:r>
            <a:r>
              <a:rPr lang="en-US" b="1" dirty="0" err="1"/>
              <a:t>SteadyCom</a:t>
            </a:r>
            <a:r>
              <a:rPr lang="en-US" b="1" dirty="0"/>
              <a:t> Constraints</a:t>
            </a:r>
          </a:p>
        </p:txBody>
      </p:sp>
      <p:sp>
        <p:nvSpPr>
          <p:cNvPr id="3" name="Content Placeholder 2">
            <a:extLst>
              <a:ext uri="{FF2B5EF4-FFF2-40B4-BE49-F238E27FC236}">
                <a16:creationId xmlns:a16="http://schemas.microsoft.com/office/drawing/2014/main" id="{580EF6A1-9A0B-4DA1-9B18-DD4FB36F7375}"/>
              </a:ext>
            </a:extLst>
          </p:cNvPr>
          <p:cNvSpPr>
            <a:spLocks noGrp="1"/>
          </p:cNvSpPr>
          <p:nvPr>
            <p:ph idx="1"/>
          </p:nvPr>
        </p:nvSpPr>
        <p:spPr>
          <a:xfrm>
            <a:off x="391886" y="1252728"/>
            <a:ext cx="11038114" cy="4924235"/>
          </a:xfrm>
        </p:spPr>
        <p:txBody>
          <a:bodyPr>
            <a:noAutofit/>
          </a:bodyPr>
          <a:lstStyle/>
          <a:p>
            <a:pPr marL="0" indent="0">
              <a:buNone/>
            </a:pPr>
            <a:r>
              <a:rPr lang="en-US" sz="1700" dirty="0"/>
              <a:t>They derived a community-modelling framework that includes a constraint to enforce steady-state, and a restriction to force zero flux through an organism with zero abundance.</a:t>
            </a:r>
          </a:p>
          <a:p>
            <a:pPr marL="0" indent="0">
              <a:buNone/>
            </a:pPr>
            <a:r>
              <a:rPr lang="en-US" sz="1700" b="1" dirty="0"/>
              <a:t>This is because with joint FBA:</a:t>
            </a:r>
          </a:p>
          <a:p>
            <a:pPr marL="514350" indent="-514350">
              <a:buAutoNum type="arabicPeriod"/>
            </a:pPr>
            <a:r>
              <a:rPr lang="en-US" sz="1700" dirty="0"/>
              <a:t>When multiple organisms are growing together, the framework does not necessarily impose any restrictions on the growth rate of all participating members in the community. This lack of constant growth rate across all microbes in the community may lead to metabolic fluxes inconsistent with an unchanging average community composition (community steady-state), as the fastest growing organism will take over the population. </a:t>
            </a:r>
            <a:r>
              <a:rPr lang="en-US" sz="1700" i="1" dirty="0"/>
              <a:t>In the human gut microbiota, experimental studies suggest the existence of stable steady-states around which the gut microbiome stays near.</a:t>
            </a:r>
          </a:p>
          <a:p>
            <a:pPr marL="514350" indent="-514350">
              <a:buAutoNum type="arabicPeriod"/>
            </a:pPr>
            <a:r>
              <a:rPr lang="en-US" sz="1700" dirty="0"/>
              <a:t>Solutions in which a non-growing organism can provide substrates to a growing organism are permitted. This is not sustainable since the feeding capability of the non-growing organism will need to increase in proportion with the increasing amount of biomass of the growing organism.</a:t>
            </a:r>
          </a:p>
          <a:p>
            <a:pPr marL="0" indent="0">
              <a:buNone/>
            </a:pPr>
            <a:r>
              <a:rPr lang="en-US" sz="1700" b="1" dirty="0">
                <a:solidFill>
                  <a:srgbClr val="002060"/>
                </a:solidFill>
              </a:rPr>
              <a:t>Solution: </a:t>
            </a:r>
            <a:r>
              <a:rPr lang="en-US" sz="1700" dirty="0">
                <a:solidFill>
                  <a:srgbClr val="002060"/>
                </a:solidFill>
              </a:rPr>
              <a:t>this issue originates from the lack of distinction between two different quantities that describe growth:</a:t>
            </a:r>
          </a:p>
          <a:p>
            <a:pPr marL="342900" indent="-342900">
              <a:buAutoNum type="arabicParenBoth"/>
            </a:pPr>
            <a:r>
              <a:rPr lang="en-US" sz="1700" dirty="0">
                <a:solidFill>
                  <a:srgbClr val="002060"/>
                </a:solidFill>
              </a:rPr>
              <a:t>the specific rate of the amount of substrate utilized per unit time per unit biomass that used in single-organism FBA, and </a:t>
            </a:r>
          </a:p>
          <a:p>
            <a:pPr marL="342900" indent="-342900">
              <a:buAutoNum type="arabicParenBoth"/>
            </a:pPr>
            <a:r>
              <a:rPr lang="en-US" sz="1700" dirty="0">
                <a:solidFill>
                  <a:srgbClr val="002060"/>
                </a:solidFill>
              </a:rPr>
              <a:t>the exchange rate between an entire population of an organism and the extracellular environment </a:t>
            </a:r>
            <a:r>
              <a:rPr lang="en-US" sz="1700" dirty="0">
                <a:solidFill>
                  <a:srgbClr val="002060"/>
                </a:solidFill>
                <a:sym typeface="Wingdings" panose="05000000000000000000" pitchFamily="2" charset="2"/>
              </a:rPr>
              <a:t> it represents the total amount of substrate per unit time = the specific rate times the biomass of the population = </a:t>
            </a:r>
            <a:r>
              <a:rPr lang="en-US" sz="1700" b="1" dirty="0">
                <a:solidFill>
                  <a:srgbClr val="002060"/>
                </a:solidFill>
                <a:sym typeface="Wingdings" panose="05000000000000000000" pitchFamily="2" charset="2"/>
              </a:rPr>
              <a:t>aggregate flux.</a:t>
            </a:r>
          </a:p>
          <a:p>
            <a:pPr marL="0" indent="0">
              <a:buNone/>
            </a:pPr>
            <a:r>
              <a:rPr lang="en-US" sz="1700" dirty="0">
                <a:solidFill>
                  <a:srgbClr val="002060"/>
                </a:solidFill>
                <a:sym typeface="Wingdings" panose="05000000000000000000" pitchFamily="2" charset="2"/>
              </a:rPr>
              <a:t>As such, </a:t>
            </a:r>
            <a:r>
              <a:rPr lang="en-US" sz="1700" b="1" dirty="0">
                <a:solidFill>
                  <a:srgbClr val="002060"/>
                </a:solidFill>
                <a:sym typeface="Wingdings" panose="05000000000000000000" pitchFamily="2" charset="2"/>
              </a:rPr>
              <a:t>the aggregate flux correctly quantifies the metabolites that an organism can consume or produce in a microbial community of non-uniform relative abundances because you get rid of the biomass factor.</a:t>
            </a:r>
            <a:endParaRPr lang="en-US" sz="1700" b="1" dirty="0">
              <a:solidFill>
                <a:srgbClr val="002060"/>
              </a:solidFill>
            </a:endParaRPr>
          </a:p>
        </p:txBody>
      </p:sp>
    </p:spTree>
    <p:extLst>
      <p:ext uri="{BB962C8B-B14F-4D97-AF65-F5344CB8AC3E}">
        <p14:creationId xmlns:p14="http://schemas.microsoft.com/office/powerpoint/2010/main" val="29421357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0E93-D98A-42BC-A921-404C199253F7}"/>
              </a:ext>
            </a:extLst>
          </p:cNvPr>
          <p:cNvSpPr>
            <a:spLocks noGrp="1"/>
          </p:cNvSpPr>
          <p:nvPr>
            <p:ph type="title"/>
          </p:nvPr>
        </p:nvSpPr>
        <p:spPr>
          <a:xfrm>
            <a:off x="653143" y="256267"/>
            <a:ext cx="10515600" cy="887603"/>
          </a:xfrm>
        </p:spPr>
        <p:txBody>
          <a:bodyPr>
            <a:normAutofit fontScale="90000"/>
          </a:bodyPr>
          <a:lstStyle/>
          <a:p>
            <a:r>
              <a:rPr lang="en-US" b="1" dirty="0"/>
              <a:t>Deriving </a:t>
            </a:r>
            <a:r>
              <a:rPr lang="en-US" b="1" dirty="0" err="1"/>
              <a:t>SteadyCom</a:t>
            </a:r>
            <a:r>
              <a:rPr lang="en-US" b="1" dirty="0"/>
              <a:t> Constraints: Aggregate Flux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0EF6A1-9A0B-4DA1-9B18-DD4FB36F7375}"/>
                  </a:ext>
                </a:extLst>
              </p:cNvPr>
              <p:cNvSpPr>
                <a:spLocks noGrp="1"/>
              </p:cNvSpPr>
              <p:nvPr>
                <p:ph idx="1"/>
              </p:nvPr>
            </p:nvSpPr>
            <p:spPr>
              <a:xfrm>
                <a:off x="653143" y="1106207"/>
                <a:ext cx="10515600" cy="805543"/>
              </a:xfrm>
            </p:spPr>
            <p:txBody>
              <a:bodyPr>
                <a:normAutofit/>
              </a:bodyPr>
              <a:lstStyle/>
              <a:p>
                <a:pPr marL="0" indent="0">
                  <a:buNone/>
                </a:pPr>
                <a:r>
                  <a:rPr lang="en-US" sz="1800" dirty="0"/>
                  <a:t>The biomass (in </a:t>
                </a:r>
                <a:r>
                  <a:rPr lang="en-US" sz="1800" dirty="0" err="1"/>
                  <a:t>gdw</a:t>
                </a:r>
                <a:r>
                  <a:rPr lang="en-US" sz="1800" dirty="0"/>
                  <a:t>) for organism </a:t>
                </a:r>
                <a:r>
                  <a:rPr lang="en-US" sz="1800" i="1" dirty="0"/>
                  <a:t>k</a:t>
                </a:r>
                <a:r>
                  <a:rPr lang="en-US" sz="1800" dirty="0"/>
                  <a:t> is explicitly modelled as the variable </a:t>
                </a:r>
                <a14:m>
                  <m:oMath xmlns:m="http://schemas.openxmlformats.org/officeDocument/2006/math">
                    <m:sSup>
                      <m:sSupPr>
                        <m:ctrlPr>
                          <a:rPr lang="en-US" sz="1800" i="1" smtClean="0">
                            <a:latin typeface="Cambria Math" panose="02040503050406030204" pitchFamily="18" charset="0"/>
                          </a:rPr>
                        </m:ctrlPr>
                      </m:sSupPr>
                      <m:e>
                        <m:r>
                          <a:rPr lang="en-CA" sz="1800" b="0" i="1" smtClean="0">
                            <a:latin typeface="Cambria Math" panose="02040503050406030204" pitchFamily="18" charset="0"/>
                          </a:rPr>
                          <m:t>𝑋</m:t>
                        </m:r>
                      </m:e>
                      <m:sup>
                        <m:r>
                          <a:rPr lang="en-CA" sz="1800" b="0" i="1" smtClean="0">
                            <a:latin typeface="Cambria Math" panose="02040503050406030204" pitchFamily="18" charset="0"/>
                          </a:rPr>
                          <m:t>𝑘</m:t>
                        </m:r>
                      </m:sup>
                    </m:sSup>
                  </m:oMath>
                </a14:m>
                <a:r>
                  <a:rPr lang="en-US" sz="1800" dirty="0"/>
                  <a:t>. A new flux quantity called the aggregate flux </a:t>
                </a:r>
                <a14:m>
                  <m:oMath xmlns:m="http://schemas.openxmlformats.org/officeDocument/2006/math">
                    <m:sSubSup>
                      <m:sSubSupPr>
                        <m:ctrlPr>
                          <a:rPr lang="en-US" sz="1800" i="1" smtClean="0">
                            <a:latin typeface="Cambria Math" panose="02040503050406030204" pitchFamily="18" charset="0"/>
                          </a:rPr>
                        </m:ctrlPr>
                      </m:sSubSupPr>
                      <m:e>
                        <m:r>
                          <a:rPr lang="en-CA" sz="1800" b="0" i="1" smtClean="0">
                            <a:latin typeface="Cambria Math" panose="02040503050406030204" pitchFamily="18" charset="0"/>
                          </a:rPr>
                          <m:t>𝑉</m:t>
                        </m:r>
                      </m:e>
                      <m:sub>
                        <m:r>
                          <a:rPr lang="en-CA" sz="1800" b="0" i="1" smtClean="0">
                            <a:latin typeface="Cambria Math" panose="02040503050406030204" pitchFamily="18" charset="0"/>
                          </a:rPr>
                          <m:t>𝑗</m:t>
                        </m:r>
                      </m:sub>
                      <m:sup>
                        <m:r>
                          <a:rPr lang="en-CA" sz="1800" b="0" i="1" smtClean="0">
                            <a:latin typeface="Cambria Math" panose="02040503050406030204" pitchFamily="18" charset="0"/>
                          </a:rPr>
                          <m:t>𝑘</m:t>
                        </m:r>
                      </m:sup>
                    </m:sSubSup>
                  </m:oMath>
                </a14:m>
                <a:r>
                  <a:rPr lang="en-US" sz="1800" dirty="0"/>
                  <a:t> for reaction </a:t>
                </a:r>
                <a:r>
                  <a:rPr lang="en-US" sz="1800" i="1" dirty="0"/>
                  <a:t>j</a:t>
                </a:r>
                <a:r>
                  <a:rPr lang="en-US" sz="1800" dirty="0"/>
                  <a:t> of organism </a:t>
                </a:r>
                <a:r>
                  <a:rPr lang="en-US" sz="1800" i="1" dirty="0"/>
                  <a:t>k</a:t>
                </a:r>
                <a:r>
                  <a:rPr lang="en-US" sz="1800" dirty="0"/>
                  <a:t> is introduced:</a:t>
                </a:r>
              </a:p>
            </p:txBody>
          </p:sp>
        </mc:Choice>
        <mc:Fallback xmlns="">
          <p:sp>
            <p:nvSpPr>
              <p:cNvPr id="3" name="Content Placeholder 2">
                <a:extLst>
                  <a:ext uri="{FF2B5EF4-FFF2-40B4-BE49-F238E27FC236}">
                    <a16:creationId xmlns:a16="http://schemas.microsoft.com/office/drawing/2014/main" id="{580EF6A1-9A0B-4DA1-9B18-DD4FB36F7375}"/>
                  </a:ext>
                </a:extLst>
              </p:cNvPr>
              <p:cNvSpPr>
                <a:spLocks noGrp="1" noRot="1" noChangeAspect="1" noMove="1" noResize="1" noEditPoints="1" noAdjustHandles="1" noChangeArrowheads="1" noChangeShapeType="1" noTextEdit="1"/>
              </p:cNvSpPr>
              <p:nvPr>
                <p:ph idx="1"/>
              </p:nvPr>
            </p:nvSpPr>
            <p:spPr>
              <a:xfrm>
                <a:off x="653143" y="1106207"/>
                <a:ext cx="10515600" cy="805543"/>
              </a:xfrm>
              <a:blipFill>
                <a:blip r:embed="rId3"/>
                <a:stretch>
                  <a:fillRect l="-464" t="-6015"/>
                </a:stretch>
              </a:blipFill>
            </p:spPr>
            <p:txBody>
              <a:bodyPr/>
              <a:lstStyle/>
              <a:p>
                <a:r>
                  <a:rPr lang="en-US">
                    <a:noFill/>
                  </a:rPr>
                  <a:t> </a:t>
                </a:r>
              </a:p>
            </p:txBody>
          </p:sp>
        </mc:Fallback>
      </mc:AlternateContent>
      <p:pic>
        <p:nvPicPr>
          <p:cNvPr id="5" name="Picture 4" descr="A group of black text&#10;&#10;Description automatically generated">
            <a:extLst>
              <a:ext uri="{FF2B5EF4-FFF2-40B4-BE49-F238E27FC236}">
                <a16:creationId xmlns:a16="http://schemas.microsoft.com/office/drawing/2014/main" id="{2754AB6A-4637-95F1-E522-65861BD8F340}"/>
              </a:ext>
            </a:extLst>
          </p:cNvPr>
          <p:cNvPicPr>
            <a:picLocks noChangeAspect="1"/>
          </p:cNvPicPr>
          <p:nvPr/>
        </p:nvPicPr>
        <p:blipFill rotWithShape="1">
          <a:blip r:embed="rId4">
            <a:extLst>
              <a:ext uri="{28A0092B-C50C-407E-A947-70E740481C1C}">
                <a14:useLocalDpi xmlns:a14="http://schemas.microsoft.com/office/drawing/2010/main" val="0"/>
              </a:ext>
            </a:extLst>
          </a:blip>
          <a:srcRect t="17181" b="19599"/>
          <a:stretch/>
        </p:blipFill>
        <p:spPr>
          <a:xfrm>
            <a:off x="918029" y="1911750"/>
            <a:ext cx="3349172" cy="463913"/>
          </a:xfrm>
          <a:prstGeom prst="rect">
            <a:avLst/>
          </a:prstGeom>
        </p:spPr>
      </p:pic>
      <p:sp>
        <p:nvSpPr>
          <p:cNvPr id="6" name="TextBox 5">
            <a:extLst>
              <a:ext uri="{FF2B5EF4-FFF2-40B4-BE49-F238E27FC236}">
                <a16:creationId xmlns:a16="http://schemas.microsoft.com/office/drawing/2014/main" id="{E94575E1-D5F6-0AEC-3B20-CCAB37693049}"/>
              </a:ext>
            </a:extLst>
          </p:cNvPr>
          <p:cNvSpPr txBox="1"/>
          <p:nvPr/>
        </p:nvSpPr>
        <p:spPr>
          <a:xfrm>
            <a:off x="5315794" y="1942193"/>
            <a:ext cx="442750" cy="369332"/>
          </a:xfrm>
          <a:prstGeom prst="rect">
            <a:avLst/>
          </a:prstGeom>
          <a:noFill/>
        </p:spPr>
        <p:txBody>
          <a:bodyPr wrap="none" rtlCol="0">
            <a:spAutoFit/>
          </a:bodyPr>
          <a:lstStyle/>
          <a:p>
            <a:r>
              <a:rPr lang="en-US" dirty="0"/>
              <a:t>(6)</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17D32B7-F8D1-A34B-D464-D0F9AE28F71A}"/>
                  </a:ext>
                </a:extLst>
              </p:cNvPr>
              <p:cNvSpPr txBox="1"/>
              <p:nvPr/>
            </p:nvSpPr>
            <p:spPr>
              <a:xfrm>
                <a:off x="653143" y="2499592"/>
                <a:ext cx="11038113" cy="1472519"/>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002060"/>
                    </a:solidFill>
                  </a:rPr>
                  <a:t>The aggregate flux </a:t>
                </a:r>
                <a14:m>
                  <m:oMath xmlns:m="http://schemas.openxmlformats.org/officeDocument/2006/math">
                    <m:sSubSup>
                      <m:sSubSupPr>
                        <m:ctrlPr>
                          <a:rPr lang="en-US" sz="1600" i="1" smtClean="0">
                            <a:solidFill>
                              <a:srgbClr val="002060"/>
                            </a:solidFill>
                            <a:latin typeface="Cambria Math" panose="02040503050406030204" pitchFamily="18" charset="0"/>
                          </a:rPr>
                        </m:ctrlPr>
                      </m:sSubSupPr>
                      <m:e>
                        <m:r>
                          <a:rPr lang="en-CA" sz="1600" b="0" i="1" smtClean="0">
                            <a:solidFill>
                              <a:srgbClr val="002060"/>
                            </a:solidFill>
                            <a:latin typeface="Cambria Math" panose="02040503050406030204" pitchFamily="18" charset="0"/>
                          </a:rPr>
                          <m:t>𝑉</m:t>
                        </m:r>
                      </m:e>
                      <m:sub>
                        <m:r>
                          <a:rPr lang="en-CA" sz="1600" b="0" i="1" smtClean="0">
                            <a:solidFill>
                              <a:srgbClr val="002060"/>
                            </a:solidFill>
                            <a:latin typeface="Cambria Math" panose="02040503050406030204" pitchFamily="18" charset="0"/>
                          </a:rPr>
                          <m:t>𝑗</m:t>
                        </m:r>
                      </m:sub>
                      <m:sup>
                        <m:r>
                          <a:rPr lang="en-CA" sz="1600" b="0" i="1" smtClean="0">
                            <a:solidFill>
                              <a:srgbClr val="002060"/>
                            </a:solidFill>
                            <a:latin typeface="Cambria Math" panose="02040503050406030204" pitchFamily="18" charset="0"/>
                          </a:rPr>
                          <m:t>𝑘</m:t>
                        </m:r>
                      </m:sup>
                    </m:sSubSup>
                  </m:oMath>
                </a14:m>
                <a:r>
                  <a:rPr lang="en-US" sz="1600" dirty="0">
                    <a:solidFill>
                      <a:srgbClr val="002060"/>
                    </a:solidFill>
                  </a:rPr>
                  <a:t> has units of mmol h-1 and represents the collective flux of reaction</a:t>
                </a:r>
                <a:r>
                  <a:rPr lang="en-US" sz="1600" i="1" dirty="0">
                    <a:solidFill>
                      <a:srgbClr val="002060"/>
                    </a:solidFill>
                  </a:rPr>
                  <a:t> j </a:t>
                </a:r>
                <a:r>
                  <a:rPr lang="en-US" sz="1600" dirty="0">
                    <a:solidFill>
                      <a:srgbClr val="002060"/>
                    </a:solidFill>
                  </a:rPr>
                  <a:t>through the entire population of organism </a:t>
                </a:r>
                <a:r>
                  <a:rPr lang="en-US" sz="1600" i="1" dirty="0">
                    <a:solidFill>
                      <a:srgbClr val="002060"/>
                    </a:solidFill>
                  </a:rPr>
                  <a:t>k</a:t>
                </a:r>
                <a:r>
                  <a:rPr lang="en-US" sz="1600" dirty="0">
                    <a:solidFill>
                      <a:srgbClr val="002060"/>
                    </a:solidFill>
                  </a:rPr>
                  <a:t>.</a:t>
                </a:r>
              </a:p>
              <a:p>
                <a:pPr marL="285750" indent="-285750">
                  <a:buFont typeface="Arial" panose="020B0604020202020204" pitchFamily="34" charset="0"/>
                  <a:buChar char="•"/>
                </a:pPr>
                <a:r>
                  <a:rPr lang="en-US" sz="1600" dirty="0">
                    <a:solidFill>
                      <a:srgbClr val="002060"/>
                    </a:solidFill>
                  </a:rPr>
                  <a:t>This differs from </a:t>
                </a:r>
                <a14:m>
                  <m:oMath xmlns:m="http://schemas.openxmlformats.org/officeDocument/2006/math">
                    <m:sSubSup>
                      <m:sSubSupPr>
                        <m:ctrlPr>
                          <a:rPr lang="en-US" sz="1600" i="1" smtClean="0">
                            <a:solidFill>
                              <a:srgbClr val="002060"/>
                            </a:solidFill>
                            <a:latin typeface="Cambria Math" panose="02040503050406030204" pitchFamily="18" charset="0"/>
                          </a:rPr>
                        </m:ctrlPr>
                      </m:sSubSupPr>
                      <m:e>
                        <m:r>
                          <a:rPr lang="en-CA" sz="1600" b="0" i="1" smtClean="0">
                            <a:solidFill>
                              <a:srgbClr val="002060"/>
                            </a:solidFill>
                            <a:latin typeface="Cambria Math" panose="02040503050406030204" pitchFamily="18" charset="0"/>
                          </a:rPr>
                          <m:t>𝑣</m:t>
                        </m:r>
                      </m:e>
                      <m:sub>
                        <m:r>
                          <a:rPr lang="en-CA" sz="1600" b="0" i="1" smtClean="0">
                            <a:solidFill>
                              <a:srgbClr val="002060"/>
                            </a:solidFill>
                            <a:latin typeface="Cambria Math" panose="02040503050406030204" pitchFamily="18" charset="0"/>
                          </a:rPr>
                          <m:t>𝑗</m:t>
                        </m:r>
                      </m:sub>
                      <m:sup>
                        <m:r>
                          <a:rPr lang="en-CA" sz="1600" b="0" i="1" smtClean="0">
                            <a:solidFill>
                              <a:srgbClr val="002060"/>
                            </a:solidFill>
                            <a:latin typeface="Cambria Math" panose="02040503050406030204" pitchFamily="18" charset="0"/>
                          </a:rPr>
                          <m:t>𝑘</m:t>
                        </m:r>
                      </m:sup>
                    </m:sSubSup>
                  </m:oMath>
                </a14:m>
                <a:r>
                  <a:rPr lang="en-US" sz="1600" dirty="0">
                    <a:solidFill>
                      <a:srgbClr val="002060"/>
                    </a:solidFill>
                  </a:rPr>
                  <a:t> which is the reaction flux normalized by the biomass of organism</a:t>
                </a:r>
                <a:r>
                  <a:rPr lang="en-US" sz="1600" i="1" dirty="0">
                    <a:solidFill>
                      <a:srgbClr val="002060"/>
                    </a:solidFill>
                  </a:rPr>
                  <a:t> k</a:t>
                </a:r>
                <a:r>
                  <a:rPr lang="en-US" sz="1600" dirty="0">
                    <a:solidFill>
                      <a:srgbClr val="002060"/>
                    </a:solidFill>
                  </a:rPr>
                  <a:t>.</a:t>
                </a:r>
              </a:p>
              <a:p>
                <a:pPr marL="285750" indent="-285750">
                  <a:buFont typeface="Arial" panose="020B0604020202020204" pitchFamily="34" charset="0"/>
                  <a:buChar char="•"/>
                </a:pPr>
                <a:r>
                  <a:rPr lang="en-US" sz="1600" dirty="0">
                    <a:solidFill>
                      <a:srgbClr val="002060"/>
                    </a:solidFill>
                  </a:rPr>
                  <a:t>The rate of consumption or production of a community metabolite</a:t>
                </a:r>
                <a:r>
                  <a:rPr lang="en-US" sz="1600" i="1" dirty="0">
                    <a:solidFill>
                      <a:srgbClr val="002060"/>
                    </a:solidFill>
                  </a:rPr>
                  <a:t> </a:t>
                </a:r>
                <a:r>
                  <a:rPr lang="en-US" sz="1600" i="1" dirty="0" err="1">
                    <a:solidFill>
                      <a:srgbClr val="002060"/>
                    </a:solidFill>
                  </a:rPr>
                  <a:t>i</a:t>
                </a:r>
                <a:r>
                  <a:rPr lang="en-US" sz="1600" i="1" dirty="0">
                    <a:solidFill>
                      <a:srgbClr val="002060"/>
                    </a:solidFill>
                  </a:rPr>
                  <a:t> </a:t>
                </a:r>
                <a:r>
                  <a:rPr lang="en-US" sz="1600" dirty="0">
                    <a:solidFill>
                      <a:srgbClr val="002060"/>
                    </a:solidFill>
                  </a:rPr>
                  <a:t>in </a:t>
                </a:r>
                <a14:m>
                  <m:oMath xmlns:m="http://schemas.openxmlformats.org/officeDocument/2006/math">
                    <m:sSup>
                      <m:sSupPr>
                        <m:ctrlPr>
                          <a:rPr lang="en-US" sz="1600" i="1" smtClean="0">
                            <a:solidFill>
                              <a:srgbClr val="002060"/>
                            </a:solidFill>
                            <a:latin typeface="Cambria Math" panose="02040503050406030204" pitchFamily="18" charset="0"/>
                          </a:rPr>
                        </m:ctrlPr>
                      </m:sSupPr>
                      <m:e>
                        <m:r>
                          <a:rPr lang="en-CA" sz="1600" b="0" i="1" smtClean="0">
                            <a:solidFill>
                              <a:srgbClr val="002060"/>
                            </a:solidFill>
                            <a:latin typeface="Cambria Math" panose="02040503050406030204" pitchFamily="18" charset="0"/>
                          </a:rPr>
                          <m:t>𝐼</m:t>
                        </m:r>
                      </m:e>
                      <m:sup>
                        <m:r>
                          <a:rPr lang="en-CA" sz="1600" b="0" i="1" smtClean="0">
                            <a:solidFill>
                              <a:srgbClr val="002060"/>
                            </a:solidFill>
                            <a:latin typeface="Cambria Math" panose="02040503050406030204" pitchFamily="18" charset="0"/>
                          </a:rPr>
                          <m:t>𝑐𝑜𝑚</m:t>
                        </m:r>
                      </m:sup>
                    </m:sSup>
                  </m:oMath>
                </a14:m>
                <a:r>
                  <a:rPr lang="en-US" sz="1600" dirty="0">
                    <a:solidFill>
                      <a:srgbClr val="002060"/>
                    </a:solidFill>
                  </a:rPr>
                  <a:t> in the community space is captured by the sum of aggregate fluxes </a:t>
                </a:r>
                <a14:m>
                  <m:oMath xmlns:m="http://schemas.openxmlformats.org/officeDocument/2006/math">
                    <m:sSubSup>
                      <m:sSubSupPr>
                        <m:ctrlPr>
                          <a:rPr lang="en-US" sz="1600" i="1" smtClean="0">
                            <a:solidFill>
                              <a:srgbClr val="002060"/>
                            </a:solidFill>
                            <a:latin typeface="Cambria Math" panose="02040503050406030204" pitchFamily="18" charset="0"/>
                          </a:rPr>
                        </m:ctrlPr>
                      </m:sSubSupPr>
                      <m:e>
                        <m:r>
                          <a:rPr lang="en-CA" sz="1600" b="0" i="1" smtClean="0">
                            <a:solidFill>
                              <a:srgbClr val="002060"/>
                            </a:solidFill>
                            <a:latin typeface="Cambria Math" panose="02040503050406030204" pitchFamily="18" charset="0"/>
                          </a:rPr>
                          <m:t>𝑉</m:t>
                        </m:r>
                      </m:e>
                      <m:sub>
                        <m:r>
                          <a:rPr lang="en-CA" sz="1600" b="0" i="1" smtClean="0">
                            <a:solidFill>
                              <a:srgbClr val="002060"/>
                            </a:solidFill>
                            <a:latin typeface="Cambria Math" panose="02040503050406030204" pitchFamily="18" charset="0"/>
                          </a:rPr>
                          <m:t>𝑒𝑥</m:t>
                        </m:r>
                        <m:r>
                          <a:rPr lang="en-CA" sz="1600" b="0" i="1" smtClean="0">
                            <a:solidFill>
                              <a:srgbClr val="002060"/>
                            </a:solidFill>
                            <a:latin typeface="Cambria Math" panose="02040503050406030204" pitchFamily="18" charset="0"/>
                          </a:rPr>
                          <m:t>(</m:t>
                        </m:r>
                        <m:r>
                          <a:rPr lang="en-CA" sz="1600" b="0" i="1" smtClean="0">
                            <a:solidFill>
                              <a:srgbClr val="002060"/>
                            </a:solidFill>
                            <a:latin typeface="Cambria Math" panose="02040503050406030204" pitchFamily="18" charset="0"/>
                          </a:rPr>
                          <m:t>𝑖</m:t>
                        </m:r>
                        <m:r>
                          <a:rPr lang="en-CA" sz="1600" b="0" i="1" smtClean="0">
                            <a:solidFill>
                              <a:srgbClr val="002060"/>
                            </a:solidFill>
                            <a:latin typeface="Cambria Math" panose="02040503050406030204" pitchFamily="18" charset="0"/>
                          </a:rPr>
                          <m:t>)</m:t>
                        </m:r>
                      </m:sub>
                      <m:sup>
                        <m:r>
                          <a:rPr lang="en-CA" sz="1600" b="0" i="1" smtClean="0">
                            <a:solidFill>
                              <a:srgbClr val="002060"/>
                            </a:solidFill>
                            <a:latin typeface="Cambria Math" panose="02040503050406030204" pitchFamily="18" charset="0"/>
                          </a:rPr>
                          <m:t>𝑘</m:t>
                        </m:r>
                      </m:sup>
                    </m:sSubSup>
                  </m:oMath>
                </a14:m>
                <a:r>
                  <a:rPr lang="en-US" sz="1600" dirty="0">
                    <a:solidFill>
                      <a:srgbClr val="002060"/>
                    </a:solidFill>
                  </a:rPr>
                  <a:t> instead of </a:t>
                </a:r>
                <a14:m>
                  <m:oMath xmlns:m="http://schemas.openxmlformats.org/officeDocument/2006/math">
                    <m:sSubSup>
                      <m:sSubSupPr>
                        <m:ctrlPr>
                          <a:rPr lang="en-US" sz="1600" i="1">
                            <a:solidFill>
                              <a:srgbClr val="002060"/>
                            </a:solidFill>
                            <a:latin typeface="Cambria Math" panose="02040503050406030204" pitchFamily="18" charset="0"/>
                          </a:rPr>
                        </m:ctrlPr>
                      </m:sSubSupPr>
                      <m:e>
                        <m:r>
                          <a:rPr lang="en-CA" sz="1600" b="0" i="1" smtClean="0">
                            <a:solidFill>
                              <a:srgbClr val="002060"/>
                            </a:solidFill>
                            <a:latin typeface="Cambria Math" panose="02040503050406030204" pitchFamily="18" charset="0"/>
                          </a:rPr>
                          <m:t>𝑣</m:t>
                        </m:r>
                      </m:e>
                      <m:sub>
                        <m:r>
                          <a:rPr lang="en-CA" sz="1600" i="1">
                            <a:solidFill>
                              <a:srgbClr val="002060"/>
                            </a:solidFill>
                            <a:latin typeface="Cambria Math" panose="02040503050406030204" pitchFamily="18" charset="0"/>
                          </a:rPr>
                          <m:t>𝑒𝑥</m:t>
                        </m:r>
                        <m:r>
                          <a:rPr lang="en-CA" sz="1600" i="1">
                            <a:solidFill>
                              <a:srgbClr val="002060"/>
                            </a:solidFill>
                            <a:latin typeface="Cambria Math" panose="02040503050406030204" pitchFamily="18" charset="0"/>
                          </a:rPr>
                          <m:t>(</m:t>
                        </m:r>
                        <m:r>
                          <a:rPr lang="en-CA" sz="1600" i="1">
                            <a:solidFill>
                              <a:srgbClr val="002060"/>
                            </a:solidFill>
                            <a:latin typeface="Cambria Math" panose="02040503050406030204" pitchFamily="18" charset="0"/>
                          </a:rPr>
                          <m:t>𝑖</m:t>
                        </m:r>
                        <m:r>
                          <a:rPr lang="en-CA" sz="1600" i="1">
                            <a:solidFill>
                              <a:srgbClr val="002060"/>
                            </a:solidFill>
                            <a:latin typeface="Cambria Math" panose="02040503050406030204" pitchFamily="18" charset="0"/>
                          </a:rPr>
                          <m:t>)</m:t>
                        </m:r>
                      </m:sub>
                      <m:sup>
                        <m:r>
                          <a:rPr lang="en-CA" sz="1600" i="1">
                            <a:solidFill>
                              <a:srgbClr val="002060"/>
                            </a:solidFill>
                            <a:latin typeface="Cambria Math" panose="02040503050406030204" pitchFamily="18" charset="0"/>
                          </a:rPr>
                          <m:t>𝑘</m:t>
                        </m:r>
                      </m:sup>
                    </m:sSubSup>
                  </m:oMath>
                </a14:m>
                <a:r>
                  <a:rPr lang="en-US" sz="1600" dirty="0">
                    <a:solidFill>
                      <a:srgbClr val="002060"/>
                    </a:solidFill>
                  </a:rPr>
                  <a:t>.</a:t>
                </a:r>
              </a:p>
            </p:txBody>
          </p:sp>
        </mc:Choice>
        <mc:Fallback xmlns="">
          <p:sp>
            <p:nvSpPr>
              <p:cNvPr id="7" name="TextBox 6">
                <a:extLst>
                  <a:ext uri="{FF2B5EF4-FFF2-40B4-BE49-F238E27FC236}">
                    <a16:creationId xmlns:a16="http://schemas.microsoft.com/office/drawing/2014/main" id="{617D32B7-F8D1-A34B-D464-D0F9AE28F71A}"/>
                  </a:ext>
                </a:extLst>
              </p:cNvPr>
              <p:cNvSpPr txBox="1">
                <a:spLocks noRot="1" noChangeAspect="1" noMove="1" noResize="1" noEditPoints="1" noAdjustHandles="1" noChangeArrowheads="1" noChangeShapeType="1" noTextEdit="1"/>
              </p:cNvSpPr>
              <p:nvPr/>
            </p:nvSpPr>
            <p:spPr>
              <a:xfrm>
                <a:off x="653143" y="2499592"/>
                <a:ext cx="11038113" cy="1472519"/>
              </a:xfrm>
              <a:prstGeom prst="rect">
                <a:avLst/>
              </a:prstGeom>
              <a:blipFill>
                <a:blip r:embed="rId5"/>
                <a:stretch>
                  <a:fillRect l="-230" b="-2564"/>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7C3D81B1-9F0D-6FB6-8A70-2FE32E9C70A0}"/>
              </a:ext>
            </a:extLst>
          </p:cNvPr>
          <p:cNvSpPr txBox="1"/>
          <p:nvPr/>
        </p:nvSpPr>
        <p:spPr>
          <a:xfrm>
            <a:off x="348345" y="3972111"/>
            <a:ext cx="11332027" cy="923330"/>
          </a:xfrm>
          <a:prstGeom prst="rect">
            <a:avLst/>
          </a:prstGeom>
          <a:noFill/>
        </p:spPr>
        <p:txBody>
          <a:bodyPr wrap="square">
            <a:spAutoFit/>
          </a:bodyPr>
          <a:lstStyle/>
          <a:p>
            <a:r>
              <a:rPr lang="en-US" dirty="0"/>
              <a:t>By introducing the aggregate flux, the exchange of community metabolites between individual organisms in the community space can be properly expressed with the following mass-balance equation in the community space analogous to Eq (3):</a:t>
            </a:r>
          </a:p>
        </p:txBody>
      </p:sp>
      <p:pic>
        <p:nvPicPr>
          <p:cNvPr id="11" name="Picture 10">
            <a:extLst>
              <a:ext uri="{FF2B5EF4-FFF2-40B4-BE49-F238E27FC236}">
                <a16:creationId xmlns:a16="http://schemas.microsoft.com/office/drawing/2014/main" id="{81AE6E69-7694-95EE-3D47-C080848C45D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51464" y="4905731"/>
            <a:ext cx="3828143" cy="770767"/>
          </a:xfrm>
          <a:prstGeom prst="rect">
            <a:avLst/>
          </a:prstGeom>
        </p:spPr>
      </p:pic>
      <p:sp>
        <p:nvSpPr>
          <p:cNvPr id="12" name="TextBox 11">
            <a:extLst>
              <a:ext uri="{FF2B5EF4-FFF2-40B4-BE49-F238E27FC236}">
                <a16:creationId xmlns:a16="http://schemas.microsoft.com/office/drawing/2014/main" id="{C2104993-8AD4-8294-9563-940E7A590C46}"/>
              </a:ext>
            </a:extLst>
          </p:cNvPr>
          <p:cNvSpPr txBox="1"/>
          <p:nvPr/>
        </p:nvSpPr>
        <p:spPr>
          <a:xfrm>
            <a:off x="11237622" y="5009864"/>
            <a:ext cx="442750" cy="369332"/>
          </a:xfrm>
          <a:prstGeom prst="rect">
            <a:avLst/>
          </a:prstGeom>
          <a:noFill/>
        </p:spPr>
        <p:txBody>
          <a:bodyPr wrap="none" rtlCol="0">
            <a:spAutoFit/>
          </a:bodyPr>
          <a:lstStyle/>
          <a:p>
            <a:r>
              <a:rPr lang="en-US" dirty="0"/>
              <a:t>(7)</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6B002B-01FB-C831-2B62-718E6A72C032}"/>
                  </a:ext>
                </a:extLst>
              </p:cNvPr>
              <p:cNvSpPr txBox="1"/>
              <p:nvPr/>
            </p:nvSpPr>
            <p:spPr>
              <a:xfrm>
                <a:off x="506185" y="5604328"/>
                <a:ext cx="11332027" cy="1185646"/>
              </a:xfrm>
              <a:prstGeom prst="rect">
                <a:avLst/>
              </a:prstGeom>
              <a:noFill/>
            </p:spPr>
            <p:txBody>
              <a:bodyPr wrap="square">
                <a:spAutoFit/>
              </a:bodyPr>
              <a:lstStyle/>
              <a:p>
                <a:pPr marL="285750" indent="-285750">
                  <a:buFont typeface="Arial" panose="020B0604020202020204" pitchFamily="34" charset="0"/>
                  <a:buChar char="•"/>
                </a:pPr>
                <a:r>
                  <a:rPr lang="en-US" sz="1600" dirty="0">
                    <a:solidFill>
                      <a:srgbClr val="002060"/>
                    </a:solidFill>
                  </a:rPr>
                  <a:t>Therefore, </a:t>
                </a:r>
                <a14:m>
                  <m:oMath xmlns:m="http://schemas.openxmlformats.org/officeDocument/2006/math">
                    <m:sSubSup>
                      <m:sSubSupPr>
                        <m:ctrlPr>
                          <a:rPr lang="en-US" sz="1600" i="1" smtClean="0">
                            <a:solidFill>
                              <a:srgbClr val="002060"/>
                            </a:solidFill>
                            <a:latin typeface="Cambria Math" panose="02040503050406030204" pitchFamily="18" charset="0"/>
                          </a:rPr>
                        </m:ctrlPr>
                      </m:sSubSupPr>
                      <m:e>
                        <m:r>
                          <a:rPr lang="en-CA" sz="1600" b="0" i="1" smtClean="0">
                            <a:solidFill>
                              <a:srgbClr val="002060"/>
                            </a:solidFill>
                            <a:latin typeface="Cambria Math" panose="02040503050406030204" pitchFamily="18" charset="0"/>
                          </a:rPr>
                          <m:t>𝑉</m:t>
                        </m:r>
                      </m:e>
                      <m:sub>
                        <m:r>
                          <a:rPr lang="en-CA" sz="1600" b="0" i="1" smtClean="0">
                            <a:solidFill>
                              <a:srgbClr val="002060"/>
                            </a:solidFill>
                            <a:latin typeface="Cambria Math" panose="02040503050406030204" pitchFamily="18" charset="0"/>
                          </a:rPr>
                          <m:t>𝑒𝑥</m:t>
                        </m:r>
                        <m:r>
                          <a:rPr lang="en-CA" sz="1600" b="0" i="1" smtClean="0">
                            <a:solidFill>
                              <a:srgbClr val="002060"/>
                            </a:solidFill>
                            <a:latin typeface="Cambria Math" panose="02040503050406030204" pitchFamily="18" charset="0"/>
                          </a:rPr>
                          <m:t>(</m:t>
                        </m:r>
                        <m:r>
                          <a:rPr lang="en-CA" sz="1600" b="0" i="1" smtClean="0">
                            <a:solidFill>
                              <a:srgbClr val="002060"/>
                            </a:solidFill>
                            <a:latin typeface="Cambria Math" panose="02040503050406030204" pitchFamily="18" charset="0"/>
                          </a:rPr>
                          <m:t>𝑖</m:t>
                        </m:r>
                        <m:r>
                          <a:rPr lang="en-CA" sz="1600" b="0" i="1" smtClean="0">
                            <a:solidFill>
                              <a:srgbClr val="002060"/>
                            </a:solidFill>
                            <a:latin typeface="Cambria Math" panose="02040503050406030204" pitchFamily="18" charset="0"/>
                          </a:rPr>
                          <m:t>)</m:t>
                        </m:r>
                      </m:sub>
                      <m:sup>
                        <m:r>
                          <a:rPr lang="en-CA" sz="1600" b="0" i="1" smtClean="0">
                            <a:solidFill>
                              <a:srgbClr val="002060"/>
                            </a:solidFill>
                            <a:latin typeface="Cambria Math" panose="02040503050406030204" pitchFamily="18" charset="0"/>
                          </a:rPr>
                          <m:t>𝑘</m:t>
                        </m:r>
                      </m:sup>
                    </m:sSubSup>
                  </m:oMath>
                </a14:m>
                <a:r>
                  <a:rPr lang="en-US" sz="1600" dirty="0">
                    <a:solidFill>
                      <a:srgbClr val="002060"/>
                    </a:solidFill>
                  </a:rPr>
                  <a:t> represents the transport reaction fluxes from the extracellular space into the individual community member </a:t>
                </a:r>
                <a:r>
                  <a:rPr lang="en-US" sz="1600" i="1" dirty="0">
                    <a:solidFill>
                      <a:srgbClr val="002060"/>
                    </a:solidFill>
                  </a:rPr>
                  <a:t>k</a:t>
                </a:r>
                <a:r>
                  <a:rPr lang="en-US" sz="1600" dirty="0">
                    <a:solidFill>
                      <a:srgbClr val="002060"/>
                    </a:solidFill>
                  </a:rPr>
                  <a:t> taking into account the abundance of the organism.</a:t>
                </a:r>
              </a:p>
              <a:p>
                <a:pPr marL="285750" indent="-285750">
                  <a:buFont typeface="Arial" panose="020B0604020202020204" pitchFamily="34" charset="0"/>
                  <a:buChar char="•"/>
                </a:pPr>
                <a:r>
                  <a:rPr lang="en-US" sz="1600" dirty="0">
                    <a:solidFill>
                      <a:srgbClr val="002060"/>
                    </a:solidFill>
                  </a:rPr>
                  <a:t>Term </a:t>
                </a:r>
                <a14:m>
                  <m:oMath xmlns:m="http://schemas.openxmlformats.org/officeDocument/2006/math">
                    <m:sSubSup>
                      <m:sSubSupPr>
                        <m:ctrlPr>
                          <a:rPr lang="en-US" sz="1600" i="1" smtClean="0">
                            <a:solidFill>
                              <a:srgbClr val="002060"/>
                            </a:solidFill>
                            <a:latin typeface="Cambria Math" panose="02040503050406030204" pitchFamily="18" charset="0"/>
                          </a:rPr>
                        </m:ctrlPr>
                      </m:sSubSupPr>
                      <m:e>
                        <m:r>
                          <a:rPr lang="en-CA" sz="1600" b="0" i="1" smtClean="0">
                            <a:solidFill>
                              <a:srgbClr val="002060"/>
                            </a:solidFill>
                            <a:latin typeface="Cambria Math" panose="02040503050406030204" pitchFamily="18" charset="0"/>
                          </a:rPr>
                          <m:t>𝑉</m:t>
                        </m:r>
                      </m:e>
                      <m:sub>
                        <m:r>
                          <a:rPr lang="en-CA" sz="1600" b="0" i="1" smtClean="0">
                            <a:solidFill>
                              <a:srgbClr val="002060"/>
                            </a:solidFill>
                            <a:latin typeface="Cambria Math" panose="02040503050406030204" pitchFamily="18" charset="0"/>
                          </a:rPr>
                          <m:t>𝑒𝑥</m:t>
                        </m:r>
                        <m:r>
                          <a:rPr lang="en-CA" sz="1600" b="0" i="1" smtClean="0">
                            <a:solidFill>
                              <a:srgbClr val="002060"/>
                            </a:solidFill>
                            <a:latin typeface="Cambria Math" panose="02040503050406030204" pitchFamily="18" charset="0"/>
                          </a:rPr>
                          <m:t>(</m:t>
                        </m:r>
                        <m:r>
                          <a:rPr lang="en-CA" sz="1600" b="0" i="1" smtClean="0">
                            <a:solidFill>
                              <a:srgbClr val="002060"/>
                            </a:solidFill>
                            <a:latin typeface="Cambria Math" panose="02040503050406030204" pitchFamily="18" charset="0"/>
                          </a:rPr>
                          <m:t>𝑖</m:t>
                        </m:r>
                        <m:r>
                          <a:rPr lang="en-CA" sz="1600" b="0" i="1" smtClean="0">
                            <a:solidFill>
                              <a:srgbClr val="002060"/>
                            </a:solidFill>
                            <a:latin typeface="Cambria Math" panose="02040503050406030204" pitchFamily="18" charset="0"/>
                          </a:rPr>
                          <m:t>)</m:t>
                        </m:r>
                      </m:sub>
                      <m:sup>
                        <m:r>
                          <a:rPr lang="en-CA" sz="1600" b="0" i="1" smtClean="0">
                            <a:solidFill>
                              <a:srgbClr val="002060"/>
                            </a:solidFill>
                            <a:latin typeface="Cambria Math" panose="02040503050406030204" pitchFamily="18" charset="0"/>
                          </a:rPr>
                          <m:t>𝑘</m:t>
                        </m:r>
                      </m:sup>
                    </m:sSubSup>
                    <m:r>
                      <a:rPr lang="en-CA" sz="1600" b="0" i="1" smtClean="0">
                        <a:solidFill>
                          <a:srgbClr val="002060"/>
                        </a:solidFill>
                        <a:latin typeface="Cambria Math" panose="02040503050406030204" pitchFamily="18" charset="0"/>
                      </a:rPr>
                      <m:t> </m:t>
                    </m:r>
                  </m:oMath>
                </a14:m>
                <a:r>
                  <a:rPr lang="en-US" sz="1600" dirty="0">
                    <a:solidFill>
                      <a:srgbClr val="002060"/>
                    </a:solidFill>
                  </a:rPr>
                  <a:t>quantifies the contribution of each microbe </a:t>
                </a:r>
                <a:r>
                  <a:rPr lang="en-US" sz="1600" i="1" dirty="0">
                    <a:solidFill>
                      <a:srgbClr val="002060"/>
                    </a:solidFill>
                  </a:rPr>
                  <a:t>k</a:t>
                </a:r>
                <a:r>
                  <a:rPr lang="en-US" sz="1600" dirty="0">
                    <a:solidFill>
                      <a:srgbClr val="002060"/>
                    </a:solidFill>
                  </a:rPr>
                  <a:t> to the community-wide balance of metabolite </a:t>
                </a:r>
                <a:r>
                  <a:rPr lang="en-US" sz="1600" i="1" dirty="0" err="1">
                    <a:solidFill>
                      <a:srgbClr val="002060"/>
                    </a:solidFill>
                  </a:rPr>
                  <a:t>i</a:t>
                </a:r>
                <a:r>
                  <a:rPr lang="en-US" sz="1600" dirty="0">
                    <a:solidFill>
                      <a:srgbClr val="002060"/>
                    </a:solidFill>
                  </a:rPr>
                  <a:t> as denoted by terms </a:t>
                </a:r>
                <a14:m>
                  <m:oMath xmlns:m="http://schemas.openxmlformats.org/officeDocument/2006/math">
                    <m:sSubSup>
                      <m:sSubSupPr>
                        <m:ctrlPr>
                          <a:rPr lang="en-US" sz="1600" i="1" smtClean="0">
                            <a:solidFill>
                              <a:srgbClr val="002060"/>
                            </a:solidFill>
                            <a:latin typeface="Cambria Math" panose="02040503050406030204" pitchFamily="18" charset="0"/>
                          </a:rPr>
                        </m:ctrlPr>
                      </m:sSubSupPr>
                      <m:e>
                        <m:r>
                          <a:rPr lang="en-CA" sz="1600" b="0" i="1" smtClean="0">
                            <a:solidFill>
                              <a:srgbClr val="002060"/>
                            </a:solidFill>
                            <a:latin typeface="Cambria Math" panose="02040503050406030204" pitchFamily="18" charset="0"/>
                          </a:rPr>
                          <m:t>𝑢</m:t>
                        </m:r>
                      </m:e>
                      <m:sub>
                        <m:r>
                          <a:rPr lang="en-CA" sz="1600" b="0" i="1" smtClean="0">
                            <a:solidFill>
                              <a:srgbClr val="002060"/>
                            </a:solidFill>
                            <a:latin typeface="Cambria Math" panose="02040503050406030204" pitchFamily="18" charset="0"/>
                          </a:rPr>
                          <m:t>𝑖</m:t>
                        </m:r>
                      </m:sub>
                      <m:sup>
                        <m:r>
                          <a:rPr lang="en-CA" sz="1600" b="0" i="1" smtClean="0">
                            <a:solidFill>
                              <a:srgbClr val="002060"/>
                            </a:solidFill>
                            <a:latin typeface="Cambria Math" panose="02040503050406030204" pitchFamily="18" charset="0"/>
                          </a:rPr>
                          <m:t>𝑐</m:t>
                        </m:r>
                      </m:sup>
                    </m:sSubSup>
                  </m:oMath>
                </a14:m>
                <a:r>
                  <a:rPr lang="en-US" sz="1600" dirty="0">
                    <a:solidFill>
                      <a:srgbClr val="002060"/>
                    </a:solidFill>
                  </a:rPr>
                  <a:t> and </a:t>
                </a:r>
                <a14:m>
                  <m:oMath xmlns:m="http://schemas.openxmlformats.org/officeDocument/2006/math">
                    <m:sSubSup>
                      <m:sSubSupPr>
                        <m:ctrlPr>
                          <a:rPr lang="en-US" sz="1600" i="1">
                            <a:solidFill>
                              <a:srgbClr val="002060"/>
                            </a:solidFill>
                            <a:latin typeface="Cambria Math" panose="02040503050406030204" pitchFamily="18" charset="0"/>
                          </a:rPr>
                        </m:ctrlPr>
                      </m:sSubSupPr>
                      <m:e>
                        <m:r>
                          <a:rPr lang="en-CA" sz="1600" b="0" i="1" smtClean="0">
                            <a:solidFill>
                              <a:srgbClr val="002060"/>
                            </a:solidFill>
                            <a:latin typeface="Cambria Math" panose="02040503050406030204" pitchFamily="18" charset="0"/>
                          </a:rPr>
                          <m:t>𝑒</m:t>
                        </m:r>
                      </m:e>
                      <m:sub>
                        <m:r>
                          <a:rPr lang="en-CA" sz="1600" i="1">
                            <a:solidFill>
                              <a:srgbClr val="002060"/>
                            </a:solidFill>
                            <a:latin typeface="Cambria Math" panose="02040503050406030204" pitchFamily="18" charset="0"/>
                          </a:rPr>
                          <m:t>𝑖</m:t>
                        </m:r>
                      </m:sub>
                      <m:sup>
                        <m:r>
                          <a:rPr lang="en-CA" sz="1600" i="1">
                            <a:solidFill>
                              <a:srgbClr val="002060"/>
                            </a:solidFill>
                            <a:latin typeface="Cambria Math" panose="02040503050406030204" pitchFamily="18" charset="0"/>
                          </a:rPr>
                          <m:t>𝑐</m:t>
                        </m:r>
                      </m:sup>
                    </m:sSubSup>
                  </m:oMath>
                </a14:m>
                <a:r>
                  <a:rPr lang="en-US" sz="1600" dirty="0">
                    <a:solidFill>
                      <a:srgbClr val="002060"/>
                    </a:solidFill>
                  </a:rPr>
                  <a:t>.</a:t>
                </a:r>
              </a:p>
            </p:txBody>
          </p:sp>
        </mc:Choice>
        <mc:Fallback xmlns="">
          <p:sp>
            <p:nvSpPr>
              <p:cNvPr id="14" name="TextBox 13">
                <a:extLst>
                  <a:ext uri="{FF2B5EF4-FFF2-40B4-BE49-F238E27FC236}">
                    <a16:creationId xmlns:a16="http://schemas.microsoft.com/office/drawing/2014/main" id="{E66B002B-01FB-C831-2B62-718E6A72C032}"/>
                  </a:ext>
                </a:extLst>
              </p:cNvPr>
              <p:cNvSpPr txBox="1">
                <a:spLocks noRot="1" noChangeAspect="1" noMove="1" noResize="1" noEditPoints="1" noAdjustHandles="1" noChangeArrowheads="1" noChangeShapeType="1" noTextEdit="1"/>
              </p:cNvSpPr>
              <p:nvPr/>
            </p:nvSpPr>
            <p:spPr>
              <a:xfrm>
                <a:off x="506185" y="5604328"/>
                <a:ext cx="11332027" cy="1185646"/>
              </a:xfrm>
              <a:prstGeom prst="rect">
                <a:avLst/>
              </a:prstGeom>
              <a:blipFill>
                <a:blip r:embed="rId7"/>
                <a:stretch>
                  <a:fillRect l="-224" b="-5319"/>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2E55D547-AD50-1BE8-2359-015D03933B4C}"/>
              </a:ext>
            </a:extLst>
          </p:cNvPr>
          <p:cNvSpPr txBox="1"/>
          <p:nvPr/>
        </p:nvSpPr>
        <p:spPr>
          <a:xfrm>
            <a:off x="5468193" y="4999301"/>
            <a:ext cx="442750" cy="369332"/>
          </a:xfrm>
          <a:prstGeom prst="rect">
            <a:avLst/>
          </a:prstGeom>
          <a:noFill/>
        </p:spPr>
        <p:txBody>
          <a:bodyPr wrap="none" rtlCol="0">
            <a:spAutoFit/>
          </a:bodyPr>
          <a:lstStyle/>
          <a:p>
            <a:r>
              <a:rPr lang="en-US" dirty="0"/>
              <a:t>(3)</a:t>
            </a:r>
          </a:p>
        </p:txBody>
      </p:sp>
      <p:cxnSp>
        <p:nvCxnSpPr>
          <p:cNvPr id="13" name="Straight Arrow Connector 12">
            <a:extLst>
              <a:ext uri="{FF2B5EF4-FFF2-40B4-BE49-F238E27FC236}">
                <a16:creationId xmlns:a16="http://schemas.microsoft.com/office/drawing/2014/main" id="{C855A4DB-39BB-DF3B-3A13-1DE56C12932C}"/>
              </a:ext>
            </a:extLst>
          </p:cNvPr>
          <p:cNvCxnSpPr>
            <a:cxnSpLocks/>
          </p:cNvCxnSpPr>
          <p:nvPr/>
        </p:nvCxnSpPr>
        <p:spPr>
          <a:xfrm>
            <a:off x="6096000" y="5153807"/>
            <a:ext cx="87085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9E198280-1005-0E7C-D5D7-EC05E01ECDAF}"/>
              </a:ext>
            </a:extLst>
          </p:cNvPr>
          <p:cNvPicPr>
            <a:picLocks noChangeAspect="1"/>
          </p:cNvPicPr>
          <p:nvPr/>
        </p:nvPicPr>
        <p:blipFill rotWithShape="1">
          <a:blip r:embed="rId8"/>
          <a:srcRect r="31783"/>
          <a:stretch/>
        </p:blipFill>
        <p:spPr>
          <a:xfrm>
            <a:off x="1511042" y="4854854"/>
            <a:ext cx="3529495" cy="762629"/>
          </a:xfrm>
          <a:prstGeom prst="rect">
            <a:avLst/>
          </a:prstGeom>
        </p:spPr>
      </p:pic>
      <p:sp>
        <p:nvSpPr>
          <p:cNvPr id="16" name="Rectangle 15">
            <a:extLst>
              <a:ext uri="{FF2B5EF4-FFF2-40B4-BE49-F238E27FC236}">
                <a16:creationId xmlns:a16="http://schemas.microsoft.com/office/drawing/2014/main" id="{EC2D4EAF-3DA5-445B-D3B5-C07A522E0189}"/>
              </a:ext>
            </a:extLst>
          </p:cNvPr>
          <p:cNvSpPr/>
          <p:nvPr/>
        </p:nvSpPr>
        <p:spPr>
          <a:xfrm>
            <a:off x="2604790" y="4970257"/>
            <a:ext cx="840776" cy="62378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57855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0E93-D98A-42BC-A921-404C199253F7}"/>
              </a:ext>
            </a:extLst>
          </p:cNvPr>
          <p:cNvSpPr>
            <a:spLocks noGrp="1"/>
          </p:cNvSpPr>
          <p:nvPr>
            <p:ph type="title"/>
          </p:nvPr>
        </p:nvSpPr>
        <p:spPr>
          <a:xfrm>
            <a:off x="633218" y="291254"/>
            <a:ext cx="10515600" cy="887603"/>
          </a:xfrm>
        </p:spPr>
        <p:txBody>
          <a:bodyPr>
            <a:normAutofit fontScale="90000"/>
          </a:bodyPr>
          <a:lstStyle/>
          <a:p>
            <a:r>
              <a:rPr lang="en-US" b="1" dirty="0"/>
              <a:t>Deriving </a:t>
            </a:r>
            <a:r>
              <a:rPr lang="en-US" b="1" dirty="0" err="1"/>
              <a:t>SteadyCom</a:t>
            </a:r>
            <a:r>
              <a:rPr lang="en-US" b="1" dirty="0"/>
              <a:t> Constraints: Aggregate Flux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0EF6A1-9A0B-4DA1-9B18-DD4FB36F7375}"/>
                  </a:ext>
                </a:extLst>
              </p:cNvPr>
              <p:cNvSpPr>
                <a:spLocks noGrp="1"/>
              </p:cNvSpPr>
              <p:nvPr>
                <p:ph idx="1"/>
              </p:nvPr>
            </p:nvSpPr>
            <p:spPr>
              <a:xfrm>
                <a:off x="596900" y="1339294"/>
                <a:ext cx="10515600" cy="812800"/>
              </a:xfrm>
            </p:spPr>
            <p:txBody>
              <a:bodyPr>
                <a:normAutofit/>
              </a:bodyPr>
              <a:lstStyle/>
              <a:p>
                <a:pPr marL="0" indent="0">
                  <a:buNone/>
                </a:pPr>
                <a:r>
                  <a:rPr lang="en-US" sz="2000" dirty="0"/>
                  <a:t>Eqs (</a:t>
                </a:r>
                <a:r>
                  <a:rPr lang="en-US" sz="2000" b="1" dirty="0"/>
                  <a:t>1</a:t>
                </a:r>
                <a:r>
                  <a:rPr lang="en-US" sz="2000" dirty="0"/>
                  <a:t>) and (</a:t>
                </a:r>
                <a:r>
                  <a:rPr lang="en-US" sz="2000" b="1" dirty="0"/>
                  <a:t>2</a:t>
                </a:r>
                <a:r>
                  <a:rPr lang="en-US" sz="2000" dirty="0"/>
                  <a:t>) can be expressed in terms of the aggregate flux by multiplying each equation by </a:t>
                </a:r>
                <a14:m>
                  <m:oMath xmlns:m="http://schemas.openxmlformats.org/officeDocument/2006/math">
                    <m:sSup>
                      <m:sSupPr>
                        <m:ctrlPr>
                          <a:rPr lang="en-US" sz="2000" i="1" smtClean="0">
                            <a:latin typeface="Cambria Math" panose="02040503050406030204" pitchFamily="18" charset="0"/>
                          </a:rPr>
                        </m:ctrlPr>
                      </m:sSupPr>
                      <m:e>
                        <m:r>
                          <a:rPr lang="en-CA" sz="2000" b="0" i="1" smtClean="0">
                            <a:latin typeface="Cambria Math" panose="02040503050406030204" pitchFamily="18" charset="0"/>
                          </a:rPr>
                          <m:t>𝑋</m:t>
                        </m:r>
                      </m:e>
                      <m:sup>
                        <m:r>
                          <a:rPr lang="en-CA" sz="2000" b="0" i="1" smtClean="0">
                            <a:latin typeface="Cambria Math" panose="02040503050406030204" pitchFamily="18" charset="0"/>
                          </a:rPr>
                          <m:t>𝑘</m:t>
                        </m:r>
                      </m:sup>
                    </m:sSup>
                  </m:oMath>
                </a14:m>
                <a:r>
                  <a:rPr lang="en-US" sz="2000" dirty="0"/>
                  <a:t> for each organism </a:t>
                </a:r>
                <a:r>
                  <a:rPr lang="en-US" sz="2000" i="1" dirty="0"/>
                  <a:t>k</a:t>
                </a:r>
                <a:r>
                  <a:rPr lang="en-US" sz="2000" dirty="0"/>
                  <a:t> in </a:t>
                </a:r>
                <a:r>
                  <a:rPr lang="en-US" sz="2000" i="1" dirty="0"/>
                  <a:t>K</a:t>
                </a:r>
                <a:r>
                  <a:rPr lang="en-US" sz="2000" dirty="0"/>
                  <a:t>:</a:t>
                </a:r>
              </a:p>
            </p:txBody>
          </p:sp>
        </mc:Choice>
        <mc:Fallback xmlns="">
          <p:sp>
            <p:nvSpPr>
              <p:cNvPr id="3" name="Content Placeholder 2">
                <a:extLst>
                  <a:ext uri="{FF2B5EF4-FFF2-40B4-BE49-F238E27FC236}">
                    <a16:creationId xmlns:a16="http://schemas.microsoft.com/office/drawing/2014/main" id="{580EF6A1-9A0B-4DA1-9B18-DD4FB36F7375}"/>
                  </a:ext>
                </a:extLst>
              </p:cNvPr>
              <p:cNvSpPr>
                <a:spLocks noGrp="1" noRot="1" noChangeAspect="1" noMove="1" noResize="1" noEditPoints="1" noAdjustHandles="1" noChangeArrowheads="1" noChangeShapeType="1" noTextEdit="1"/>
              </p:cNvSpPr>
              <p:nvPr>
                <p:ph idx="1"/>
              </p:nvPr>
            </p:nvSpPr>
            <p:spPr>
              <a:xfrm>
                <a:off x="596900" y="1339294"/>
                <a:ext cx="10515600" cy="812800"/>
              </a:xfrm>
              <a:blipFill>
                <a:blip r:embed="rId3"/>
                <a:stretch>
                  <a:fillRect l="-638" t="-7519"/>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5F696E55-DC5B-BDFF-4275-44C99DA088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20757" y="2091339"/>
            <a:ext cx="4020424" cy="895798"/>
          </a:xfrm>
          <a:prstGeom prst="rect">
            <a:avLst/>
          </a:prstGeom>
        </p:spPr>
      </p:pic>
      <p:sp>
        <p:nvSpPr>
          <p:cNvPr id="6" name="TextBox 5">
            <a:extLst>
              <a:ext uri="{FF2B5EF4-FFF2-40B4-BE49-F238E27FC236}">
                <a16:creationId xmlns:a16="http://schemas.microsoft.com/office/drawing/2014/main" id="{3EB5CEA0-E6D2-14FD-1482-8AEFAEA90D48}"/>
              </a:ext>
            </a:extLst>
          </p:cNvPr>
          <p:cNvSpPr txBox="1"/>
          <p:nvPr/>
        </p:nvSpPr>
        <p:spPr>
          <a:xfrm>
            <a:off x="10649825" y="2234611"/>
            <a:ext cx="442750" cy="369332"/>
          </a:xfrm>
          <a:prstGeom prst="rect">
            <a:avLst/>
          </a:prstGeom>
          <a:noFill/>
        </p:spPr>
        <p:txBody>
          <a:bodyPr wrap="none" rtlCol="0">
            <a:spAutoFit/>
          </a:bodyPr>
          <a:lstStyle/>
          <a:p>
            <a:r>
              <a:rPr lang="en-US" dirty="0"/>
              <a:t>(8)</a:t>
            </a:r>
          </a:p>
        </p:txBody>
      </p:sp>
      <p:pic>
        <p:nvPicPr>
          <p:cNvPr id="8" name="Picture 7" descr="A close-up of a logo&#10;&#10;Description automatically generated">
            <a:extLst>
              <a:ext uri="{FF2B5EF4-FFF2-40B4-BE49-F238E27FC236}">
                <a16:creationId xmlns:a16="http://schemas.microsoft.com/office/drawing/2014/main" id="{902F99C2-C034-CECE-7C75-BE20339B5D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97071" y="3206533"/>
            <a:ext cx="5667796" cy="751012"/>
          </a:xfrm>
          <a:prstGeom prst="rect">
            <a:avLst/>
          </a:prstGeom>
        </p:spPr>
      </p:pic>
      <p:sp>
        <p:nvSpPr>
          <p:cNvPr id="9" name="TextBox 8">
            <a:extLst>
              <a:ext uri="{FF2B5EF4-FFF2-40B4-BE49-F238E27FC236}">
                <a16:creationId xmlns:a16="http://schemas.microsoft.com/office/drawing/2014/main" id="{722DB053-6167-28EB-293D-ED72117848B2}"/>
              </a:ext>
            </a:extLst>
          </p:cNvPr>
          <p:cNvSpPr txBox="1"/>
          <p:nvPr/>
        </p:nvSpPr>
        <p:spPr>
          <a:xfrm>
            <a:off x="11468372" y="3308801"/>
            <a:ext cx="442750" cy="369332"/>
          </a:xfrm>
          <a:prstGeom prst="rect">
            <a:avLst/>
          </a:prstGeom>
          <a:noFill/>
        </p:spPr>
        <p:txBody>
          <a:bodyPr wrap="none" rtlCol="0">
            <a:spAutoFit/>
          </a:bodyPr>
          <a:lstStyle/>
          <a:p>
            <a:r>
              <a:rPr lang="en-US" dirty="0"/>
              <a:t>(9)</a:t>
            </a:r>
          </a:p>
        </p:txBody>
      </p:sp>
      <p:sp>
        <p:nvSpPr>
          <p:cNvPr id="11" name="TextBox 10">
            <a:extLst>
              <a:ext uri="{FF2B5EF4-FFF2-40B4-BE49-F238E27FC236}">
                <a16:creationId xmlns:a16="http://schemas.microsoft.com/office/drawing/2014/main" id="{0DEB8B29-60DD-FB92-DAEE-AED50050A39E}"/>
              </a:ext>
            </a:extLst>
          </p:cNvPr>
          <p:cNvSpPr txBox="1"/>
          <p:nvPr/>
        </p:nvSpPr>
        <p:spPr>
          <a:xfrm>
            <a:off x="663997" y="4067015"/>
            <a:ext cx="10947630" cy="707886"/>
          </a:xfrm>
          <a:prstGeom prst="rect">
            <a:avLst/>
          </a:prstGeom>
          <a:noFill/>
        </p:spPr>
        <p:txBody>
          <a:bodyPr wrap="square">
            <a:spAutoFit/>
          </a:bodyPr>
          <a:lstStyle/>
          <a:p>
            <a:r>
              <a:rPr lang="en-US" sz="2000" dirty="0">
                <a:solidFill>
                  <a:srgbClr val="002060"/>
                </a:solidFill>
              </a:rPr>
              <a:t>This establishes the mass balance and flux capacity constraints in terms of the aggregate flux and biomass variables.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DAF8101-D84A-F182-F0E4-0C69C61C34B1}"/>
                  </a:ext>
                </a:extLst>
              </p:cNvPr>
              <p:cNvSpPr txBox="1"/>
              <p:nvPr/>
            </p:nvSpPr>
            <p:spPr>
              <a:xfrm>
                <a:off x="633218" y="4815845"/>
                <a:ext cx="10237982" cy="738151"/>
              </a:xfrm>
              <a:prstGeom prst="rect">
                <a:avLst/>
              </a:prstGeom>
              <a:noFill/>
            </p:spPr>
            <p:txBody>
              <a:bodyPr wrap="square">
                <a:spAutoFit/>
              </a:bodyPr>
              <a:lstStyle/>
              <a:p>
                <a:r>
                  <a:rPr lang="en-US" sz="2000" dirty="0"/>
                  <a:t>Starting from Eq (</a:t>
                </a:r>
                <a:r>
                  <a:rPr lang="en-US" sz="2000" b="1" dirty="0"/>
                  <a:t>5</a:t>
                </a:r>
                <a:r>
                  <a:rPr lang="en-US" sz="2000" dirty="0"/>
                  <a:t>) the community steady-state condition is restated so as to relate </a:t>
                </a:r>
                <a14:m>
                  <m:oMath xmlns:m="http://schemas.openxmlformats.org/officeDocument/2006/math">
                    <m:sSup>
                      <m:sSupPr>
                        <m:ctrlPr>
                          <a:rPr lang="en-US" sz="2000" i="1" smtClean="0">
                            <a:latin typeface="Cambria Math" panose="02040503050406030204" pitchFamily="18" charset="0"/>
                          </a:rPr>
                        </m:ctrlPr>
                      </m:sSupPr>
                      <m:e>
                        <m:r>
                          <a:rPr lang="en-CA" sz="2000" b="0" i="1" smtClean="0">
                            <a:latin typeface="Cambria Math" panose="02040503050406030204" pitchFamily="18" charset="0"/>
                          </a:rPr>
                          <m:t>𝑋</m:t>
                        </m:r>
                      </m:e>
                      <m:sup>
                        <m:r>
                          <a:rPr lang="en-CA" sz="2000" b="0" i="1" smtClean="0">
                            <a:latin typeface="Cambria Math" panose="02040503050406030204" pitchFamily="18" charset="0"/>
                          </a:rPr>
                          <m:t>𝑘</m:t>
                        </m:r>
                      </m:sup>
                    </m:sSup>
                  </m:oMath>
                </a14:m>
                <a:r>
                  <a:rPr lang="en-US" sz="2000" dirty="0"/>
                  <a:t>, </a:t>
                </a:r>
                <a:r>
                  <a:rPr lang="en-US" sz="2000" i="1" dirty="0" err="1"/>
                  <a:t>μ</a:t>
                </a:r>
                <a:r>
                  <a:rPr lang="en-US" sz="2000" dirty="0"/>
                  <a:t> and the aggregate biomass production </a:t>
                </a:r>
                <a14:m>
                  <m:oMath xmlns:m="http://schemas.openxmlformats.org/officeDocument/2006/math">
                    <m:sSubSup>
                      <m:sSubSupPr>
                        <m:ctrlPr>
                          <a:rPr lang="en-US" sz="2000" i="1" smtClean="0">
                            <a:latin typeface="Cambria Math" panose="02040503050406030204" pitchFamily="18" charset="0"/>
                          </a:rPr>
                        </m:ctrlPr>
                      </m:sSubSupPr>
                      <m:e>
                        <m:r>
                          <a:rPr lang="en-CA" sz="2000" b="0" i="1" smtClean="0">
                            <a:latin typeface="Cambria Math" panose="02040503050406030204" pitchFamily="18" charset="0"/>
                          </a:rPr>
                          <m:t>𝑉</m:t>
                        </m:r>
                      </m:e>
                      <m:sub>
                        <m:r>
                          <a:rPr lang="en-CA" sz="2000" b="0" i="1" smtClean="0">
                            <a:latin typeface="Cambria Math" panose="02040503050406030204" pitchFamily="18" charset="0"/>
                          </a:rPr>
                          <m:t>𝑏𝑖𝑜𝑚𝑎𝑠𝑠</m:t>
                        </m:r>
                      </m:sub>
                      <m:sup>
                        <m:r>
                          <a:rPr lang="en-CA" sz="2000" b="0" i="1" smtClean="0">
                            <a:latin typeface="Cambria Math" panose="02040503050406030204" pitchFamily="18" charset="0"/>
                          </a:rPr>
                          <m:t>𝑘</m:t>
                        </m:r>
                      </m:sup>
                    </m:sSubSup>
                    <m:r>
                      <a:rPr lang="en-CA" sz="2000" b="0" i="1" smtClean="0">
                        <a:latin typeface="Cambria Math" panose="02040503050406030204" pitchFamily="18" charset="0"/>
                      </a:rPr>
                      <m:t>:</m:t>
                    </m:r>
                  </m:oMath>
                </a14:m>
                <a:endParaRPr lang="en-US" sz="2000" dirty="0"/>
              </a:p>
            </p:txBody>
          </p:sp>
        </mc:Choice>
        <mc:Fallback xmlns="">
          <p:sp>
            <p:nvSpPr>
              <p:cNvPr id="13" name="TextBox 12">
                <a:extLst>
                  <a:ext uri="{FF2B5EF4-FFF2-40B4-BE49-F238E27FC236}">
                    <a16:creationId xmlns:a16="http://schemas.microsoft.com/office/drawing/2014/main" id="{DDAF8101-D84A-F182-F0E4-0C69C61C34B1}"/>
                  </a:ext>
                </a:extLst>
              </p:cNvPr>
              <p:cNvSpPr txBox="1">
                <a:spLocks noRot="1" noChangeAspect="1" noMove="1" noResize="1" noEditPoints="1" noAdjustHandles="1" noChangeArrowheads="1" noChangeShapeType="1" noTextEdit="1"/>
              </p:cNvSpPr>
              <p:nvPr/>
            </p:nvSpPr>
            <p:spPr>
              <a:xfrm>
                <a:off x="633218" y="4815845"/>
                <a:ext cx="10237982" cy="738151"/>
              </a:xfrm>
              <a:prstGeom prst="rect">
                <a:avLst/>
              </a:prstGeom>
              <a:blipFill>
                <a:blip r:embed="rId6"/>
                <a:stretch>
                  <a:fillRect l="-620" t="-5085" b="-11864"/>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081D1AEC-637A-AA76-1FF7-57DDFDFBD7F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10400" y="5874869"/>
            <a:ext cx="3860800" cy="647700"/>
          </a:xfrm>
          <a:prstGeom prst="rect">
            <a:avLst/>
          </a:prstGeom>
        </p:spPr>
      </p:pic>
      <p:sp>
        <p:nvSpPr>
          <p:cNvPr id="16" name="TextBox 15">
            <a:extLst>
              <a:ext uri="{FF2B5EF4-FFF2-40B4-BE49-F238E27FC236}">
                <a16:creationId xmlns:a16="http://schemas.microsoft.com/office/drawing/2014/main" id="{21B50749-390D-CE1B-DE27-DC2660D3780A}"/>
              </a:ext>
            </a:extLst>
          </p:cNvPr>
          <p:cNvSpPr txBox="1"/>
          <p:nvPr/>
        </p:nvSpPr>
        <p:spPr>
          <a:xfrm>
            <a:off x="11215429" y="5982394"/>
            <a:ext cx="559769" cy="369332"/>
          </a:xfrm>
          <a:prstGeom prst="rect">
            <a:avLst/>
          </a:prstGeom>
          <a:noFill/>
        </p:spPr>
        <p:txBody>
          <a:bodyPr wrap="none" rtlCol="0">
            <a:spAutoFit/>
          </a:bodyPr>
          <a:lstStyle/>
          <a:p>
            <a:r>
              <a:rPr lang="en-US" dirty="0"/>
              <a:t>(10)</a:t>
            </a:r>
          </a:p>
        </p:txBody>
      </p:sp>
      <p:cxnSp>
        <p:nvCxnSpPr>
          <p:cNvPr id="20" name="Straight Arrow Connector 19">
            <a:extLst>
              <a:ext uri="{FF2B5EF4-FFF2-40B4-BE49-F238E27FC236}">
                <a16:creationId xmlns:a16="http://schemas.microsoft.com/office/drawing/2014/main" id="{0A5F0E2C-CD89-79F3-1CA3-9DBB866E2F55}"/>
              </a:ext>
            </a:extLst>
          </p:cNvPr>
          <p:cNvCxnSpPr>
            <a:cxnSpLocks/>
          </p:cNvCxnSpPr>
          <p:nvPr/>
        </p:nvCxnSpPr>
        <p:spPr>
          <a:xfrm>
            <a:off x="4881352" y="2986805"/>
            <a:ext cx="87085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6D8CC72-DE0D-2BA6-D2DD-BEA959086D08}"/>
              </a:ext>
            </a:extLst>
          </p:cNvPr>
          <p:cNvCxnSpPr>
            <a:cxnSpLocks/>
          </p:cNvCxnSpPr>
          <p:nvPr/>
        </p:nvCxnSpPr>
        <p:spPr>
          <a:xfrm>
            <a:off x="5854700" y="6118890"/>
            <a:ext cx="87085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C1E4657F-8E3B-63EE-F1A4-552074AE98BD}"/>
              </a:ext>
            </a:extLst>
          </p:cNvPr>
          <p:cNvPicPr>
            <a:picLocks noChangeAspect="1"/>
          </p:cNvPicPr>
          <p:nvPr/>
        </p:nvPicPr>
        <p:blipFill>
          <a:blip r:embed="rId8"/>
          <a:stretch>
            <a:fillRect/>
          </a:stretch>
        </p:blipFill>
        <p:spPr>
          <a:xfrm>
            <a:off x="502253" y="2012934"/>
            <a:ext cx="4312860" cy="1947743"/>
          </a:xfrm>
          <a:prstGeom prst="rect">
            <a:avLst/>
          </a:prstGeom>
        </p:spPr>
      </p:pic>
      <p:pic>
        <p:nvPicPr>
          <p:cNvPr id="23" name="Picture 22">
            <a:extLst>
              <a:ext uri="{FF2B5EF4-FFF2-40B4-BE49-F238E27FC236}">
                <a16:creationId xmlns:a16="http://schemas.microsoft.com/office/drawing/2014/main" id="{1C35789F-A01E-481B-8D96-AC15C595DFF1}"/>
              </a:ext>
            </a:extLst>
          </p:cNvPr>
          <p:cNvPicPr>
            <a:picLocks noChangeAspect="1"/>
          </p:cNvPicPr>
          <p:nvPr/>
        </p:nvPicPr>
        <p:blipFill>
          <a:blip r:embed="rId9"/>
          <a:stretch>
            <a:fillRect/>
          </a:stretch>
        </p:blipFill>
        <p:spPr>
          <a:xfrm>
            <a:off x="1340489" y="5756877"/>
            <a:ext cx="3450336" cy="874848"/>
          </a:xfrm>
          <a:prstGeom prst="rect">
            <a:avLst/>
          </a:prstGeom>
        </p:spPr>
      </p:pic>
      <p:sp>
        <p:nvSpPr>
          <p:cNvPr id="24" name="TextBox 23">
            <a:extLst>
              <a:ext uri="{FF2B5EF4-FFF2-40B4-BE49-F238E27FC236}">
                <a16:creationId xmlns:a16="http://schemas.microsoft.com/office/drawing/2014/main" id="{8BEB059D-FB2A-DD95-754C-2CF752F7D10D}"/>
              </a:ext>
            </a:extLst>
          </p:cNvPr>
          <p:cNvSpPr txBox="1"/>
          <p:nvPr/>
        </p:nvSpPr>
        <p:spPr>
          <a:xfrm>
            <a:off x="4992661" y="5926335"/>
            <a:ext cx="442750" cy="369332"/>
          </a:xfrm>
          <a:prstGeom prst="rect">
            <a:avLst/>
          </a:prstGeom>
          <a:noFill/>
        </p:spPr>
        <p:txBody>
          <a:bodyPr wrap="none" rtlCol="0">
            <a:spAutoFit/>
          </a:bodyPr>
          <a:lstStyle/>
          <a:p>
            <a:r>
              <a:rPr lang="en-US" dirty="0"/>
              <a:t>(5)</a:t>
            </a:r>
          </a:p>
        </p:txBody>
      </p:sp>
    </p:spTree>
    <p:extLst>
      <p:ext uri="{BB962C8B-B14F-4D97-AF65-F5344CB8AC3E}">
        <p14:creationId xmlns:p14="http://schemas.microsoft.com/office/powerpoint/2010/main" val="10428048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0E93-D98A-42BC-A921-404C199253F7}"/>
              </a:ext>
            </a:extLst>
          </p:cNvPr>
          <p:cNvSpPr>
            <a:spLocks noGrp="1"/>
          </p:cNvSpPr>
          <p:nvPr>
            <p:ph type="title"/>
          </p:nvPr>
        </p:nvSpPr>
        <p:spPr>
          <a:xfrm>
            <a:off x="700413" y="435655"/>
            <a:ext cx="10515600" cy="887603"/>
          </a:xfrm>
        </p:spPr>
        <p:txBody>
          <a:bodyPr>
            <a:normAutofit fontScale="90000"/>
          </a:bodyPr>
          <a:lstStyle/>
          <a:p>
            <a:r>
              <a:rPr lang="en-US" b="1" dirty="0"/>
              <a:t>Deriving </a:t>
            </a:r>
            <a:r>
              <a:rPr lang="en-US" b="1" dirty="0" err="1"/>
              <a:t>SteadyCom</a:t>
            </a:r>
            <a:r>
              <a:rPr lang="en-US" b="1" dirty="0"/>
              <a:t> Constraints: Aggregate Flux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0EF6A1-9A0B-4DA1-9B18-DD4FB36F7375}"/>
                  </a:ext>
                </a:extLst>
              </p:cNvPr>
              <p:cNvSpPr>
                <a:spLocks noGrp="1"/>
              </p:cNvSpPr>
              <p:nvPr>
                <p:ph idx="1"/>
              </p:nvPr>
            </p:nvSpPr>
            <p:spPr>
              <a:xfrm>
                <a:off x="519308" y="1458491"/>
                <a:ext cx="11153384" cy="1465943"/>
              </a:xfrm>
            </p:spPr>
            <p:txBody>
              <a:bodyPr/>
              <a:lstStyle/>
              <a:p>
                <a:pPr marL="0" indent="0">
                  <a:buNone/>
                </a:pPr>
                <a:r>
                  <a:rPr lang="en-US" dirty="0"/>
                  <a:t>A non-zero total biomass </a:t>
                </a:r>
                <a14:m>
                  <m:oMath xmlns:m="http://schemas.openxmlformats.org/officeDocument/2006/math">
                    <m:sSub>
                      <m:sSubPr>
                        <m:ctrlPr>
                          <a:rPr lang="en-US" i="1" smtClean="0">
                            <a:latin typeface="Cambria Math" panose="02040503050406030204" pitchFamily="18" charset="0"/>
                          </a:rPr>
                        </m:ctrlPr>
                      </m:sSubPr>
                      <m:e>
                        <m:r>
                          <a:rPr lang="en-CA" b="0" i="1" smtClean="0">
                            <a:latin typeface="Cambria Math" panose="02040503050406030204" pitchFamily="18" charset="0"/>
                          </a:rPr>
                          <m:t>𝑋</m:t>
                        </m:r>
                      </m:e>
                      <m:sub>
                        <m:r>
                          <a:rPr lang="en-CA" b="0" i="1" smtClean="0">
                            <a:latin typeface="Cambria Math" panose="02040503050406030204" pitchFamily="18" charset="0"/>
                          </a:rPr>
                          <m:t>𝑜</m:t>
                        </m:r>
                      </m:sub>
                    </m:sSub>
                  </m:oMath>
                </a14:m>
                <a:r>
                  <a:rPr lang="en-US" dirty="0"/>
                  <a:t> for the community is defined since if </a:t>
                </a:r>
                <a14:m>
                  <m:oMath xmlns:m="http://schemas.openxmlformats.org/officeDocument/2006/math">
                    <m:sSubSup>
                      <m:sSubSupPr>
                        <m:ctrlPr>
                          <a:rPr lang="en-US" i="1" smtClean="0">
                            <a:latin typeface="Cambria Math" panose="02040503050406030204" pitchFamily="18" charset="0"/>
                          </a:rPr>
                        </m:ctrlPr>
                      </m:sSubSupPr>
                      <m:e>
                        <m:r>
                          <a:rPr lang="en-CA" b="0" i="1" smtClean="0">
                            <a:latin typeface="Cambria Math" panose="02040503050406030204" pitchFamily="18" charset="0"/>
                          </a:rPr>
                          <m:t>𝑉</m:t>
                        </m:r>
                      </m:e>
                      <m:sub>
                        <m:r>
                          <a:rPr lang="en-CA" b="0" i="1" smtClean="0">
                            <a:latin typeface="Cambria Math" panose="02040503050406030204" pitchFamily="18" charset="0"/>
                          </a:rPr>
                          <m:t>𝑗</m:t>
                        </m:r>
                      </m:sub>
                      <m:sup>
                        <m:r>
                          <a:rPr lang="en-CA" b="0" i="1" smtClean="0">
                            <a:latin typeface="Cambria Math" panose="02040503050406030204" pitchFamily="18" charset="0"/>
                          </a:rPr>
                          <m:t>𝑘</m:t>
                        </m:r>
                      </m:sup>
                    </m:sSubSup>
                    <m:r>
                      <a:rPr lang="en-CA" b="0" i="1" smtClean="0">
                        <a:latin typeface="Cambria Math" panose="02040503050406030204" pitchFamily="18" charset="0"/>
                      </a:rPr>
                      <m:t>=</m:t>
                    </m:r>
                    <m:sSup>
                      <m:sSupPr>
                        <m:ctrlPr>
                          <a:rPr lang="en-CA" b="0" i="1" smtClean="0">
                            <a:latin typeface="Cambria Math" panose="02040503050406030204" pitchFamily="18" charset="0"/>
                          </a:rPr>
                        </m:ctrlPr>
                      </m:sSupPr>
                      <m:e>
                        <m:r>
                          <a:rPr lang="en-CA" b="0" i="1" smtClean="0">
                            <a:latin typeface="Cambria Math" panose="02040503050406030204" pitchFamily="18" charset="0"/>
                          </a:rPr>
                          <m:t>𝑋</m:t>
                        </m:r>
                      </m:e>
                      <m:sup>
                        <m:r>
                          <a:rPr lang="en-CA" b="0" i="1" smtClean="0">
                            <a:latin typeface="Cambria Math" panose="02040503050406030204" pitchFamily="18" charset="0"/>
                          </a:rPr>
                          <m:t>𝑘</m:t>
                        </m:r>
                      </m:sup>
                    </m:sSup>
                    <m:r>
                      <a:rPr lang="en-CA" b="0" i="1" smtClean="0">
                        <a:latin typeface="Cambria Math" panose="02040503050406030204" pitchFamily="18" charset="0"/>
                      </a:rPr>
                      <m:t>=0</m:t>
                    </m:r>
                  </m:oMath>
                </a14:m>
                <a:r>
                  <a:rPr lang="en-US" dirty="0"/>
                  <a:t> for all </a:t>
                </a:r>
                <a:r>
                  <a:rPr lang="en-US" i="1" dirty="0"/>
                  <a:t>j</a:t>
                </a:r>
                <a:r>
                  <a:rPr lang="en-US" dirty="0"/>
                  <a:t> and </a:t>
                </a:r>
                <a:r>
                  <a:rPr lang="en-US" i="1" dirty="0"/>
                  <a:t>k</a:t>
                </a:r>
                <a:r>
                  <a:rPr lang="en-US" dirty="0"/>
                  <a:t>, </a:t>
                </a:r>
                <a:r>
                  <a:rPr lang="en-US" dirty="0" err="1"/>
                  <a:t>Eqs</a:t>
                </a:r>
                <a:r>
                  <a:rPr lang="en-US" dirty="0"/>
                  <a:t> (</a:t>
                </a:r>
                <a:r>
                  <a:rPr lang="en-US" b="1" dirty="0"/>
                  <a:t>7</a:t>
                </a:r>
                <a:r>
                  <a:rPr lang="en-US" dirty="0"/>
                  <a:t>)–(</a:t>
                </a:r>
                <a:r>
                  <a:rPr lang="en-US" b="1" dirty="0"/>
                  <a:t>10</a:t>
                </a:r>
                <a:r>
                  <a:rPr lang="en-US" dirty="0"/>
                  <a:t>) are satisfied regardless of the value of </a:t>
                </a:r>
                <a:r>
                  <a:rPr lang="el-GR" dirty="0"/>
                  <a:t>μ. </a:t>
                </a:r>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580EF6A1-9A0B-4DA1-9B18-DD4FB36F7375}"/>
                  </a:ext>
                </a:extLst>
              </p:cNvPr>
              <p:cNvSpPr>
                <a:spLocks noGrp="1" noRot="1" noChangeAspect="1" noMove="1" noResize="1" noEditPoints="1" noAdjustHandles="1" noChangeArrowheads="1" noChangeShapeType="1" noTextEdit="1"/>
              </p:cNvSpPr>
              <p:nvPr>
                <p:ph idx="1"/>
              </p:nvPr>
            </p:nvSpPr>
            <p:spPr>
              <a:xfrm>
                <a:off x="519308" y="1458491"/>
                <a:ext cx="11153384" cy="1465943"/>
              </a:xfrm>
              <a:blipFill>
                <a:blip r:embed="rId2"/>
                <a:stretch>
                  <a:fillRect l="-1093" t="-3734" r="-601"/>
                </a:stretch>
              </a:blipFill>
            </p:spPr>
            <p:txBody>
              <a:bodyPr/>
              <a:lstStyle/>
              <a:p>
                <a:r>
                  <a:rPr lang="en-US">
                    <a:noFill/>
                  </a:rPr>
                  <a:t> </a:t>
                </a:r>
              </a:p>
            </p:txBody>
          </p:sp>
        </mc:Fallback>
      </mc:AlternateContent>
      <p:pic>
        <p:nvPicPr>
          <p:cNvPr id="7" name="Picture 6" descr="A black and white math equation&#10;&#10;Description automatically generated">
            <a:extLst>
              <a:ext uri="{FF2B5EF4-FFF2-40B4-BE49-F238E27FC236}">
                <a16:creationId xmlns:a16="http://schemas.microsoft.com/office/drawing/2014/main" id="{29339566-2EAC-289B-11BB-5221921A79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3950" y="2726001"/>
            <a:ext cx="2120900" cy="1079500"/>
          </a:xfrm>
          <a:prstGeom prst="rect">
            <a:avLst/>
          </a:prstGeom>
        </p:spPr>
      </p:pic>
      <p:sp>
        <p:nvSpPr>
          <p:cNvPr id="8" name="TextBox 7">
            <a:extLst>
              <a:ext uri="{FF2B5EF4-FFF2-40B4-BE49-F238E27FC236}">
                <a16:creationId xmlns:a16="http://schemas.microsoft.com/office/drawing/2014/main" id="{3F7C0483-CA89-DB14-FFC6-034D5889B6FA}"/>
              </a:ext>
            </a:extLst>
          </p:cNvPr>
          <p:cNvSpPr txBox="1"/>
          <p:nvPr/>
        </p:nvSpPr>
        <p:spPr>
          <a:xfrm>
            <a:off x="4978400" y="3059668"/>
            <a:ext cx="559769" cy="369332"/>
          </a:xfrm>
          <a:prstGeom prst="rect">
            <a:avLst/>
          </a:prstGeom>
          <a:noFill/>
        </p:spPr>
        <p:txBody>
          <a:bodyPr wrap="none" rtlCol="0">
            <a:spAutoFit/>
          </a:bodyPr>
          <a:lstStyle/>
          <a:p>
            <a:r>
              <a:rPr lang="en-US" dirty="0"/>
              <a:t>(11)</a:t>
            </a:r>
          </a:p>
        </p:txBody>
      </p:sp>
    </p:spTree>
    <p:extLst>
      <p:ext uri="{BB962C8B-B14F-4D97-AF65-F5344CB8AC3E}">
        <p14:creationId xmlns:p14="http://schemas.microsoft.com/office/powerpoint/2010/main" val="3898200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0E93-D98A-42BC-A921-404C199253F7}"/>
              </a:ext>
            </a:extLst>
          </p:cNvPr>
          <p:cNvSpPr>
            <a:spLocks noGrp="1"/>
          </p:cNvSpPr>
          <p:nvPr>
            <p:ph type="title"/>
          </p:nvPr>
        </p:nvSpPr>
        <p:spPr>
          <a:xfrm>
            <a:off x="612732" y="219328"/>
            <a:ext cx="10515600" cy="887603"/>
          </a:xfrm>
        </p:spPr>
        <p:txBody>
          <a:bodyPr/>
          <a:lstStyle/>
          <a:p>
            <a:r>
              <a:rPr lang="en-US" b="1" dirty="0" err="1"/>
              <a:t>SteadyCom</a:t>
            </a:r>
            <a:endParaRPr lang="en-US"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0EF6A1-9A0B-4DA1-9B18-DD4FB36F7375}"/>
                  </a:ext>
                </a:extLst>
              </p:cNvPr>
              <p:cNvSpPr>
                <a:spLocks noGrp="1"/>
              </p:cNvSpPr>
              <p:nvPr>
                <p:ph idx="1"/>
              </p:nvPr>
            </p:nvSpPr>
            <p:spPr>
              <a:xfrm>
                <a:off x="515396" y="1165206"/>
                <a:ext cx="10515600" cy="1175657"/>
              </a:xfrm>
            </p:spPr>
            <p:txBody>
              <a:bodyPr>
                <a:normAutofit/>
              </a:bodyPr>
              <a:lstStyle/>
              <a:p>
                <a:pPr marL="0" indent="0">
                  <a:buNone/>
                </a:pPr>
                <a:r>
                  <a:rPr lang="en-US" sz="2400" dirty="0"/>
                  <a:t>Using </a:t>
                </a:r>
                <a:r>
                  <a:rPr lang="en-US" sz="2400" dirty="0" err="1"/>
                  <a:t>Eqs</a:t>
                </a:r>
                <a:r>
                  <a:rPr lang="en-US" sz="2400" dirty="0"/>
                  <a:t> (</a:t>
                </a:r>
                <a:r>
                  <a:rPr lang="en-US" sz="2400" b="1" dirty="0"/>
                  <a:t>7</a:t>
                </a:r>
                <a:r>
                  <a:rPr lang="en-US" sz="2400" dirty="0"/>
                  <a:t>)–(</a:t>
                </a:r>
                <a:r>
                  <a:rPr lang="en-US" sz="2400" b="1" dirty="0"/>
                  <a:t>11</a:t>
                </a:r>
                <a:r>
                  <a:rPr lang="en-US" sz="2400" dirty="0"/>
                  <a:t>), the maximum community growth rate </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𝜇</m:t>
                        </m:r>
                      </m:e>
                      <m:sub>
                        <m:r>
                          <a:rPr lang="en-CA" sz="2400" b="0" i="1" smtClean="0">
                            <a:latin typeface="Cambria Math" panose="02040503050406030204" pitchFamily="18" charset="0"/>
                          </a:rPr>
                          <m:t>𝑚𝑎𝑥</m:t>
                        </m:r>
                      </m:sub>
                    </m:sSub>
                  </m:oMath>
                </a14:m>
                <a:r>
                  <a:rPr lang="en-US" sz="2400" dirty="0"/>
                  <a:t> of a community satisfying the community steady-state can be found by solving the following non-linear optimization problem termed </a:t>
                </a:r>
                <a:r>
                  <a:rPr lang="en-US" sz="2400" dirty="0" err="1"/>
                  <a:t>SteadyCom</a:t>
                </a:r>
                <a:r>
                  <a:rPr lang="en-US" sz="2400" dirty="0"/>
                  <a:t>:</a:t>
                </a:r>
              </a:p>
            </p:txBody>
          </p:sp>
        </mc:Choice>
        <mc:Fallback xmlns="">
          <p:sp>
            <p:nvSpPr>
              <p:cNvPr id="3" name="Content Placeholder 2">
                <a:extLst>
                  <a:ext uri="{FF2B5EF4-FFF2-40B4-BE49-F238E27FC236}">
                    <a16:creationId xmlns:a16="http://schemas.microsoft.com/office/drawing/2014/main" id="{580EF6A1-9A0B-4DA1-9B18-DD4FB36F7375}"/>
                  </a:ext>
                </a:extLst>
              </p:cNvPr>
              <p:cNvSpPr>
                <a:spLocks noGrp="1" noRot="1" noChangeAspect="1" noMove="1" noResize="1" noEditPoints="1" noAdjustHandles="1" noChangeArrowheads="1" noChangeShapeType="1" noTextEdit="1"/>
              </p:cNvSpPr>
              <p:nvPr>
                <p:ph idx="1"/>
              </p:nvPr>
            </p:nvSpPr>
            <p:spPr>
              <a:xfrm>
                <a:off x="515396" y="1165206"/>
                <a:ext cx="10515600" cy="1175657"/>
              </a:xfrm>
              <a:blipFill>
                <a:blip r:embed="rId3"/>
                <a:stretch>
                  <a:fillRect l="-844" t="-6383" b="-3191"/>
                </a:stretch>
              </a:blipFill>
            </p:spPr>
            <p:txBody>
              <a:bodyPr/>
              <a:lstStyle/>
              <a:p>
                <a:r>
                  <a:rPr lang="en-US">
                    <a:noFill/>
                  </a:rPr>
                  <a:t> </a:t>
                </a:r>
              </a:p>
            </p:txBody>
          </p:sp>
        </mc:Fallback>
      </mc:AlternateContent>
      <p:pic>
        <p:nvPicPr>
          <p:cNvPr id="5" name="Picture 4" descr="A math equations and formulas&#10;&#10;Description automatically generated with medium confidence">
            <a:extLst>
              <a:ext uri="{FF2B5EF4-FFF2-40B4-BE49-F238E27FC236}">
                <a16:creationId xmlns:a16="http://schemas.microsoft.com/office/drawing/2014/main" id="{CB8820D8-6B6D-5993-00EA-3C10E3A69E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5396" y="2321825"/>
            <a:ext cx="6915919" cy="4316847"/>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3FB3B82-DDDB-6D9D-6835-A6462251AB8D}"/>
                  </a:ext>
                </a:extLst>
              </p:cNvPr>
              <p:cNvSpPr txBox="1"/>
              <p:nvPr/>
            </p:nvSpPr>
            <p:spPr>
              <a:xfrm>
                <a:off x="7536543" y="3429000"/>
                <a:ext cx="3817257" cy="1821140"/>
              </a:xfrm>
              <a:prstGeom prst="rect">
                <a:avLst/>
              </a:prstGeom>
              <a:noFill/>
              <a:ln w="19050">
                <a:solidFill>
                  <a:schemeClr val="tx1"/>
                </a:solidFill>
              </a:ln>
            </p:spPr>
            <p:txBody>
              <a:bodyPr wrap="square">
                <a:spAutoFit/>
              </a:bodyPr>
              <a:lstStyle/>
              <a:p>
                <a:r>
                  <a:rPr lang="en-US" dirty="0">
                    <a:solidFill>
                      <a:srgbClr val="002060"/>
                    </a:solidFill>
                  </a:rPr>
                  <a:t>The community export rates </a:t>
                </a:r>
                <a14:m>
                  <m:oMath xmlns:m="http://schemas.openxmlformats.org/officeDocument/2006/math">
                    <m:sSubSup>
                      <m:sSubSupPr>
                        <m:ctrlPr>
                          <a:rPr lang="en-US" i="1" smtClean="0">
                            <a:solidFill>
                              <a:srgbClr val="002060"/>
                            </a:solidFill>
                            <a:latin typeface="Cambria Math" panose="02040503050406030204" pitchFamily="18" charset="0"/>
                          </a:rPr>
                        </m:ctrlPr>
                      </m:sSubSupPr>
                      <m:e>
                        <m:r>
                          <a:rPr lang="en-CA" b="0" i="1" smtClean="0">
                            <a:solidFill>
                              <a:srgbClr val="002060"/>
                            </a:solidFill>
                            <a:latin typeface="Cambria Math" panose="02040503050406030204" pitchFamily="18" charset="0"/>
                          </a:rPr>
                          <m:t>𝑒</m:t>
                        </m:r>
                      </m:e>
                      <m:sub>
                        <m:r>
                          <a:rPr lang="en-CA" b="0" i="1" smtClean="0">
                            <a:solidFill>
                              <a:srgbClr val="002060"/>
                            </a:solidFill>
                            <a:latin typeface="Cambria Math" panose="02040503050406030204" pitchFamily="18" charset="0"/>
                          </a:rPr>
                          <m:t>𝑖</m:t>
                        </m:r>
                      </m:sub>
                      <m:sup>
                        <m:r>
                          <a:rPr lang="en-CA" b="0" i="1" smtClean="0">
                            <a:solidFill>
                              <a:srgbClr val="002060"/>
                            </a:solidFill>
                            <a:latin typeface="Cambria Math" panose="02040503050406030204" pitchFamily="18" charset="0"/>
                          </a:rPr>
                          <m:t>𝑐</m:t>
                        </m:r>
                      </m:sup>
                    </m:sSubSup>
                  </m:oMath>
                </a14:m>
                <a:r>
                  <a:rPr lang="en-US" dirty="0">
                    <a:solidFill>
                      <a:srgbClr val="002060"/>
                    </a:solidFill>
                  </a:rPr>
                  <a:t> and uptake rates </a:t>
                </a:r>
                <a14:m>
                  <m:oMath xmlns:m="http://schemas.openxmlformats.org/officeDocument/2006/math">
                    <m:sSubSup>
                      <m:sSubSupPr>
                        <m:ctrlPr>
                          <a:rPr lang="en-US" i="1" smtClean="0">
                            <a:solidFill>
                              <a:srgbClr val="002060"/>
                            </a:solidFill>
                            <a:latin typeface="Cambria Math" panose="02040503050406030204" pitchFamily="18" charset="0"/>
                          </a:rPr>
                        </m:ctrlPr>
                      </m:sSubSupPr>
                      <m:e>
                        <m:r>
                          <a:rPr lang="en-CA" b="0" i="1" smtClean="0">
                            <a:solidFill>
                              <a:srgbClr val="002060"/>
                            </a:solidFill>
                            <a:latin typeface="Cambria Math" panose="02040503050406030204" pitchFamily="18" charset="0"/>
                          </a:rPr>
                          <m:t>𝑢</m:t>
                        </m:r>
                      </m:e>
                      <m:sub>
                        <m:r>
                          <a:rPr lang="en-CA" b="0" i="1" smtClean="0">
                            <a:solidFill>
                              <a:srgbClr val="002060"/>
                            </a:solidFill>
                            <a:latin typeface="Cambria Math" panose="02040503050406030204" pitchFamily="18" charset="0"/>
                          </a:rPr>
                          <m:t>𝑖</m:t>
                        </m:r>
                      </m:sub>
                      <m:sup>
                        <m:r>
                          <a:rPr lang="en-CA" b="0" i="1" smtClean="0">
                            <a:solidFill>
                              <a:srgbClr val="002060"/>
                            </a:solidFill>
                            <a:latin typeface="Cambria Math" panose="02040503050406030204" pitchFamily="18" charset="0"/>
                          </a:rPr>
                          <m:t>𝑐</m:t>
                        </m:r>
                      </m:sup>
                    </m:sSubSup>
                  </m:oMath>
                </a14:m>
                <a:r>
                  <a:rPr lang="en-US" dirty="0">
                    <a:solidFill>
                      <a:srgbClr val="002060"/>
                    </a:solidFill>
                  </a:rPr>
                  <a:t> are normalized for one unit of total community biomass, therefore </a:t>
                </a:r>
                <a14:m>
                  <m:oMath xmlns:m="http://schemas.openxmlformats.org/officeDocument/2006/math">
                    <m:sSub>
                      <m:sSubPr>
                        <m:ctrlPr>
                          <a:rPr lang="en-US" i="1" smtClean="0">
                            <a:solidFill>
                              <a:srgbClr val="002060"/>
                            </a:solidFill>
                            <a:latin typeface="Cambria Math" panose="02040503050406030204" pitchFamily="18" charset="0"/>
                          </a:rPr>
                        </m:ctrlPr>
                      </m:sSubPr>
                      <m:e>
                        <m:r>
                          <a:rPr lang="en-CA" b="0" i="1" smtClean="0">
                            <a:solidFill>
                              <a:srgbClr val="002060"/>
                            </a:solidFill>
                            <a:latin typeface="Cambria Math" panose="02040503050406030204" pitchFamily="18" charset="0"/>
                          </a:rPr>
                          <m:t>𝑋</m:t>
                        </m:r>
                      </m:e>
                      <m:sub>
                        <m:r>
                          <a:rPr lang="en-CA" b="0" i="1" smtClean="0">
                            <a:solidFill>
                              <a:srgbClr val="002060"/>
                            </a:solidFill>
                            <a:latin typeface="Cambria Math" panose="02040503050406030204" pitchFamily="18" charset="0"/>
                          </a:rPr>
                          <m:t>0</m:t>
                        </m:r>
                      </m:sub>
                    </m:sSub>
                  </m:oMath>
                </a14:m>
                <a:r>
                  <a:rPr lang="en-US" dirty="0">
                    <a:solidFill>
                      <a:srgbClr val="002060"/>
                    </a:solidFill>
                  </a:rPr>
                  <a:t> is set at 1 </a:t>
                </a:r>
                <a:r>
                  <a:rPr lang="en-US" dirty="0" err="1">
                    <a:solidFill>
                      <a:srgbClr val="002060"/>
                    </a:solidFill>
                  </a:rPr>
                  <a:t>gdw</a:t>
                </a:r>
                <a:r>
                  <a:rPr lang="en-US" dirty="0">
                    <a:solidFill>
                      <a:srgbClr val="002060"/>
                    </a:solidFill>
                  </a:rPr>
                  <a:t> and </a:t>
                </a:r>
                <a14:m>
                  <m:oMath xmlns:m="http://schemas.openxmlformats.org/officeDocument/2006/math">
                    <m:sSup>
                      <m:sSupPr>
                        <m:ctrlPr>
                          <a:rPr lang="en-US" i="1" smtClean="0">
                            <a:solidFill>
                              <a:srgbClr val="002060"/>
                            </a:solidFill>
                            <a:latin typeface="Cambria Math" panose="02040503050406030204" pitchFamily="18" charset="0"/>
                          </a:rPr>
                        </m:ctrlPr>
                      </m:sSupPr>
                      <m:e>
                        <m:r>
                          <a:rPr lang="en-CA" b="0" i="1" smtClean="0">
                            <a:solidFill>
                              <a:srgbClr val="002060"/>
                            </a:solidFill>
                            <a:latin typeface="Cambria Math" panose="02040503050406030204" pitchFamily="18" charset="0"/>
                          </a:rPr>
                          <m:t>𝑋</m:t>
                        </m:r>
                      </m:e>
                      <m:sup>
                        <m:r>
                          <a:rPr lang="en-CA" b="0" i="1" smtClean="0">
                            <a:solidFill>
                              <a:srgbClr val="002060"/>
                            </a:solidFill>
                            <a:latin typeface="Cambria Math" panose="02040503050406030204" pitchFamily="18" charset="0"/>
                          </a:rPr>
                          <m:t>𝑘</m:t>
                        </m:r>
                      </m:sup>
                    </m:sSup>
                  </m:oMath>
                </a14:m>
                <a:r>
                  <a:rPr lang="en-US" dirty="0">
                    <a:solidFill>
                      <a:srgbClr val="002060"/>
                    </a:solidFill>
                  </a:rPr>
                  <a:t> is thus equal to the relative abundance of organism </a:t>
                </a:r>
                <a:r>
                  <a:rPr lang="en-US" i="1" dirty="0">
                    <a:solidFill>
                      <a:srgbClr val="002060"/>
                    </a:solidFill>
                  </a:rPr>
                  <a:t>k</a:t>
                </a:r>
                <a:r>
                  <a:rPr lang="en-US" dirty="0">
                    <a:solidFill>
                      <a:srgbClr val="002060"/>
                    </a:solidFill>
                  </a:rPr>
                  <a:t>.</a:t>
                </a:r>
              </a:p>
            </p:txBody>
          </p:sp>
        </mc:Choice>
        <mc:Fallback xmlns="">
          <p:sp>
            <p:nvSpPr>
              <p:cNvPr id="7" name="TextBox 6">
                <a:extLst>
                  <a:ext uri="{FF2B5EF4-FFF2-40B4-BE49-F238E27FC236}">
                    <a16:creationId xmlns:a16="http://schemas.microsoft.com/office/drawing/2014/main" id="{A3FB3B82-DDDB-6D9D-6835-A6462251AB8D}"/>
                  </a:ext>
                </a:extLst>
              </p:cNvPr>
              <p:cNvSpPr txBox="1">
                <a:spLocks noRot="1" noChangeAspect="1" noMove="1" noResize="1" noEditPoints="1" noAdjustHandles="1" noChangeArrowheads="1" noChangeShapeType="1" noTextEdit="1"/>
              </p:cNvSpPr>
              <p:nvPr/>
            </p:nvSpPr>
            <p:spPr>
              <a:xfrm>
                <a:off x="7536543" y="3429000"/>
                <a:ext cx="3817257" cy="1821140"/>
              </a:xfrm>
              <a:prstGeom prst="rect">
                <a:avLst/>
              </a:prstGeom>
              <a:blipFill>
                <a:blip r:embed="rId5"/>
                <a:stretch>
                  <a:fillRect l="-987" t="-1370" r="-1316"/>
                </a:stretch>
              </a:blipFill>
              <a:ln w="19050">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11268894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0E93-D98A-42BC-A921-404C199253F7}"/>
              </a:ext>
            </a:extLst>
          </p:cNvPr>
          <p:cNvSpPr>
            <a:spLocks noGrp="1"/>
          </p:cNvSpPr>
          <p:nvPr>
            <p:ph type="title"/>
          </p:nvPr>
        </p:nvSpPr>
        <p:spPr>
          <a:xfrm>
            <a:off x="664403" y="248978"/>
            <a:ext cx="10515600" cy="887603"/>
          </a:xfrm>
        </p:spPr>
        <p:txBody>
          <a:bodyPr/>
          <a:lstStyle/>
          <a:p>
            <a:r>
              <a:rPr lang="en-US" b="1" dirty="0" err="1"/>
              <a:t>SteadyCom</a:t>
            </a:r>
            <a:endParaRPr lang="en-US" b="1" dirty="0"/>
          </a:p>
        </p:txBody>
      </p:sp>
      <p:sp>
        <p:nvSpPr>
          <p:cNvPr id="9" name="TextBox 8">
            <a:extLst>
              <a:ext uri="{FF2B5EF4-FFF2-40B4-BE49-F238E27FC236}">
                <a16:creationId xmlns:a16="http://schemas.microsoft.com/office/drawing/2014/main" id="{6CDFD76E-C390-5F6E-448B-3E4CC94FC6BA}"/>
              </a:ext>
            </a:extLst>
          </p:cNvPr>
          <p:cNvSpPr txBox="1"/>
          <p:nvPr/>
        </p:nvSpPr>
        <p:spPr>
          <a:xfrm>
            <a:off x="390843" y="1129497"/>
            <a:ext cx="11410313" cy="707886"/>
          </a:xfrm>
          <a:prstGeom prst="rect">
            <a:avLst/>
          </a:prstGeom>
          <a:noFill/>
        </p:spPr>
        <p:txBody>
          <a:bodyPr wrap="square">
            <a:spAutoFit/>
          </a:bodyPr>
          <a:lstStyle/>
          <a:p>
            <a:r>
              <a:rPr lang="en-US" sz="2000" b="1" dirty="0"/>
              <a:t>The flux distributions predicted by </a:t>
            </a:r>
            <a:r>
              <a:rPr lang="en-US" sz="2000" b="1" dirty="0" err="1"/>
              <a:t>SteadyCom</a:t>
            </a:r>
            <a:r>
              <a:rPr lang="en-US" sz="2000" b="1" dirty="0"/>
              <a:t> satisfy two important properties that are fundamentally different from the prediction by joint FBA:</a:t>
            </a:r>
          </a:p>
        </p:txBody>
      </p:sp>
      <p:sp>
        <p:nvSpPr>
          <p:cNvPr id="10" name="TextBox 9">
            <a:extLst>
              <a:ext uri="{FF2B5EF4-FFF2-40B4-BE49-F238E27FC236}">
                <a16:creationId xmlns:a16="http://schemas.microsoft.com/office/drawing/2014/main" id="{207C8F2F-0A68-E058-973A-98DE0912989C}"/>
              </a:ext>
            </a:extLst>
          </p:cNvPr>
          <p:cNvSpPr txBox="1"/>
          <p:nvPr/>
        </p:nvSpPr>
        <p:spPr>
          <a:xfrm>
            <a:off x="350445" y="1871323"/>
            <a:ext cx="11426116" cy="646331"/>
          </a:xfrm>
          <a:prstGeom prst="rect">
            <a:avLst/>
          </a:prstGeom>
          <a:noFill/>
        </p:spPr>
        <p:txBody>
          <a:bodyPr wrap="square">
            <a:spAutoFit/>
          </a:bodyPr>
          <a:lstStyle/>
          <a:p>
            <a:pPr marL="342900" indent="-342900">
              <a:buAutoNum type="arabicPeriod"/>
            </a:pPr>
            <a:r>
              <a:rPr lang="en-US" dirty="0"/>
              <a:t>The community steady-state encoded in Eq (</a:t>
            </a:r>
            <a:r>
              <a:rPr lang="en-US" b="1" dirty="0"/>
              <a:t>10</a:t>
            </a:r>
            <a:r>
              <a:rPr lang="en-US" dirty="0"/>
              <a:t>) enforces an identical time-averaged growth rate for all organisms in the community such that the predicted community composition remains stable over time.</a:t>
            </a:r>
          </a:p>
        </p:txBody>
      </p:sp>
      <p:sp>
        <p:nvSpPr>
          <p:cNvPr id="12" name="TextBox 11">
            <a:extLst>
              <a:ext uri="{FF2B5EF4-FFF2-40B4-BE49-F238E27FC236}">
                <a16:creationId xmlns:a16="http://schemas.microsoft.com/office/drawing/2014/main" id="{D472C8C8-9D55-1938-7291-B96B246F3762}"/>
              </a:ext>
            </a:extLst>
          </p:cNvPr>
          <p:cNvSpPr txBox="1"/>
          <p:nvPr/>
        </p:nvSpPr>
        <p:spPr>
          <a:xfrm>
            <a:off x="390843" y="3370635"/>
            <a:ext cx="11532870" cy="1077218"/>
          </a:xfrm>
          <a:prstGeom prst="rect">
            <a:avLst/>
          </a:prstGeom>
          <a:noFill/>
        </p:spPr>
        <p:txBody>
          <a:bodyPr wrap="square">
            <a:spAutoFit/>
          </a:bodyPr>
          <a:lstStyle/>
          <a:p>
            <a:r>
              <a:rPr lang="en-US" sz="1600" dirty="0"/>
              <a:t>2. The coupling between the biomass and the aggregate flux by Eq (</a:t>
            </a:r>
            <a:r>
              <a:rPr lang="en-US" sz="1600" b="1" dirty="0"/>
              <a:t>9</a:t>
            </a:r>
            <a:r>
              <a:rPr lang="en-US" sz="1600" dirty="0"/>
              <a:t>) ensures that for a growing community, an organism can have non-zero fluxes if and only if both its total biomass and biomass production rate are non-zero. A non-growing organism in a growing community will quickly become extinct and therefore it will be unable to contribute to community metabolite exchange at a community steady-state.</a:t>
            </a:r>
          </a:p>
        </p:txBody>
      </p:sp>
      <p:grpSp>
        <p:nvGrpSpPr>
          <p:cNvPr id="6" name="Group 5">
            <a:extLst>
              <a:ext uri="{FF2B5EF4-FFF2-40B4-BE49-F238E27FC236}">
                <a16:creationId xmlns:a16="http://schemas.microsoft.com/office/drawing/2014/main" id="{E4D9EC44-EBD1-D89A-3049-9F2E7EB35204}"/>
              </a:ext>
            </a:extLst>
          </p:cNvPr>
          <p:cNvGrpSpPr/>
          <p:nvPr/>
        </p:nvGrpSpPr>
        <p:grpSpPr>
          <a:xfrm>
            <a:off x="348839" y="4401384"/>
            <a:ext cx="11494320" cy="1947743"/>
            <a:chOff x="282241" y="2861176"/>
            <a:chExt cx="11494320" cy="1947743"/>
          </a:xfrm>
        </p:grpSpPr>
        <p:pic>
          <p:nvPicPr>
            <p:cNvPr id="13" name="Picture 12">
              <a:extLst>
                <a:ext uri="{FF2B5EF4-FFF2-40B4-BE49-F238E27FC236}">
                  <a16:creationId xmlns:a16="http://schemas.microsoft.com/office/drawing/2014/main" id="{79EA4BF9-17B2-43A9-D369-FC012A9DAC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0745" y="2939581"/>
              <a:ext cx="4020424" cy="895798"/>
            </a:xfrm>
            <a:prstGeom prst="rect">
              <a:avLst/>
            </a:prstGeom>
          </p:spPr>
        </p:pic>
        <p:sp>
          <p:nvSpPr>
            <p:cNvPr id="14" name="TextBox 13">
              <a:extLst>
                <a:ext uri="{FF2B5EF4-FFF2-40B4-BE49-F238E27FC236}">
                  <a16:creationId xmlns:a16="http://schemas.microsoft.com/office/drawing/2014/main" id="{E576CE18-8B19-15DA-FD21-B796CFBFDFF3}"/>
                </a:ext>
              </a:extLst>
            </p:cNvPr>
            <p:cNvSpPr txBox="1"/>
            <p:nvPr/>
          </p:nvSpPr>
          <p:spPr>
            <a:xfrm>
              <a:off x="10429813" y="3082853"/>
              <a:ext cx="442750" cy="369332"/>
            </a:xfrm>
            <a:prstGeom prst="rect">
              <a:avLst/>
            </a:prstGeom>
            <a:noFill/>
          </p:spPr>
          <p:txBody>
            <a:bodyPr wrap="none" rtlCol="0">
              <a:spAutoFit/>
            </a:bodyPr>
            <a:lstStyle/>
            <a:p>
              <a:r>
                <a:rPr lang="en-US" dirty="0"/>
                <a:t>(8)</a:t>
              </a:r>
            </a:p>
          </p:txBody>
        </p:sp>
        <p:pic>
          <p:nvPicPr>
            <p:cNvPr id="15" name="Picture 14" descr="A close-up of a logo&#10;&#10;Description automatically generated">
              <a:extLst>
                <a:ext uri="{FF2B5EF4-FFF2-40B4-BE49-F238E27FC236}">
                  <a16:creationId xmlns:a16="http://schemas.microsoft.com/office/drawing/2014/main" id="{BAC9A831-D437-A25C-DEFB-F126F6E365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2197" y="3968094"/>
              <a:ext cx="5667796" cy="751012"/>
            </a:xfrm>
            <a:prstGeom prst="rect">
              <a:avLst/>
            </a:prstGeom>
          </p:spPr>
        </p:pic>
        <p:sp>
          <p:nvSpPr>
            <p:cNvPr id="16" name="TextBox 15">
              <a:extLst>
                <a:ext uri="{FF2B5EF4-FFF2-40B4-BE49-F238E27FC236}">
                  <a16:creationId xmlns:a16="http://schemas.microsoft.com/office/drawing/2014/main" id="{241A93FE-FFC0-7086-3482-FE5054D8580E}"/>
                </a:ext>
              </a:extLst>
            </p:cNvPr>
            <p:cNvSpPr txBox="1"/>
            <p:nvPr/>
          </p:nvSpPr>
          <p:spPr>
            <a:xfrm>
              <a:off x="11333811" y="4092576"/>
              <a:ext cx="442750" cy="369332"/>
            </a:xfrm>
            <a:prstGeom prst="rect">
              <a:avLst/>
            </a:prstGeom>
            <a:noFill/>
          </p:spPr>
          <p:txBody>
            <a:bodyPr wrap="none" rtlCol="0">
              <a:spAutoFit/>
            </a:bodyPr>
            <a:lstStyle/>
            <a:p>
              <a:r>
                <a:rPr lang="en-US" dirty="0"/>
                <a:t>(9)</a:t>
              </a:r>
            </a:p>
          </p:txBody>
        </p:sp>
        <p:cxnSp>
          <p:nvCxnSpPr>
            <p:cNvPr id="19" name="Straight Arrow Connector 18">
              <a:extLst>
                <a:ext uri="{FF2B5EF4-FFF2-40B4-BE49-F238E27FC236}">
                  <a16:creationId xmlns:a16="http://schemas.microsoft.com/office/drawing/2014/main" id="{CCB7DC23-2053-4897-A2D7-0851F9F4711B}"/>
                </a:ext>
              </a:extLst>
            </p:cNvPr>
            <p:cNvCxnSpPr>
              <a:cxnSpLocks/>
            </p:cNvCxnSpPr>
            <p:nvPr/>
          </p:nvCxnSpPr>
          <p:spPr>
            <a:xfrm>
              <a:off x="4661340" y="3835047"/>
              <a:ext cx="87085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5B26B5F9-9FDF-BC67-EDA2-68924DFA0A55}"/>
                </a:ext>
              </a:extLst>
            </p:cNvPr>
            <p:cNvPicPr>
              <a:picLocks noChangeAspect="1"/>
            </p:cNvPicPr>
            <p:nvPr/>
          </p:nvPicPr>
          <p:blipFill>
            <a:blip r:embed="rId4"/>
            <a:stretch>
              <a:fillRect/>
            </a:stretch>
          </p:blipFill>
          <p:spPr>
            <a:xfrm>
              <a:off x="282241" y="2861176"/>
              <a:ext cx="4312860" cy="1947743"/>
            </a:xfrm>
            <a:prstGeom prst="rect">
              <a:avLst/>
            </a:prstGeom>
          </p:spPr>
        </p:pic>
      </p:grpSp>
      <p:pic>
        <p:nvPicPr>
          <p:cNvPr id="17" name="Picture 16">
            <a:extLst>
              <a:ext uri="{FF2B5EF4-FFF2-40B4-BE49-F238E27FC236}">
                <a16:creationId xmlns:a16="http://schemas.microsoft.com/office/drawing/2014/main" id="{543CD3EA-48AE-487E-9AE8-6D1C87894C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03399" y="2624110"/>
            <a:ext cx="3860800" cy="647700"/>
          </a:xfrm>
          <a:prstGeom prst="rect">
            <a:avLst/>
          </a:prstGeom>
        </p:spPr>
      </p:pic>
      <p:sp>
        <p:nvSpPr>
          <p:cNvPr id="18" name="TextBox 17">
            <a:extLst>
              <a:ext uri="{FF2B5EF4-FFF2-40B4-BE49-F238E27FC236}">
                <a16:creationId xmlns:a16="http://schemas.microsoft.com/office/drawing/2014/main" id="{09D5994B-2F4B-D3BC-15EC-4802B8C87195}"/>
              </a:ext>
            </a:extLst>
          </p:cNvPr>
          <p:cNvSpPr txBox="1"/>
          <p:nvPr/>
        </p:nvSpPr>
        <p:spPr>
          <a:xfrm>
            <a:off x="10708428" y="2731635"/>
            <a:ext cx="559769" cy="369332"/>
          </a:xfrm>
          <a:prstGeom prst="rect">
            <a:avLst/>
          </a:prstGeom>
          <a:noFill/>
        </p:spPr>
        <p:txBody>
          <a:bodyPr wrap="none" rtlCol="0">
            <a:spAutoFit/>
          </a:bodyPr>
          <a:lstStyle/>
          <a:p>
            <a:r>
              <a:rPr lang="en-US" dirty="0"/>
              <a:t>(10)</a:t>
            </a:r>
          </a:p>
        </p:txBody>
      </p:sp>
      <p:cxnSp>
        <p:nvCxnSpPr>
          <p:cNvPr id="20" name="Straight Arrow Connector 19">
            <a:extLst>
              <a:ext uri="{FF2B5EF4-FFF2-40B4-BE49-F238E27FC236}">
                <a16:creationId xmlns:a16="http://schemas.microsoft.com/office/drawing/2014/main" id="{2E11CEBA-5DA9-E6F1-7997-8D9034B3FCAA}"/>
              </a:ext>
            </a:extLst>
          </p:cNvPr>
          <p:cNvCxnSpPr>
            <a:cxnSpLocks/>
          </p:cNvCxnSpPr>
          <p:nvPr/>
        </p:nvCxnSpPr>
        <p:spPr>
          <a:xfrm>
            <a:off x="5347699" y="2868131"/>
            <a:ext cx="87085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16B41DC3-35AF-F170-2952-A5C20C85E336}"/>
              </a:ext>
            </a:extLst>
          </p:cNvPr>
          <p:cNvPicPr>
            <a:picLocks noChangeAspect="1"/>
          </p:cNvPicPr>
          <p:nvPr/>
        </p:nvPicPr>
        <p:blipFill>
          <a:blip r:embed="rId6"/>
          <a:stretch>
            <a:fillRect/>
          </a:stretch>
        </p:blipFill>
        <p:spPr>
          <a:xfrm>
            <a:off x="833488" y="2506118"/>
            <a:ext cx="3450336" cy="874848"/>
          </a:xfrm>
          <a:prstGeom prst="rect">
            <a:avLst/>
          </a:prstGeom>
        </p:spPr>
      </p:pic>
      <p:sp>
        <p:nvSpPr>
          <p:cNvPr id="23" name="TextBox 22">
            <a:extLst>
              <a:ext uri="{FF2B5EF4-FFF2-40B4-BE49-F238E27FC236}">
                <a16:creationId xmlns:a16="http://schemas.microsoft.com/office/drawing/2014/main" id="{EF242230-185F-DB86-C1AD-58DE3086D2B0}"/>
              </a:ext>
            </a:extLst>
          </p:cNvPr>
          <p:cNvSpPr txBox="1"/>
          <p:nvPr/>
        </p:nvSpPr>
        <p:spPr>
          <a:xfrm>
            <a:off x="4485660" y="2675576"/>
            <a:ext cx="442750" cy="369332"/>
          </a:xfrm>
          <a:prstGeom prst="rect">
            <a:avLst/>
          </a:prstGeom>
          <a:noFill/>
        </p:spPr>
        <p:txBody>
          <a:bodyPr wrap="none" rtlCol="0">
            <a:spAutoFit/>
          </a:bodyPr>
          <a:lstStyle/>
          <a:p>
            <a:r>
              <a:rPr lang="en-US" dirty="0"/>
              <a:t>(5)</a:t>
            </a:r>
          </a:p>
        </p:txBody>
      </p:sp>
    </p:spTree>
    <p:extLst>
      <p:ext uri="{BB962C8B-B14F-4D97-AF65-F5344CB8AC3E}">
        <p14:creationId xmlns:p14="http://schemas.microsoft.com/office/powerpoint/2010/main" val="12369410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aac226-2f03-4b4d-9037-b46d56c55210}" enabled="0" method="" siteId="{78aac226-2f03-4b4d-9037-b46d56c55210}" removed="1"/>
</clbl:labelList>
</file>

<file path=docProps/app.xml><?xml version="1.0" encoding="utf-8"?>
<Properties xmlns="http://schemas.openxmlformats.org/officeDocument/2006/extended-properties" xmlns:vt="http://schemas.openxmlformats.org/officeDocument/2006/docPropsVTypes">
  <TotalTime>33</TotalTime>
  <Words>3676</Words>
  <Application>Microsoft Macintosh PowerPoint</Application>
  <PresentationFormat>Widescreen</PresentationFormat>
  <Paragraphs>505</Paragraphs>
  <Slides>32</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Calibri</vt:lpstr>
      <vt:lpstr>Calibri Light</vt:lpstr>
      <vt:lpstr>Cambria</vt:lpstr>
      <vt:lpstr>Cambria Math</vt:lpstr>
      <vt:lpstr>Courier New</vt:lpstr>
      <vt:lpstr>Roboto</vt:lpstr>
      <vt:lpstr>Trade Gothic LT Std</vt:lpstr>
      <vt:lpstr>Office Theme</vt:lpstr>
      <vt:lpstr>Community Metabolic Modelling and Validation Framework</vt:lpstr>
      <vt:lpstr>PowerPoint Presentation</vt:lpstr>
      <vt:lpstr>Community Metabolic Modelling and Validation Framework</vt:lpstr>
      <vt:lpstr>Community Metabolic Modelling and Validation Framework</vt:lpstr>
      <vt:lpstr>Community Metabolic Modelling and Validation Framework</vt:lpstr>
      <vt:lpstr>Community Metabolic Modelling and Validation Framework</vt:lpstr>
      <vt:lpstr>Adapted SteadyCom Formulation</vt:lpstr>
      <vt:lpstr>PowerPoint Presentation</vt:lpstr>
      <vt:lpstr>Community Metabolic Modelling and Validation Framework</vt:lpstr>
      <vt:lpstr>Community Metabolic Modelling and Validation Framework</vt:lpstr>
      <vt:lpstr>Community Metabolic Modelling and Validation Framework</vt:lpstr>
      <vt:lpstr>Community Metabolic Modelling and Validation Framework</vt:lpstr>
      <vt:lpstr>Community Metabolic Modelling and Validation Framework</vt:lpstr>
      <vt:lpstr>Community Metabolic Modelling and Validation Framework</vt:lpstr>
      <vt:lpstr>Extra slides</vt:lpstr>
      <vt:lpstr>Modelling framework</vt:lpstr>
      <vt:lpstr>Modelling framework (derivation of eqn. 1)</vt:lpstr>
      <vt:lpstr>Modelling framework (derivation of eqn. 1)</vt:lpstr>
      <vt:lpstr>Modelling framework (derivation of eqn. 1)</vt:lpstr>
      <vt:lpstr>Modelling framework</vt:lpstr>
      <vt:lpstr>Modelling framework (Derivation of eqn. 5)</vt:lpstr>
      <vt:lpstr>Modelling framework (Derivation of eqn. 5)</vt:lpstr>
      <vt:lpstr>SteadyCom</vt:lpstr>
      <vt:lpstr>Joint FBA</vt:lpstr>
      <vt:lpstr>Joint FBA</vt:lpstr>
      <vt:lpstr>Joint FBA: Problems</vt:lpstr>
      <vt:lpstr>Deriving SteadyCom Constraints</vt:lpstr>
      <vt:lpstr>Deriving SteadyCom Constraints: Aggregate Flux</vt:lpstr>
      <vt:lpstr>Deriving SteadyCom Constraints: Aggregate Flux</vt:lpstr>
      <vt:lpstr>Deriving SteadyCom Constraints: Aggregate Flux</vt:lpstr>
      <vt:lpstr>SteadyCom</vt:lpstr>
      <vt:lpstr>SteadyCom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Community Metabolic Modelling and Validation Framework</dc:title>
  <dc:creator>Noor Alsmadi</dc:creator>
  <cp:lastModifiedBy>Noor Alsmadi</cp:lastModifiedBy>
  <cp:revision>3</cp:revision>
  <dcterms:created xsi:type="dcterms:W3CDTF">2024-07-25T06:41:50Z</dcterms:created>
  <dcterms:modified xsi:type="dcterms:W3CDTF">2024-07-25T15:07:30Z</dcterms:modified>
</cp:coreProperties>
</file>